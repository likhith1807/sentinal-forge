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57" r:id="rId3"/>
    <p:sldId id="284" r:id="rId20"/>
    <p:sldId id="279" r:id="rId4"/>
    <p:sldId id="260" r:id="rId5"/>
    <p:sldId id="285" r:id="rId21"/>
    <p:sldId id="259" r:id="rId6"/>
    <p:sldId id="261" r:id="rId7"/>
    <p:sldId id="286" r:id="rId22"/>
    <p:sldId id="280" r:id="rId8"/>
    <p:sldId id="281" r:id="rId9"/>
    <p:sldId id="282" r:id="rId10"/>
    <p:sldId id="287" r:id="rId23"/>
    <p:sldId id="283" r:id="rId11"/>
    <p:sldId id="288" r:id="rId24"/>
    <p:sldId id="262" r:id="rId12"/>
    <p:sldId id="289" r:id="rId25"/>
    <p:sldId id="263" r:id="rId13"/>
    <p:sldId id="264" r:id="rId14"/>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Classical (regex)</c:v>
                </c:pt>
              </c:strCache>
            </c:strRef>
          </c:tx>
          <c:spPr>
            <a:solidFill>
              <a:srgbClr val="820019"/>
            </a:solidFill>
          </c:spPr>
          <c:cat>
            <c:strRef>
              <c:f>Sheet1!$A$2:$A$4</c:f>
              <c:strCache>
                <c:ptCount val="3"/>
                <c:pt idx="0">
                  <c:v>Precision</c:v>
                </c:pt>
                <c:pt idx="1">
                  <c:v>Recall</c:v>
                </c:pt>
                <c:pt idx="2">
                  <c:v>F1</c:v>
                </c:pt>
              </c:strCache>
            </c:strRef>
          </c:cat>
          <c:val>
            <c:numRef>
              <c:f>Sheet1!$B$2:$B$4</c:f>
              <c:numCache>
                <c:formatCode>General</c:formatCode>
                <c:ptCount val="3"/>
                <c:pt idx="0">
                  <c:v>1.0</c:v>
                </c:pt>
                <c:pt idx="1">
                  <c:v>0.947</c:v>
                </c:pt>
                <c:pt idx="2">
                  <c:v>0.973</c:v>
                </c:pt>
              </c:numCache>
            </c:numRef>
          </c:val>
        </c:ser>
        <c:ser>
          <c:idx val="1"/>
          <c:order val="1"/>
          <c:tx>
            <c:strRef>
              <c:f>Sheet1!$C$1</c:f>
              <c:strCache>
                <c:ptCount val="1"/>
                <c:pt idx="0">
                  <c:v>Transformer (LLM)</c:v>
                </c:pt>
              </c:strCache>
            </c:strRef>
          </c:tx>
          <c:spPr>
            <a:solidFill>
              <a:srgbClr val="002060"/>
            </a:solidFill>
          </c:spPr>
          <c:cat>
            <c:strRef>
              <c:f>Sheet1!$A$2:$A$4</c:f>
              <c:strCache>
                <c:ptCount val="3"/>
                <c:pt idx="0">
                  <c:v>Precision</c:v>
                </c:pt>
                <c:pt idx="1">
                  <c:v>Recall</c:v>
                </c:pt>
                <c:pt idx="2">
                  <c:v>F1</c:v>
                </c:pt>
              </c:strCache>
            </c:strRef>
          </c:cat>
          <c:val>
            <c:numRef>
              <c:f>Sheet1!$C$2:$C$4</c:f>
              <c:numCache>
                <c:formatCode>General</c:formatCode>
                <c:ptCount val="3"/>
                <c:pt idx="0">
                  <c:v>1.0</c:v>
                </c:pt>
                <c:pt idx="1">
                  <c:v>0.895</c:v>
                </c:pt>
                <c:pt idx="2">
                  <c:v>0.944</c:v>
                </c:pt>
              </c:numCache>
            </c:numRef>
          </c:val>
        </c:ser>
        <c:dLbls>
          <c:numFmt formatCode="0.000" sourceLinked="0"/>
          <c:txPr>
            <a:bodyPr/>
            <a:lstStyle/>
            <a:p>
              <a:pPr>
                <a:defRPr sz="1200" b="1"/>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D9DCE3"/>
            </a:solidFill>
          </a:ln>
        </c:spPr>
        <c:txPr>
          <a:bodyPr/>
          <a:lstStyle/>
          <a:p>
            <a:pPr>
              <a:defRPr sz="1300"/>
            </a:pPr>
          </a:p>
        </c:txPr>
        <c:crossAx val="-2113994440"/>
        <c:crosses val="autoZero"/>
        <c:auto val="1"/>
        <c:lblAlgn val="ctr"/>
        <c:lblOffset val="100"/>
        <c:noMultiLvlLbl val="0"/>
      </c:catAx>
      <c:valAx>
        <c:axId val="-2113994440"/>
        <c:scaling>
          <c:max val="1.2"/>
          <c:min val="0.0"/>
        </c:scaling>
        <c:delete/>
        <c:axPos val="l"/>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2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CC9E53-B7E4-4902-A0AC-4EB6C425183C}" type="datetimeFigureOut">
              <a:rPr lang="en-IN" smtClean="0"/>
              <a:t>16-03-2026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9AF56A-2CBF-4093-82B2-371084897667}" type="slidenum">
              <a:rPr lang="en-IN" smtClean="0"/>
              <a:t>‹#›</a:t>
            </a:fld>
            <a:endParaRPr lang="en-IN"/>
          </a:p>
        </p:txBody>
      </p:sp>
    </p:spTree>
    <p:extLst>
      <p:ext uri="{BB962C8B-B14F-4D97-AF65-F5344CB8AC3E}">
        <p14:creationId xmlns:p14="http://schemas.microsoft.com/office/powerpoint/2010/main" val="2666717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SENTINEL Forge in one sentence: it turns written threat reports into detection rules that are checked against the available logs and replay-tested. Mention that the project spans two courses: Text Analytics (NLP extraction) and Big Data Analytics (Scala compiler + Apache Spark).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The deck follows the department format, with four additions the brief requires: Project Idea, Novelty, Implementation Layout and Project Timeline, plus a dedicated Future Work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a threat report says what an attacker does, but a usable detection needs the right log fields and conditions. SENTINEL Forge automates that translation in three steps - understand, compile, validate - and it refuses to produce a rule when the logs cannot observe the behaviour. The worked example is behaviour B1 from our five-behaviour scope.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engineering problem: prose in, executable detection out is a manual, error-prone step. Three failure modes motivate the project: the manual gap, conditions that logs cannot observe, and LLM-generated rules that look right but are wrong. The three numbers on the right are real measurements from our held-out experiments, detailed on the Results slide. Only 1 of 5 direct-LLM rules and 0 of 5 schema-constrained rules were fully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Previous work falls into four groups: NLP extraction of attacker behaviour (TTPDrill, EXTRACTOR, AttacKG), domain language models (SecureBERT), standards (Sigma, ATT&amp;CK) and direct LLM generation. Each stops before the same step: nobody checks whether the available logs can observe the behaviour, compiles it deterministically, and replay-tests the result. That gap is the project's contribution. Bracketed numbers match the References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Novelty is not a better language model; it is a different pipeline shape. Four mechanisms: (1) an observability gate that rejects behaviours the logs cannot see - in our ablation, removing it produced a detector that compiles, deploys and never fires; (2) a closed set of three compiler recipes, so the output space is restricted; (3) provenance with verified character offsets; (4) cross-extractor agreement as a calibrated review signal. Be precise about scope: one schema, five behaviours, small held-out sample.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map one-to-one to pipeline stages. The research question is tested by comparing four systems on the same held-out reports and the same labelled events: manual rules, direct LLM generation, schema-constrained generation, and the full SENTINEL Forge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stages. Stage 1 normalises telemetry. Stage 2 extracts a typed behaviour specification with two competing extractors so we can measure classical versus transformer. Stage 3 is the observability gate. Stage 4 turns an approved spec into Spark logic via a closed set of three recipes. Stage 5 compares alerts to independent labels and presents evidence to an analyst. The guiding rule: if something cannot be supported, the system says so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repository is laid out. Top layer, Python: two extractors, a prompt-injection guard, the Stage 3 observability checker and the spec bridge that converts a validated extraction into a compiled spec. Middle layer, Scala and Spark: the closed-recipe RuleCompiler plus separate check programs for replay, streaming, robustness, throughput and end-to-end. Bottom layer: data, docs, experiments and the FastAPI dashboard. The two JSON contracts are the Behaviour IR and the Compiled Spec.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Python for extraction and validation, Scala 2.13 with Apache Spark 3.5.3 for the compiler and execution, sbt/ScalaTest for builds, FastAPI for the dashboard API. The transformer is a pretrained model reached through the Groq API; we did not fine-tune it because ten training reports would only memorise. Hardware: everything runs on one local machine, so throughput numbers are small-scale and honestly labelled. Standards: ATT&amp;CK technique IDs, Sigma export and JSON contracts.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15 synthetic-but-realistic threat reports, three per behaviour. Ten are for training and prompt development; five held-out reports are each a different incident, not a paraphrase, to avoid leakage. Events: a 48-event partitioned Parquet store with 17 independently authored labelled scenarios, including exact window-boundary negatives. The log schema has nine fields; source_ip is deliberately marked unreliable so the gate has a real case to reason about.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result. Each system was executed against the same 48-event Parquet store and independent labels. SENTINEL Forge and the corrected manual rules pass all 17 scenarios. Only one direct-LLM rule (B1) was fully usable; schema-constrained generation produced zero fully correct rules. Important honesty point from an independent review: the original 17/17 used hand-authored compiled specs, so we built the extraction-to-compiler bridge and re-ran end to end on extraction-derived specs, scoring 11/11 on three reports.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field extraction. Interestingly, the regex baseline edges out the transformer on field F1 (0.973 vs 0.944) because the reports follow a template; but it misclassified one behaviour (accuracy 0.80 vs 1.00) and collapses under paraphrase. The transformer is robust to synonyms and tone. All extracted evidence quotes were verified against the source text. Right: performance was measured on a 48-event dataset on one machine; it is dominated by Spark planning overhead and is not a scale claim. Agreement between the two extractors correlated with correctness at r = 0.919 on five reports; that is why the dashboard flags disagreement for analyst review.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here: this is a strength of the project. The timestamp bug hid for four phases because the code had never been executed. An independent review found the extraction-to-compiler wiring was missing, and we fixed it and documented it. Open items are stated plainly: extraction variance, streaming limits for two of three recipes, two semantic gaps found by a dedicated semantics check, and the small dataset.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ran as seven phases: scope, data and baselines, NLP extraction, validation gate, compiler and Spark execution, evaluation, and the analyst dashboard. After the build, an independent review on 16 and 17 September 2026 led to a hardening pass: seven findings reproduced and fixed, the extraction-to-compiler bridge built and run end to end, and 25 regression tests added. Next is final evaluation: stabilise extraction reliability, enlarge the held-out set and run on a real cluster. Add exact calendar dates for Phases 0-6 if your course requires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project delivers a complete, executed pipeline from report text to replay-verified detection for five behaviours, with an analyst dashboard. The expected impact is faster, more auditable detection engineering. Be explicit that results are on one schema, five behaviours and a small dataset. Remaining work before the final evaluation is mostly reliability and scale, listed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in three horizons. Near term fixes the reliability and semantic gaps already identified by our own tests. Mid term scales the data, the model and the cluster. Long term widens scope to more log sources and closes the loop with analyst feedback. Every near-term item is a named, reproducible gap from the Challenges slide, not a vague aspiration.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are in IEEE style and were each checked against the publisher or proceedings page. Bracketed numbers in the Literature Review and Tools slides match this list.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 Likely questions: why not fine-tune the transformer (too little data; we say so), what the gate buys you (ablation), and how honest the 17/17 is (independent review, end-to-end bridge, 11/11).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F01D1-E705-4656-A918-71E0035DA6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95289B-2362-4B48-9D76-97EB3244D7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90431EC-DCB7-41B7-96AB-60B4326324DF}"/>
              </a:ext>
            </a:extLst>
          </p:cNvPr>
          <p:cNvSpPr>
            <a:spLocks noGrp="1"/>
          </p:cNvSpPr>
          <p:nvPr>
            <p:ph type="dt" sz="half" idx="10"/>
          </p:nvPr>
        </p:nvSpPr>
        <p:spPr/>
        <p:txBody>
          <a:bodyPr/>
          <a:lstStyle/>
          <a:p>
            <a:fld id="{5F0CDD5A-A699-464F-935D-C03B6C041462}" type="datetime1">
              <a:rPr lang="en-IN" smtClean="0"/>
              <a:t>16-03-2026</a:t>
            </a:fld>
            <a:endParaRPr lang="en-IN"/>
          </a:p>
        </p:txBody>
      </p:sp>
      <p:sp>
        <p:nvSpPr>
          <p:cNvPr id="5" name="Footer Placeholder 4">
            <a:extLst>
              <a:ext uri="{FF2B5EF4-FFF2-40B4-BE49-F238E27FC236}">
                <a16:creationId xmlns:a16="http://schemas.microsoft.com/office/drawing/2014/main" id="{8D2B118E-9D59-4504-907C-DFBFDEB1E031}"/>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6" name="Slide Number Placeholder 5">
            <a:extLst>
              <a:ext uri="{FF2B5EF4-FFF2-40B4-BE49-F238E27FC236}">
                <a16:creationId xmlns:a16="http://schemas.microsoft.com/office/drawing/2014/main" id="{19FCE964-3EC8-402F-8C86-DF82EF2CED17}"/>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1737271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617E5-754C-4FAF-AEB6-7509611550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C74B7E-33EE-4498-AF4D-83361322FA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283E68-005B-46E0-89CF-CE80E55CD7EC}"/>
              </a:ext>
            </a:extLst>
          </p:cNvPr>
          <p:cNvSpPr>
            <a:spLocks noGrp="1"/>
          </p:cNvSpPr>
          <p:nvPr>
            <p:ph type="dt" sz="half" idx="10"/>
          </p:nvPr>
        </p:nvSpPr>
        <p:spPr/>
        <p:txBody>
          <a:bodyPr/>
          <a:lstStyle/>
          <a:p>
            <a:fld id="{A0AC389C-E22E-4D2D-8A57-FFF16E88D45B}" type="datetime1">
              <a:rPr lang="en-IN" smtClean="0"/>
              <a:t>16-03-2026</a:t>
            </a:fld>
            <a:endParaRPr lang="en-IN"/>
          </a:p>
        </p:txBody>
      </p:sp>
      <p:sp>
        <p:nvSpPr>
          <p:cNvPr id="5" name="Footer Placeholder 4">
            <a:extLst>
              <a:ext uri="{FF2B5EF4-FFF2-40B4-BE49-F238E27FC236}">
                <a16:creationId xmlns:a16="http://schemas.microsoft.com/office/drawing/2014/main" id="{FEF840E1-6AE7-408B-AF10-0F069D718570}"/>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6" name="Slide Number Placeholder 5">
            <a:extLst>
              <a:ext uri="{FF2B5EF4-FFF2-40B4-BE49-F238E27FC236}">
                <a16:creationId xmlns:a16="http://schemas.microsoft.com/office/drawing/2014/main" id="{47E19B87-4FAF-412C-A681-5C603B9B0E41}"/>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2262312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CA4F6-BAD7-437C-B2A1-FEF7CE6D25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C43532-B905-4F80-BC98-AE0360CA81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F31391-93CC-4B0D-AB03-D274C2D61842}"/>
              </a:ext>
            </a:extLst>
          </p:cNvPr>
          <p:cNvSpPr>
            <a:spLocks noGrp="1"/>
          </p:cNvSpPr>
          <p:nvPr>
            <p:ph type="dt" sz="half" idx="10"/>
          </p:nvPr>
        </p:nvSpPr>
        <p:spPr/>
        <p:txBody>
          <a:bodyPr/>
          <a:lstStyle/>
          <a:p>
            <a:fld id="{8199C456-4C25-4490-BDB4-9B1579FF708A}" type="datetime1">
              <a:rPr lang="en-IN" smtClean="0"/>
              <a:t>16-03-2026</a:t>
            </a:fld>
            <a:endParaRPr lang="en-IN"/>
          </a:p>
        </p:txBody>
      </p:sp>
      <p:sp>
        <p:nvSpPr>
          <p:cNvPr id="5" name="Footer Placeholder 4">
            <a:extLst>
              <a:ext uri="{FF2B5EF4-FFF2-40B4-BE49-F238E27FC236}">
                <a16:creationId xmlns:a16="http://schemas.microsoft.com/office/drawing/2014/main" id="{F48AC503-CEFC-42E8-8F67-32CEA6FB9BFF}"/>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6" name="Slide Number Placeholder 5">
            <a:extLst>
              <a:ext uri="{FF2B5EF4-FFF2-40B4-BE49-F238E27FC236}">
                <a16:creationId xmlns:a16="http://schemas.microsoft.com/office/drawing/2014/main" id="{F9B78CE0-2BB3-416C-94A4-7C83B3D91057}"/>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1480349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49118-3DC1-45EB-A8AC-774D1886EF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22B2A5-9C57-4A49-9147-F065AE295B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223FCE-4166-4393-98BE-78E0D3CFB9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6A550B-17FC-4172-8FE5-6B43BB40E2C0}"/>
              </a:ext>
            </a:extLst>
          </p:cNvPr>
          <p:cNvSpPr>
            <a:spLocks noGrp="1"/>
          </p:cNvSpPr>
          <p:nvPr>
            <p:ph type="dt" sz="half" idx="10"/>
          </p:nvPr>
        </p:nvSpPr>
        <p:spPr/>
        <p:txBody>
          <a:bodyPr/>
          <a:lstStyle/>
          <a:p>
            <a:fld id="{8170925E-3D46-4931-8922-4553DFBFD276}" type="datetime1">
              <a:rPr lang="en-IN" smtClean="0"/>
              <a:t>16-03-2026</a:t>
            </a:fld>
            <a:endParaRPr lang="en-IN"/>
          </a:p>
        </p:txBody>
      </p:sp>
      <p:sp>
        <p:nvSpPr>
          <p:cNvPr id="6" name="Footer Placeholder 5">
            <a:extLst>
              <a:ext uri="{FF2B5EF4-FFF2-40B4-BE49-F238E27FC236}">
                <a16:creationId xmlns:a16="http://schemas.microsoft.com/office/drawing/2014/main" id="{26344D6C-1922-4A3F-913E-49A85979D2AD}"/>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7" name="Slide Number Placeholder 6">
            <a:extLst>
              <a:ext uri="{FF2B5EF4-FFF2-40B4-BE49-F238E27FC236}">
                <a16:creationId xmlns:a16="http://schemas.microsoft.com/office/drawing/2014/main" id="{40374925-56E1-4080-A20C-BD52222281B3}"/>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3692885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2272B-DFD1-451E-8FB8-BC7AF7818A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16EC6F-6FB0-4FC0-8C27-01FEB76CE3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C0CC5F-9BF2-4BE2-9CCC-27F9F2D535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E27579F-09FB-4ACA-89E8-310DB7E698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DC63AC-5ECC-4465-A0E1-FE1D3289C4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33877B6-2AF5-41C2-95ED-5972E74984D2}"/>
              </a:ext>
            </a:extLst>
          </p:cNvPr>
          <p:cNvSpPr>
            <a:spLocks noGrp="1"/>
          </p:cNvSpPr>
          <p:nvPr>
            <p:ph type="dt" sz="half" idx="10"/>
          </p:nvPr>
        </p:nvSpPr>
        <p:spPr/>
        <p:txBody>
          <a:bodyPr/>
          <a:lstStyle/>
          <a:p>
            <a:fld id="{D1843382-936B-4139-9692-36A11D876D12}" type="datetime1">
              <a:rPr lang="en-IN" smtClean="0"/>
              <a:t>16-03-2026</a:t>
            </a:fld>
            <a:endParaRPr lang="en-IN"/>
          </a:p>
        </p:txBody>
      </p:sp>
      <p:sp>
        <p:nvSpPr>
          <p:cNvPr id="8" name="Footer Placeholder 7">
            <a:extLst>
              <a:ext uri="{FF2B5EF4-FFF2-40B4-BE49-F238E27FC236}">
                <a16:creationId xmlns:a16="http://schemas.microsoft.com/office/drawing/2014/main" id="{3E088C15-E170-4B3F-A60A-B40FC33F1F0A}"/>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9" name="Slide Number Placeholder 8">
            <a:extLst>
              <a:ext uri="{FF2B5EF4-FFF2-40B4-BE49-F238E27FC236}">
                <a16:creationId xmlns:a16="http://schemas.microsoft.com/office/drawing/2014/main" id="{A771D98D-D9A8-4F80-B3FC-9AC34E548209}"/>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1836517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73B47-26CD-41C0-B440-ECA8C90564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259091-F4C6-44AA-9665-38EAED537053}"/>
              </a:ext>
            </a:extLst>
          </p:cNvPr>
          <p:cNvSpPr>
            <a:spLocks noGrp="1"/>
          </p:cNvSpPr>
          <p:nvPr>
            <p:ph type="dt" sz="half" idx="10"/>
          </p:nvPr>
        </p:nvSpPr>
        <p:spPr/>
        <p:txBody>
          <a:bodyPr/>
          <a:lstStyle/>
          <a:p>
            <a:fld id="{73447151-68CC-46FD-90D4-2F9390F25482}" type="datetime1">
              <a:rPr lang="en-IN" smtClean="0"/>
              <a:t>16-03-2026</a:t>
            </a:fld>
            <a:endParaRPr lang="en-IN"/>
          </a:p>
        </p:txBody>
      </p:sp>
      <p:sp>
        <p:nvSpPr>
          <p:cNvPr id="4" name="Footer Placeholder 3">
            <a:extLst>
              <a:ext uri="{FF2B5EF4-FFF2-40B4-BE49-F238E27FC236}">
                <a16:creationId xmlns:a16="http://schemas.microsoft.com/office/drawing/2014/main" id="{CCE4C0E6-E1CD-481C-AC1A-F057C2F2B174}"/>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5" name="Slide Number Placeholder 4">
            <a:extLst>
              <a:ext uri="{FF2B5EF4-FFF2-40B4-BE49-F238E27FC236}">
                <a16:creationId xmlns:a16="http://schemas.microsoft.com/office/drawing/2014/main" id="{87151EC9-868D-41B5-8BF2-880A6BEF371F}"/>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526735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28A2DF-2791-4318-8FB1-C8B289F9D8A1}"/>
              </a:ext>
            </a:extLst>
          </p:cNvPr>
          <p:cNvSpPr>
            <a:spLocks noGrp="1"/>
          </p:cNvSpPr>
          <p:nvPr>
            <p:ph type="dt" sz="half" idx="10"/>
          </p:nvPr>
        </p:nvSpPr>
        <p:spPr/>
        <p:txBody>
          <a:bodyPr/>
          <a:lstStyle/>
          <a:p>
            <a:fld id="{E0E9EC6F-B3BA-487C-BFC9-31F81D1507CC}" type="datetime1">
              <a:rPr lang="en-IN" smtClean="0"/>
              <a:t>16-03-2026</a:t>
            </a:fld>
            <a:endParaRPr lang="en-IN"/>
          </a:p>
        </p:txBody>
      </p:sp>
      <p:sp>
        <p:nvSpPr>
          <p:cNvPr id="3" name="Footer Placeholder 2">
            <a:extLst>
              <a:ext uri="{FF2B5EF4-FFF2-40B4-BE49-F238E27FC236}">
                <a16:creationId xmlns:a16="http://schemas.microsoft.com/office/drawing/2014/main" id="{21B23D96-F124-4F4E-B723-F01DB5A0EB44}"/>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4" name="Slide Number Placeholder 3">
            <a:extLst>
              <a:ext uri="{FF2B5EF4-FFF2-40B4-BE49-F238E27FC236}">
                <a16:creationId xmlns:a16="http://schemas.microsoft.com/office/drawing/2014/main" id="{C8310B1F-92EA-4E9C-8AAC-FAC00DF9F6B2}"/>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3785173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2B63A-5EF1-4E81-A814-93E32DFAAE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016F1E-7236-46E2-8E55-1A4AC8E1DA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9DAEC3-23D8-46BA-B4F2-B6F4E90B6F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ED380B-872E-424F-BA59-858F12B7CDAA}"/>
              </a:ext>
            </a:extLst>
          </p:cNvPr>
          <p:cNvSpPr>
            <a:spLocks noGrp="1"/>
          </p:cNvSpPr>
          <p:nvPr>
            <p:ph type="dt" sz="half" idx="10"/>
          </p:nvPr>
        </p:nvSpPr>
        <p:spPr/>
        <p:txBody>
          <a:bodyPr/>
          <a:lstStyle/>
          <a:p>
            <a:fld id="{BD5F5A7A-0A1A-481A-A66B-C9ABE28E858D}" type="datetime1">
              <a:rPr lang="en-IN" smtClean="0"/>
              <a:t>16-03-2026</a:t>
            </a:fld>
            <a:endParaRPr lang="en-IN"/>
          </a:p>
        </p:txBody>
      </p:sp>
      <p:sp>
        <p:nvSpPr>
          <p:cNvPr id="6" name="Footer Placeholder 5">
            <a:extLst>
              <a:ext uri="{FF2B5EF4-FFF2-40B4-BE49-F238E27FC236}">
                <a16:creationId xmlns:a16="http://schemas.microsoft.com/office/drawing/2014/main" id="{374CCF02-25DC-4400-A051-271C90EE263E}"/>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7" name="Slide Number Placeholder 6">
            <a:extLst>
              <a:ext uri="{FF2B5EF4-FFF2-40B4-BE49-F238E27FC236}">
                <a16:creationId xmlns:a16="http://schemas.microsoft.com/office/drawing/2014/main" id="{16A5EBFE-51C3-468C-ACC5-092444E890FB}"/>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3524183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2CA53-BBA8-449D-9555-78EAA702CB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69DD1F-14DA-4F27-A8DC-136248AE8A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4D8B63F-DDC8-4C25-B898-EBC5DD921B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10297D-033B-4462-88F9-C81412DE7D03}"/>
              </a:ext>
            </a:extLst>
          </p:cNvPr>
          <p:cNvSpPr>
            <a:spLocks noGrp="1"/>
          </p:cNvSpPr>
          <p:nvPr>
            <p:ph type="dt" sz="half" idx="10"/>
          </p:nvPr>
        </p:nvSpPr>
        <p:spPr/>
        <p:txBody>
          <a:bodyPr/>
          <a:lstStyle/>
          <a:p>
            <a:fld id="{70D6C4D7-A4F7-420F-94EF-A939A86D9E5B}" type="datetime1">
              <a:rPr lang="en-IN" smtClean="0"/>
              <a:t>16-03-2026</a:t>
            </a:fld>
            <a:endParaRPr lang="en-IN"/>
          </a:p>
        </p:txBody>
      </p:sp>
      <p:sp>
        <p:nvSpPr>
          <p:cNvPr id="6" name="Footer Placeholder 5">
            <a:extLst>
              <a:ext uri="{FF2B5EF4-FFF2-40B4-BE49-F238E27FC236}">
                <a16:creationId xmlns:a16="http://schemas.microsoft.com/office/drawing/2014/main" id="{D0A579B9-41CC-4CB6-A965-F2CF9B6FB220}"/>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7" name="Slide Number Placeholder 6">
            <a:extLst>
              <a:ext uri="{FF2B5EF4-FFF2-40B4-BE49-F238E27FC236}">
                <a16:creationId xmlns:a16="http://schemas.microsoft.com/office/drawing/2014/main" id="{34884E94-21EC-4769-A93E-5FB9611A4929}"/>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175431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F0E5-2249-4908-B7BD-28D897FD1C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5F435F-9716-456B-ACD4-55D7786E5B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9EF7EB-3A97-4C95-862D-8F857466813F}"/>
              </a:ext>
            </a:extLst>
          </p:cNvPr>
          <p:cNvSpPr>
            <a:spLocks noGrp="1"/>
          </p:cNvSpPr>
          <p:nvPr>
            <p:ph type="dt" sz="half" idx="10"/>
          </p:nvPr>
        </p:nvSpPr>
        <p:spPr/>
        <p:txBody>
          <a:bodyPr/>
          <a:lstStyle/>
          <a:p>
            <a:fld id="{0F4271CD-C8D4-4421-8718-17F87F84FA88}" type="datetime1">
              <a:rPr lang="en-IN" smtClean="0"/>
              <a:t>16-03-2026</a:t>
            </a:fld>
            <a:endParaRPr lang="en-IN"/>
          </a:p>
        </p:txBody>
      </p:sp>
      <p:sp>
        <p:nvSpPr>
          <p:cNvPr id="5" name="Footer Placeholder 4">
            <a:extLst>
              <a:ext uri="{FF2B5EF4-FFF2-40B4-BE49-F238E27FC236}">
                <a16:creationId xmlns:a16="http://schemas.microsoft.com/office/drawing/2014/main" id="{9174CC87-8732-444D-9F33-E8565D7B99EA}"/>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6" name="Slide Number Placeholder 5">
            <a:extLst>
              <a:ext uri="{FF2B5EF4-FFF2-40B4-BE49-F238E27FC236}">
                <a16:creationId xmlns:a16="http://schemas.microsoft.com/office/drawing/2014/main" id="{20740A40-A595-4A12-8BF5-ED5F06DE7820}"/>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1509815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224B07-B1DB-49F3-8BA7-D4A8BDA62B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7C8B50-3BA6-42C1-85D8-DA8F33CB28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F8B886-FB00-400A-8990-4F55A65CC7C9}"/>
              </a:ext>
            </a:extLst>
          </p:cNvPr>
          <p:cNvSpPr>
            <a:spLocks noGrp="1"/>
          </p:cNvSpPr>
          <p:nvPr>
            <p:ph type="dt" sz="half" idx="10"/>
          </p:nvPr>
        </p:nvSpPr>
        <p:spPr/>
        <p:txBody>
          <a:bodyPr/>
          <a:lstStyle/>
          <a:p>
            <a:fld id="{60FA7664-8265-4FC9-8741-04108820C3FE}" type="datetime1">
              <a:rPr lang="en-IN" smtClean="0"/>
              <a:t>16-03-2026</a:t>
            </a:fld>
            <a:endParaRPr lang="en-IN"/>
          </a:p>
        </p:txBody>
      </p:sp>
      <p:sp>
        <p:nvSpPr>
          <p:cNvPr id="5" name="Footer Placeholder 4">
            <a:extLst>
              <a:ext uri="{FF2B5EF4-FFF2-40B4-BE49-F238E27FC236}">
                <a16:creationId xmlns:a16="http://schemas.microsoft.com/office/drawing/2014/main" id="{DABB4D31-ACD5-4083-B33C-1A8D4D85B6FC}"/>
              </a:ext>
            </a:extLst>
          </p:cNvPr>
          <p:cNvSpPr>
            <a:spLocks noGrp="1"/>
          </p:cNvSpPr>
          <p:nvPr>
            <p:ph type="ftr" sz="quarter" idx="11"/>
          </p:nvPr>
        </p:nvSpPr>
        <p:spPr/>
        <p:txBody>
          <a:bodyPr/>
          <a:lstStyle/>
          <a:p>
            <a:r>
              <a:rPr lang="en-US"/>
              <a:t>Department of Electronics &amp; Communication Engg., MANIT, Bhopal</a:t>
            </a:r>
            <a:endParaRPr lang="en-IN"/>
          </a:p>
        </p:txBody>
      </p:sp>
      <p:sp>
        <p:nvSpPr>
          <p:cNvPr id="6" name="Slide Number Placeholder 5">
            <a:extLst>
              <a:ext uri="{FF2B5EF4-FFF2-40B4-BE49-F238E27FC236}">
                <a16:creationId xmlns:a16="http://schemas.microsoft.com/office/drawing/2014/main" id="{6AC1A380-0B01-490A-B410-A6A828BB3913}"/>
              </a:ext>
            </a:extLst>
          </p:cNvPr>
          <p:cNvSpPr>
            <a:spLocks noGrp="1"/>
          </p:cNvSpPr>
          <p:nvPr>
            <p:ph type="sldNum" sz="quarter" idx="12"/>
          </p:nvPr>
        </p:nvSpPr>
        <p:spPr/>
        <p:txBody>
          <a:bodyPr/>
          <a:lstStyle/>
          <a:p>
            <a:fld id="{C56FAF6A-4925-4D1E-8078-ECEA64474517}" type="slidenum">
              <a:rPr lang="en-IN" smtClean="0"/>
              <a:t>‹#›</a:t>
            </a:fld>
            <a:endParaRPr lang="en-IN"/>
          </a:p>
        </p:txBody>
      </p:sp>
    </p:spTree>
    <p:extLst>
      <p:ext uri="{BB962C8B-B14F-4D97-AF65-F5344CB8AC3E}">
        <p14:creationId xmlns:p14="http://schemas.microsoft.com/office/powerpoint/2010/main" val="311814122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F98A44-5227-4C48-87DC-C67448FED5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592986-F64B-42E6-BE04-EC0B654061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1E2F2A-4451-4F31-909A-199DEBBBFA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694C3D-1FB3-4030-85C3-22908444AF10}" type="datetime1">
              <a:rPr lang="en-IN" smtClean="0"/>
              <a:t>16-03-2026</a:t>
            </a:fld>
            <a:endParaRPr lang="en-IN"/>
          </a:p>
        </p:txBody>
      </p:sp>
      <p:sp>
        <p:nvSpPr>
          <p:cNvPr id="5" name="Footer Placeholder 4">
            <a:extLst>
              <a:ext uri="{FF2B5EF4-FFF2-40B4-BE49-F238E27FC236}">
                <a16:creationId xmlns:a16="http://schemas.microsoft.com/office/drawing/2014/main" id="{A57A1C70-D465-4F1F-B8BB-DC271CB5A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Electronics &amp; Communication Engg., MANIT, Bhopal</a:t>
            </a:r>
            <a:endParaRPr lang="en-IN"/>
          </a:p>
        </p:txBody>
      </p:sp>
      <p:sp>
        <p:nvSpPr>
          <p:cNvPr id="6" name="Slide Number Placeholder 5">
            <a:extLst>
              <a:ext uri="{FF2B5EF4-FFF2-40B4-BE49-F238E27FC236}">
                <a16:creationId xmlns:a16="http://schemas.microsoft.com/office/drawing/2014/main" id="{0D842A82-7D3C-4725-98C3-801D6C7243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6FAF6A-4925-4D1E-8078-ECEA64474517}" type="slidenum">
              <a:rPr lang="en-IN" smtClean="0"/>
              <a:t>‹#›</a:t>
            </a:fld>
            <a:endParaRPr lang="en-IN"/>
          </a:p>
        </p:txBody>
      </p:sp>
    </p:spTree>
    <p:extLst>
      <p:ext uri="{BB962C8B-B14F-4D97-AF65-F5344CB8AC3E}">
        <p14:creationId xmlns:p14="http://schemas.microsoft.com/office/powerpoint/2010/main" val="1397317869"/>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23.png"/><Relationship Id="rId4" Type="http://schemas.openxmlformats.org/officeDocument/2006/relationships/image" Target="../media/image17.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13.png"/><Relationship Id="rId8" Type="http://schemas.openxmlformats.org/officeDocument/2006/relationships/image" Target="../media/image29.png"/><Relationship Id="rId9"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28.png"/><Relationship Id="rId4" Type="http://schemas.openxmlformats.org/officeDocument/2006/relationships/image" Target="../media/image5.png"/><Relationship Id="rId5" Type="http://schemas.openxmlformats.org/officeDocument/2006/relationships/image" Target="../media/image29.png"/><Relationship Id="rId6"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33.png"/><Relationship Id="rId7"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F9F7857-AC26-4304-B66E-73394F616961}"/>
              </a:ext>
            </a:extLst>
          </p:cNvPr>
          <p:cNvSpPr/>
          <p:nvPr/>
        </p:nvSpPr>
        <p:spPr>
          <a:xfrm>
            <a:off x="231006" y="384779"/>
            <a:ext cx="11733196" cy="584775"/>
          </a:xfrm>
          <a:prstGeom prst="rect">
            <a:avLst/>
          </a:prstGeom>
        </p:spPr>
        <p:txBody>
          <a:bodyPr wrap="square">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SENTINEL Forge: Evidence-Grounded Compilation of Threat Reports into Tested Detection Rules</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347B8CD9-3D1F-483D-BBEB-6A8D39DAF6DE}"/>
              </a:ext>
            </a:extLst>
          </p:cNvPr>
          <p:cNvSpPr/>
          <p:nvPr/>
        </p:nvSpPr>
        <p:spPr>
          <a:xfrm>
            <a:off x="7804538" y="3148779"/>
            <a:ext cx="3537932" cy="492443"/>
          </a:xfrm>
          <a:prstGeom prst="rect">
            <a:avLst/>
          </a:prstGeom>
        </p:spPr>
        <p:txBody>
          <a:bodyPr wrap="square">
            <a:spAutoFit/>
          </a:bodyPr>
          <a:lstStyle/>
          <a:p>
            <a:pPr lvl="0" algn="ctr"/>
            <a:r>
              <a:rPr lang="en-IN" sz="2600" b="1" dirty="0">
                <a:solidFill>
                  <a:srgbClr val="00B050"/>
                </a:solidFill>
                <a:latin typeface="Times New Roman" panose="02020603050405020304" pitchFamily="18" charset="0"/>
                <a:cs typeface="Times New Roman" panose="02020603050405020304" pitchFamily="18" charset="0"/>
              </a:rPr>
              <a:t>Presented By:</a:t>
            </a:r>
          </a:p>
        </p:txBody>
      </p:sp>
      <p:sp>
        <p:nvSpPr>
          <p:cNvPr id="3" name="Slide Number Placeholder 2"/>
          <p:cNvSpPr>
            <a:spLocks noGrp="1"/>
          </p:cNvSpPr>
          <p:nvPr>
            <p:ph type="sldNum" sz="quarter" idx="12"/>
          </p:nvPr>
        </p:nvSpPr>
        <p:spPr/>
        <p:txBody>
          <a:bodyPr/>
          <a:lstStyle/>
          <a:p>
            <a:fld id="{C56FAF6A-4925-4D1E-8078-ECEA64474517}" type="slidenum">
              <a:rPr lang="en-IN" smtClean="0"/>
              <a:t>1</a:t>
            </a:fld>
            <a:endParaRPr lang="en-IN"/>
          </a:p>
        </p:txBody>
      </p:sp>
      <p:sp>
        <p:nvSpPr>
          <p:cNvPr id="12" name="Rectangle 11">
            <a:extLst>
              <a:ext uri="{FF2B5EF4-FFF2-40B4-BE49-F238E27FC236}">
                <a16:creationId xmlns:a16="http://schemas.microsoft.com/office/drawing/2014/main" id="{347B8CD9-3D1F-483D-BBEB-6A8D39DAF6DE}"/>
              </a:ext>
            </a:extLst>
          </p:cNvPr>
          <p:cNvSpPr/>
          <p:nvPr/>
        </p:nvSpPr>
        <p:spPr>
          <a:xfrm>
            <a:off x="849531" y="3148779"/>
            <a:ext cx="3848930" cy="1169551"/>
          </a:xfrm>
          <a:prstGeom prst="rect">
            <a:avLst/>
          </a:prstGeom>
        </p:spPr>
        <p:txBody>
          <a:bodyPr wrap="square">
            <a:spAutoFit/>
          </a:bodyPr>
          <a:lstStyle/>
          <a:p>
            <a:pPr lvl="0" algn="ctr"/>
            <a:r>
              <a:rPr lang="en-IN" sz="2600" b="1" dirty="0">
                <a:solidFill>
                  <a:srgbClr val="00B050"/>
                </a:solidFill>
                <a:latin typeface="Times New Roman" panose="02020603050405020304" pitchFamily="18" charset="0"/>
                <a:cs typeface="Times New Roman" panose="02020603050405020304" pitchFamily="18" charset="0"/>
              </a:rPr>
              <a:t>Subject Coordinator</a:t>
            </a:r>
          </a:p>
          <a:p>
            <a:pPr lvl="0" algn="ctr"/>
            <a:r>
              <a:rPr lang="en-IN" sz="2200" dirty="0" err="1">
                <a:latin typeface="Times New Roman" panose="02020603050405020304" pitchFamily="18" charset="0"/>
                <a:cs typeface="Times New Roman" panose="02020603050405020304" pitchFamily="18" charset="0"/>
              </a:rPr>
              <a:t>Dr. ____________</a:t>
            </a:r>
            <a:r>
              <a:rPr lang="en-IN" sz="2200" dirty="0">
                <a:latin typeface="Times New Roman" panose="02020603050405020304" pitchFamily="18" charset="0"/>
                <a:cs typeface="Times New Roman" panose="02020603050405020304" pitchFamily="18" charset="0"/>
              </a:rPr>
              <a:t/>
            </a:r>
            <a:r>
              <a:rPr lang="en-IN" sz="2200" dirty="0" err="1">
                <a:latin typeface="Times New Roman" panose="02020603050405020304" pitchFamily="18" charset="0"/>
                <a:cs typeface="Times New Roman" panose="02020603050405020304" pitchFamily="18" charset="0"/>
              </a:rPr>
              <a:t/>
            </a:r>
            <a:endParaRPr lang="en-IN" sz="2200" dirty="0">
              <a:latin typeface="Times New Roman" panose="02020603050405020304" pitchFamily="18" charset="0"/>
              <a:cs typeface="Times New Roman" panose="02020603050405020304" pitchFamily="18" charset="0"/>
            </a:endParaRPr>
          </a:p>
          <a:p>
            <a:pPr lvl="0" algn="ctr"/>
            <a:r>
              <a:rPr lang="en-IN" sz="2200" dirty="0">
                <a:latin typeface="Times New Roman" panose="02020603050405020304" pitchFamily="18" charset="0"/>
                <a:cs typeface="Times New Roman" panose="02020603050405020304" pitchFamily="18" charset="0"/>
              </a:rPr>
              <a:t>Professor</a:t>
            </a:r>
          </a:p>
        </p:txBody>
      </p:sp>
      <p:pic>
        <p:nvPicPr>
          <p:cNvPr id="4" name="Picture 3">
            <a:extLst>
              <a:ext uri="{FF2B5EF4-FFF2-40B4-BE49-F238E27FC236}">
                <a16:creationId xmlns:a16="http://schemas.microsoft.com/office/drawing/2014/main" id="{856363D2-DB0D-4A10-B437-643F7DD8D77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saturation sat="400000"/>
                    </a14:imgEffect>
                  </a14:imgLayer>
                </a14:imgProps>
              </a:ext>
            </a:extLst>
          </a:blip>
          <a:stretch>
            <a:fillRect/>
          </a:stretch>
        </p:blipFill>
        <p:spPr>
          <a:xfrm>
            <a:off x="4993537" y="3206293"/>
            <a:ext cx="2204923" cy="2204923"/>
          </a:xfrm>
          <a:prstGeom prst="rect">
            <a:avLst/>
          </a:prstGeom>
        </p:spPr>
      </p:pic>
      <p:sp>
        <p:nvSpPr>
          <p:cNvPr id="16" name="Rectangle 15">
            <a:extLst>
              <a:ext uri="{FF2B5EF4-FFF2-40B4-BE49-F238E27FC236}">
                <a16:creationId xmlns:a16="http://schemas.microsoft.com/office/drawing/2014/main" id="{FF246CD6-8FEB-449A-9003-1A6A02E3DB5C}"/>
              </a:ext>
            </a:extLst>
          </p:cNvPr>
          <p:cNvSpPr/>
          <p:nvPr/>
        </p:nvSpPr>
        <p:spPr>
          <a:xfrm>
            <a:off x="0" y="5494960"/>
            <a:ext cx="12192000" cy="1260858"/>
          </a:xfrm>
          <a:prstGeom prst="rect">
            <a:avLst/>
          </a:prstGeom>
          <a:solidFill>
            <a:srgbClr val="A50021"/>
          </a:solidFill>
        </p:spPr>
        <p:txBody>
          <a:bodyPr wrap="square">
            <a:spAutoFit/>
          </a:bodyPr>
          <a:lstStyle/>
          <a:p>
            <a:pPr algn="ctr">
              <a:lnSpc>
                <a:spcPct val="90000"/>
              </a:lnSpc>
              <a:spcBef>
                <a:spcPts val="1000"/>
              </a:spcBef>
            </a:pPr>
            <a:endParaRPr lang="en-US" sz="500" b="1" dirty="0">
              <a:solidFill>
                <a:schemeClr val="bg1"/>
              </a:solidFill>
              <a:highlight>
                <a:srgbClr val="820019"/>
              </a:highlight>
              <a:latin typeface="Times New Roman" panose="02020603050405020304" pitchFamily="18" charset="0"/>
              <a:cs typeface="Times New Roman" panose="02020603050405020304" pitchFamily="18" charset="0"/>
            </a:endParaRPr>
          </a:p>
          <a:p>
            <a:pPr algn="ctr">
              <a:lnSpc>
                <a:spcPct val="90000"/>
              </a:lnSpc>
              <a:spcBef>
                <a:spcPts val="600"/>
              </a:spcBef>
            </a:pPr>
            <a:r>
              <a:rPr lang="en-US" sz="2600" b="1" dirty="0">
                <a:solidFill>
                  <a:schemeClr val="bg1"/>
                </a:solidFill>
                <a:latin typeface="Times New Roman" panose="02020603050405020304" pitchFamily="18" charset="0"/>
                <a:cs typeface="Times New Roman" panose="02020603050405020304" pitchFamily="18" charset="0"/>
              </a:rPr>
              <a:t>AMRITA VISHWA VIDYAPEETHAM, DELHI NCR, FARIDABAD</a:t>
            </a:r>
            <a:endParaRPr lang="en-IN" sz="2600" b="1" dirty="0">
              <a:solidFill>
                <a:schemeClr val="bg1"/>
              </a:solidFill>
              <a:latin typeface="Times New Roman" panose="02020603050405020304" pitchFamily="18" charset="0"/>
              <a:cs typeface="Times New Roman" panose="02020603050405020304" pitchFamily="18" charset="0"/>
            </a:endParaRPr>
          </a:p>
          <a:p>
            <a:pPr algn="ctr">
              <a:lnSpc>
                <a:spcPct val="90000"/>
              </a:lnSpc>
              <a:spcBef>
                <a:spcPts val="600"/>
              </a:spcBef>
            </a:pPr>
            <a:r>
              <a:rPr lang="en-US" sz="2800" b="1" dirty="0">
                <a:solidFill>
                  <a:schemeClr val="bg1"/>
                </a:solidFill>
                <a:latin typeface="Times New Roman" panose="02020603050405020304" pitchFamily="18" charset="0"/>
                <a:cs typeface="Times New Roman" panose="02020603050405020304" pitchFamily="18" charset="0"/>
              </a:rPr>
              <a:t>Department of Artificial Intelligence &amp; Data Science (AIDS)</a:t>
            </a:r>
          </a:p>
          <a:p>
            <a:pPr lvl="0" algn="ctr">
              <a:lnSpc>
                <a:spcPct val="90000"/>
              </a:lnSpc>
              <a:spcBef>
                <a:spcPts val="1000"/>
              </a:spcBef>
            </a:pPr>
            <a:endParaRPr lang="en-IN" sz="500" b="1" dirty="0">
              <a:solidFill>
                <a:schemeClr val="bg1"/>
              </a:solidFill>
              <a:highlight>
                <a:srgbClr val="820019"/>
              </a:highlight>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55D2DAAE-74B7-4680-BB4D-D5C691249BAF}"/>
              </a:ext>
            </a:extLst>
          </p:cNvPr>
          <p:cNvSpPr/>
          <p:nvPr/>
        </p:nvSpPr>
        <p:spPr>
          <a:xfrm>
            <a:off x="7424927" y="3647697"/>
            <a:ext cx="4663440" cy="1785104"/>
          </a:xfrm>
          <a:prstGeom prst="rect">
            <a:avLst/>
          </a:prstGeom>
        </p:spPr>
        <p:txBody>
          <a:bodyPr wrap="square">
            <a:spAutoFit/>
          </a:bodyPr>
          <a:lstStyle/>
          <a:p>
            <a:pPr lvl="0" algn="just"/>
            <a:r>
              <a:rPr lang="en-IN" sz="2200" dirty="0">
                <a:latin typeface="Times New Roman" panose="02020603050405020304" pitchFamily="18" charset="0"/>
                <a:cs typeface="Times New Roman" panose="02020603050405020304" pitchFamily="18" charset="0"/>
              </a:rPr>
              <a:t>K. Karthikeya (DL.AI.U4AID24020)</a:t>
            </a:r>
          </a:p>
          <a:p>
            <a:pPr algn="just"/>
            <a:r>
              <a:rPr lang="en-IN" sz="2200" dirty="0">
                <a:latin typeface="Times New Roman" panose="02020603050405020304" pitchFamily="18" charset="0"/>
                <a:cs typeface="Times New Roman" panose="02020603050405020304" pitchFamily="18" charset="0"/>
              </a:rPr>
              <a:t>A. Karthik (DL.AI.U4AID24104)</a:t>
            </a:r>
          </a:p>
          <a:p>
            <a:pPr algn="just"/>
            <a:r>
              <a:rPr lang="en-IN" sz="2200" dirty="0">
                <a:latin typeface="Times New Roman" panose="02020603050405020304" pitchFamily="18" charset="0"/>
                <a:cs typeface="Times New Roman" panose="02020603050405020304" pitchFamily="18" charset="0"/>
              </a:rPr>
              <a:t>K. Likhith (DL.AI.U4AID24117)</a:t>
            </a:r>
          </a:p>
          <a:p>
            <a:pPr algn="just"/>
            <a:r>
              <a:rPr lang="en-IN" sz="2200" dirty="0">
                <a:latin typeface="Times New Roman" panose="02020603050405020304" pitchFamily="18" charset="0"/>
                <a:cs typeface="Times New Roman" panose="02020603050405020304" pitchFamily="18" charset="0"/>
              </a:rPr>
              <a:t>Y. Sandeep (DL.AI.U4AID24143)</a:t>
            </a:r>
          </a:p>
        </p:txBody>
      </p:sp>
      <p:sp>
        <p:nvSpPr>
          <p:cNvPr id="18" name="Rectangle 17">
            <a:extLst>
              <a:ext uri="{FF2B5EF4-FFF2-40B4-BE49-F238E27FC236}">
                <a16:creationId xmlns:a16="http://schemas.microsoft.com/office/drawing/2014/main" id="{411C5D32-BE35-4980-8AD8-4602B7073937}"/>
              </a:ext>
            </a:extLst>
          </p:cNvPr>
          <p:cNvSpPr/>
          <p:nvPr/>
        </p:nvSpPr>
        <p:spPr>
          <a:xfrm>
            <a:off x="229400" y="1692210"/>
            <a:ext cx="11733196" cy="892552"/>
          </a:xfrm>
          <a:prstGeom prst="rect">
            <a:avLst/>
          </a:prstGeom>
        </p:spPr>
        <p:txBody>
          <a:bodyPr wrap="square">
            <a:spAutoFit/>
          </a:bodyPr>
          <a:lstStyle/>
          <a:p>
            <a:pPr algn="ctr"/>
            <a:r>
              <a:rPr lang="en-US" sz="2600" b="1" dirty="0">
                <a:solidFill>
                  <a:srgbClr val="FF0000"/>
                </a:solidFill>
                <a:latin typeface="Times New Roman" panose="02020603050405020304" pitchFamily="18" charset="0"/>
                <a:cs typeface="Times New Roman" panose="02020603050405020304" pitchFamily="18" charset="0"/>
              </a:rPr>
              <a:t>B.Tech (AIDS)</a:t>
            </a:r>
          </a:p>
          <a:p>
            <a:pPr algn="ctr"/>
            <a:r>
              <a:rPr lang="en-US" sz="2600" b="1" dirty="0">
                <a:solidFill>
                  <a:srgbClr val="FF0000"/>
                </a:solidFill>
                <a:latin typeface="Times New Roman" panose="02020603050405020304" pitchFamily="18" charset="0"/>
                <a:cs typeface="Times New Roman" panose="02020603050405020304" pitchFamily="18" charset="0"/>
              </a:rPr>
              <a:t>UG-II (IV-Semester)</a:t>
            </a:r>
            <a:endParaRPr lang="en-IN" sz="2600" b="1" dirty="0">
              <a:solidFill>
                <a:srgbClr val="FF0000"/>
              </a:solidFill>
              <a:latin typeface="Times New Roman" panose="02020603050405020304" pitchFamily="18" charset="0"/>
              <a:cs typeface="Times New Roman" panose="02020603050405020304" pitchFamily="18" charset="0"/>
            </a:endParaRPr>
          </a:p>
        </p:txBody>
      </p:sp>
      <p:sp>
        <p:nvSpPr>
          <p:cNvPr id="19" name="Rounded Rectangle 18"/>
          <p:cNvSpPr/>
          <p:nvPr/>
        </p:nvSpPr>
        <p:spPr>
          <a:xfrm>
            <a:off x="2286000" y="2706624"/>
            <a:ext cx="7616952" cy="402336"/>
          </a:xfrm>
          <a:prstGeom prst="roundRect">
            <a:avLst>
              <a:gd name="adj" fmla="val 50000"/>
            </a:avLst>
          </a:prstGeom>
          <a:solidFill>
            <a:srgbClr val="FBEFF1"/>
          </a:solidFill>
          <a:ln w="9525">
            <a:solidFill>
              <a:srgbClr val="F3D9D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800" b="1" i="0">
                <a:solidFill>
                  <a:srgbClr val="820019"/>
                </a:solidFill>
                <a:latin typeface="Times New Roman"/>
                <a:cs typeface="Times New Roman"/>
              </a:rPr>
              <a:t>Course Project  ·  Text Analytics + Big Data Analytics</a:t>
            </a:r>
          </a:p>
        </p:txBody>
      </p:sp>
    </p:spTree>
    <p:extLst>
      <p:ext uri="{BB962C8B-B14F-4D97-AF65-F5344CB8AC3E}">
        <p14:creationId xmlns:p14="http://schemas.microsoft.com/office/powerpoint/2010/main" val="1778622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6FAF6A-4925-4D1E-8078-ECEA64474517}" type="slidenum">
              <a:rPr lang="en-IN" smtClean="0"/>
              <a:t>2</a:t>
            </a:fld>
            <a:endParaRPr lang="en-IN"/>
          </a:p>
        </p:txBody>
      </p:sp>
      <p:sp>
        <p:nvSpPr>
          <p:cNvPr id="8" name="TextBox 7">
            <a:extLst>
              <a:ext uri="{FF2B5EF4-FFF2-40B4-BE49-F238E27FC236}">
                <a16:creationId xmlns:a16="http://schemas.microsoft.com/office/drawing/2014/main" id="{CDEB24E1-EFE8-4D6C-A0BF-6C337B6CDBE1}"/>
              </a:ext>
            </a:extLst>
          </p:cNvPr>
          <p:cNvSpPr txBox="1"/>
          <p:nvPr/>
        </p:nvSpPr>
        <p:spPr>
          <a:xfrm>
            <a:off x="1141941" y="420286"/>
            <a:ext cx="1060704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a:rPr>
              <a:t>CONTENTS</a:t>
            </a:r>
            <a:endParaRPr kumimoji="0" lang="en-IN"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172D857B-6114-487D-901F-3BE3414CF24C}"/>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24BCFDA0-1B03-47DF-AE91-84DA533C967E}"/>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FF5372F-8F94-452E-A69C-686724A91017}"/>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2" name="Footer Placeholder 3">
            <a:extLst>
              <a:ext uri="{FF2B5EF4-FFF2-40B4-BE49-F238E27FC236}">
                <a16:creationId xmlns:a16="http://schemas.microsoft.com/office/drawing/2014/main" id="{16CB7D16-D977-46B5-BBD4-054E93ACF4D3}"/>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3F60880-C49B-4910-AA31-4A863CB77233}"/>
              </a:ext>
            </a:extLst>
          </p:cNvPr>
          <p:cNvPicPr>
            <a:picLocks noChangeAspect="1"/>
          </p:cNvPicPr>
          <p:nvPr/>
        </p:nvPicPr>
        <p:blipFill>
          <a:blip r:embed="rId2"/>
          <a:stretch>
            <a:fillRect/>
          </a:stretch>
        </p:blipFill>
        <p:spPr>
          <a:xfrm>
            <a:off x="170869" y="44663"/>
            <a:ext cx="971072" cy="971072"/>
          </a:xfrm>
          <a:prstGeom prst="rect">
            <a:avLst/>
          </a:prstGeom>
        </p:spPr>
      </p:pic>
      <p:sp>
        <p:nvSpPr>
          <p:cNvPr id="14" name="Rounded Rectangle 13"/>
          <p:cNvSpPr/>
          <p:nvPr/>
        </p:nvSpPr>
        <p:spPr>
          <a:xfrm>
            <a:off x="411480" y="1298448"/>
            <a:ext cx="5577840" cy="493776"/>
          </a:xfrm>
          <a:prstGeom prst="roundRect">
            <a:avLst>
              <a:gd name="adj" fmla="val 3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4632" y="1353312"/>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1</a:t>
            </a:r>
          </a:p>
        </p:txBody>
      </p:sp>
      <p:sp>
        <p:nvSpPr>
          <p:cNvPr id="16" name="TextBox 15"/>
          <p:cNvSpPr txBox="1"/>
          <p:nvPr/>
        </p:nvSpPr>
        <p:spPr>
          <a:xfrm>
            <a:off x="978408" y="1298448"/>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Project Idea</a:t>
            </a:r>
          </a:p>
        </p:txBody>
      </p:sp>
      <p:sp>
        <p:nvSpPr>
          <p:cNvPr id="17" name="TextBox 16"/>
          <p:cNvSpPr txBox="1"/>
          <p:nvPr/>
        </p:nvSpPr>
        <p:spPr>
          <a:xfrm>
            <a:off x="4617720" y="1298448"/>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3</a:t>
            </a:r>
          </a:p>
        </p:txBody>
      </p:sp>
      <p:sp>
        <p:nvSpPr>
          <p:cNvPr id="18" name="Rounded Rectangle 17"/>
          <p:cNvSpPr/>
          <p:nvPr/>
        </p:nvSpPr>
        <p:spPr>
          <a:xfrm>
            <a:off x="411480" y="1901952"/>
            <a:ext cx="5577840" cy="493776"/>
          </a:xfrm>
          <a:prstGeom prst="roundRect">
            <a:avLst>
              <a:gd name="adj" fmla="val 3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4632" y="1956816"/>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2</a:t>
            </a:r>
          </a:p>
        </p:txBody>
      </p:sp>
      <p:sp>
        <p:nvSpPr>
          <p:cNvPr id="20" name="TextBox 19"/>
          <p:cNvSpPr txBox="1"/>
          <p:nvPr/>
        </p:nvSpPr>
        <p:spPr>
          <a:xfrm>
            <a:off x="978408" y="1901952"/>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Problem Statement</a:t>
            </a:r>
          </a:p>
        </p:txBody>
      </p:sp>
      <p:sp>
        <p:nvSpPr>
          <p:cNvPr id="21" name="TextBox 20"/>
          <p:cNvSpPr txBox="1"/>
          <p:nvPr/>
        </p:nvSpPr>
        <p:spPr>
          <a:xfrm>
            <a:off x="4617720" y="1901952"/>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4</a:t>
            </a:r>
          </a:p>
        </p:txBody>
      </p:sp>
      <p:sp>
        <p:nvSpPr>
          <p:cNvPr id="22" name="Rounded Rectangle 21"/>
          <p:cNvSpPr/>
          <p:nvPr/>
        </p:nvSpPr>
        <p:spPr>
          <a:xfrm>
            <a:off x="411480" y="2505456"/>
            <a:ext cx="5577840" cy="493776"/>
          </a:xfrm>
          <a:prstGeom prst="roundRect">
            <a:avLst>
              <a:gd name="adj" fmla="val 3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4632" y="2560320"/>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3</a:t>
            </a:r>
          </a:p>
        </p:txBody>
      </p:sp>
      <p:sp>
        <p:nvSpPr>
          <p:cNvPr id="24" name="TextBox 23"/>
          <p:cNvSpPr txBox="1"/>
          <p:nvPr/>
        </p:nvSpPr>
        <p:spPr>
          <a:xfrm>
            <a:off x="978408" y="2505456"/>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Literature Review (Previous Work)</a:t>
            </a:r>
          </a:p>
        </p:txBody>
      </p:sp>
      <p:sp>
        <p:nvSpPr>
          <p:cNvPr id="25" name="TextBox 24"/>
          <p:cNvSpPr txBox="1"/>
          <p:nvPr/>
        </p:nvSpPr>
        <p:spPr>
          <a:xfrm>
            <a:off x="4617720" y="2505456"/>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5</a:t>
            </a:r>
          </a:p>
        </p:txBody>
      </p:sp>
      <p:sp>
        <p:nvSpPr>
          <p:cNvPr id="26" name="Rounded Rectangle 25"/>
          <p:cNvSpPr/>
          <p:nvPr/>
        </p:nvSpPr>
        <p:spPr>
          <a:xfrm>
            <a:off x="411480" y="3108960"/>
            <a:ext cx="5577840" cy="493776"/>
          </a:xfrm>
          <a:prstGeom prst="roundRect">
            <a:avLst>
              <a:gd name="adj" fmla="val 3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84632" y="3163824"/>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4</a:t>
            </a:r>
          </a:p>
        </p:txBody>
      </p:sp>
      <p:sp>
        <p:nvSpPr>
          <p:cNvPr id="28" name="TextBox 27"/>
          <p:cNvSpPr txBox="1"/>
          <p:nvPr/>
        </p:nvSpPr>
        <p:spPr>
          <a:xfrm>
            <a:off x="978408" y="3108960"/>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Novelty of the Project</a:t>
            </a:r>
          </a:p>
        </p:txBody>
      </p:sp>
      <p:sp>
        <p:nvSpPr>
          <p:cNvPr id="29" name="TextBox 28"/>
          <p:cNvSpPr txBox="1"/>
          <p:nvPr/>
        </p:nvSpPr>
        <p:spPr>
          <a:xfrm>
            <a:off x="4617720" y="3108960"/>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6</a:t>
            </a:r>
          </a:p>
        </p:txBody>
      </p:sp>
      <p:sp>
        <p:nvSpPr>
          <p:cNvPr id="30" name="Rounded Rectangle 29"/>
          <p:cNvSpPr/>
          <p:nvPr/>
        </p:nvSpPr>
        <p:spPr>
          <a:xfrm>
            <a:off x="411480" y="3712464"/>
            <a:ext cx="5577840" cy="493776"/>
          </a:xfrm>
          <a:prstGeom prst="roundRect">
            <a:avLst>
              <a:gd name="adj" fmla="val 3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84632" y="3767328"/>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5</a:t>
            </a:r>
          </a:p>
        </p:txBody>
      </p:sp>
      <p:sp>
        <p:nvSpPr>
          <p:cNvPr id="32" name="TextBox 31"/>
          <p:cNvSpPr txBox="1"/>
          <p:nvPr/>
        </p:nvSpPr>
        <p:spPr>
          <a:xfrm>
            <a:off x="978408" y="3712464"/>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Objectives of the Project</a:t>
            </a:r>
          </a:p>
        </p:txBody>
      </p:sp>
      <p:sp>
        <p:nvSpPr>
          <p:cNvPr id="33" name="TextBox 32"/>
          <p:cNvSpPr txBox="1"/>
          <p:nvPr/>
        </p:nvSpPr>
        <p:spPr>
          <a:xfrm>
            <a:off x="4617720" y="3712464"/>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7</a:t>
            </a:r>
          </a:p>
        </p:txBody>
      </p:sp>
      <p:sp>
        <p:nvSpPr>
          <p:cNvPr id="34" name="Rounded Rectangle 33"/>
          <p:cNvSpPr/>
          <p:nvPr/>
        </p:nvSpPr>
        <p:spPr>
          <a:xfrm>
            <a:off x="411480" y="4315968"/>
            <a:ext cx="5577840" cy="493776"/>
          </a:xfrm>
          <a:prstGeom prst="roundRect">
            <a:avLst>
              <a:gd name="adj" fmla="val 3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84632" y="4370832"/>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6</a:t>
            </a:r>
          </a:p>
        </p:txBody>
      </p:sp>
      <p:sp>
        <p:nvSpPr>
          <p:cNvPr id="36" name="TextBox 35"/>
          <p:cNvSpPr txBox="1"/>
          <p:nvPr/>
        </p:nvSpPr>
        <p:spPr>
          <a:xfrm>
            <a:off x="978408" y="4315968"/>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Proposed Methodology</a:t>
            </a:r>
          </a:p>
        </p:txBody>
      </p:sp>
      <p:sp>
        <p:nvSpPr>
          <p:cNvPr id="37" name="TextBox 36"/>
          <p:cNvSpPr txBox="1"/>
          <p:nvPr/>
        </p:nvSpPr>
        <p:spPr>
          <a:xfrm>
            <a:off x="4617720" y="4315968"/>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8</a:t>
            </a:r>
          </a:p>
        </p:txBody>
      </p:sp>
      <p:sp>
        <p:nvSpPr>
          <p:cNvPr id="38" name="Rounded Rectangle 37"/>
          <p:cNvSpPr/>
          <p:nvPr/>
        </p:nvSpPr>
        <p:spPr>
          <a:xfrm>
            <a:off x="411480" y="4919472"/>
            <a:ext cx="5577840" cy="493776"/>
          </a:xfrm>
          <a:prstGeom prst="roundRect">
            <a:avLst>
              <a:gd name="adj" fmla="val 3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84632" y="4974336"/>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7</a:t>
            </a:r>
          </a:p>
        </p:txBody>
      </p:sp>
      <p:sp>
        <p:nvSpPr>
          <p:cNvPr id="40" name="TextBox 39"/>
          <p:cNvSpPr txBox="1"/>
          <p:nvPr/>
        </p:nvSpPr>
        <p:spPr>
          <a:xfrm>
            <a:off x="978408" y="4919472"/>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Implementation Layout</a:t>
            </a:r>
          </a:p>
        </p:txBody>
      </p:sp>
      <p:sp>
        <p:nvSpPr>
          <p:cNvPr id="41" name="TextBox 40"/>
          <p:cNvSpPr txBox="1"/>
          <p:nvPr/>
        </p:nvSpPr>
        <p:spPr>
          <a:xfrm>
            <a:off x="4617720" y="4919472"/>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9</a:t>
            </a:r>
          </a:p>
        </p:txBody>
      </p:sp>
      <p:sp>
        <p:nvSpPr>
          <p:cNvPr id="42" name="Rounded Rectangle 41"/>
          <p:cNvSpPr/>
          <p:nvPr/>
        </p:nvSpPr>
        <p:spPr>
          <a:xfrm>
            <a:off x="411480" y="5522976"/>
            <a:ext cx="5577840" cy="493776"/>
          </a:xfrm>
          <a:prstGeom prst="roundRect">
            <a:avLst>
              <a:gd name="adj" fmla="val 3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84632" y="5577840"/>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8</a:t>
            </a:r>
          </a:p>
        </p:txBody>
      </p:sp>
      <p:sp>
        <p:nvSpPr>
          <p:cNvPr id="44" name="TextBox 43"/>
          <p:cNvSpPr txBox="1"/>
          <p:nvPr/>
        </p:nvSpPr>
        <p:spPr>
          <a:xfrm>
            <a:off x="978408" y="5522976"/>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Tools and Technologies</a:t>
            </a:r>
          </a:p>
        </p:txBody>
      </p:sp>
      <p:sp>
        <p:nvSpPr>
          <p:cNvPr id="45" name="TextBox 44"/>
          <p:cNvSpPr txBox="1"/>
          <p:nvPr/>
        </p:nvSpPr>
        <p:spPr>
          <a:xfrm>
            <a:off x="4617720" y="5522976"/>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10</a:t>
            </a:r>
          </a:p>
        </p:txBody>
      </p:sp>
      <p:sp>
        <p:nvSpPr>
          <p:cNvPr id="46" name="Rounded Rectangle 45"/>
          <p:cNvSpPr/>
          <p:nvPr/>
        </p:nvSpPr>
        <p:spPr>
          <a:xfrm>
            <a:off x="6263640" y="1298448"/>
            <a:ext cx="5577840" cy="493776"/>
          </a:xfrm>
          <a:prstGeom prst="roundRect">
            <a:avLst>
              <a:gd name="adj" fmla="val 3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336792" y="1353312"/>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9</a:t>
            </a:r>
          </a:p>
        </p:txBody>
      </p:sp>
      <p:sp>
        <p:nvSpPr>
          <p:cNvPr id="48" name="TextBox 47"/>
          <p:cNvSpPr txBox="1"/>
          <p:nvPr/>
        </p:nvSpPr>
        <p:spPr>
          <a:xfrm>
            <a:off x="6830568" y="1298448"/>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Experimental Setup</a:t>
            </a:r>
          </a:p>
        </p:txBody>
      </p:sp>
      <p:sp>
        <p:nvSpPr>
          <p:cNvPr id="49" name="TextBox 48"/>
          <p:cNvSpPr txBox="1"/>
          <p:nvPr/>
        </p:nvSpPr>
        <p:spPr>
          <a:xfrm>
            <a:off x="10469880" y="1298448"/>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11</a:t>
            </a:r>
          </a:p>
        </p:txBody>
      </p:sp>
      <p:sp>
        <p:nvSpPr>
          <p:cNvPr id="50" name="Rounded Rectangle 49"/>
          <p:cNvSpPr/>
          <p:nvPr/>
        </p:nvSpPr>
        <p:spPr>
          <a:xfrm>
            <a:off x="6263640" y="1901952"/>
            <a:ext cx="5577840" cy="493776"/>
          </a:xfrm>
          <a:prstGeom prst="roundRect">
            <a:avLst>
              <a:gd name="adj" fmla="val 3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336792" y="1956816"/>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10</a:t>
            </a:r>
          </a:p>
        </p:txBody>
      </p:sp>
      <p:sp>
        <p:nvSpPr>
          <p:cNvPr id="52" name="TextBox 51"/>
          <p:cNvSpPr txBox="1"/>
          <p:nvPr/>
        </p:nvSpPr>
        <p:spPr>
          <a:xfrm>
            <a:off x="6830568" y="1901952"/>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Results</a:t>
            </a:r>
          </a:p>
        </p:txBody>
      </p:sp>
      <p:sp>
        <p:nvSpPr>
          <p:cNvPr id="53" name="TextBox 52"/>
          <p:cNvSpPr txBox="1"/>
          <p:nvPr/>
        </p:nvSpPr>
        <p:spPr>
          <a:xfrm>
            <a:off x="10469880" y="1901952"/>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12–13</a:t>
            </a:r>
          </a:p>
        </p:txBody>
      </p:sp>
      <p:sp>
        <p:nvSpPr>
          <p:cNvPr id="54" name="Rounded Rectangle 53"/>
          <p:cNvSpPr/>
          <p:nvPr/>
        </p:nvSpPr>
        <p:spPr>
          <a:xfrm>
            <a:off x="6263640" y="2505456"/>
            <a:ext cx="5577840" cy="493776"/>
          </a:xfrm>
          <a:prstGeom prst="roundRect">
            <a:avLst>
              <a:gd name="adj" fmla="val 3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336792" y="2560320"/>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11</a:t>
            </a:r>
          </a:p>
        </p:txBody>
      </p:sp>
      <p:sp>
        <p:nvSpPr>
          <p:cNvPr id="56" name="TextBox 55"/>
          <p:cNvSpPr txBox="1"/>
          <p:nvPr/>
        </p:nvSpPr>
        <p:spPr>
          <a:xfrm>
            <a:off x="6830568" y="2505456"/>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Challenges</a:t>
            </a:r>
          </a:p>
        </p:txBody>
      </p:sp>
      <p:sp>
        <p:nvSpPr>
          <p:cNvPr id="57" name="TextBox 56"/>
          <p:cNvSpPr txBox="1"/>
          <p:nvPr/>
        </p:nvSpPr>
        <p:spPr>
          <a:xfrm>
            <a:off x="10469880" y="2505456"/>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14</a:t>
            </a:r>
          </a:p>
        </p:txBody>
      </p:sp>
      <p:sp>
        <p:nvSpPr>
          <p:cNvPr id="58" name="Rounded Rectangle 57"/>
          <p:cNvSpPr/>
          <p:nvPr/>
        </p:nvSpPr>
        <p:spPr>
          <a:xfrm>
            <a:off x="6263640" y="3108960"/>
            <a:ext cx="5577840" cy="493776"/>
          </a:xfrm>
          <a:prstGeom prst="roundRect">
            <a:avLst>
              <a:gd name="adj" fmla="val 3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336792" y="3163824"/>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12</a:t>
            </a:r>
          </a:p>
        </p:txBody>
      </p:sp>
      <p:sp>
        <p:nvSpPr>
          <p:cNvPr id="60" name="TextBox 59"/>
          <p:cNvSpPr txBox="1"/>
          <p:nvPr/>
        </p:nvSpPr>
        <p:spPr>
          <a:xfrm>
            <a:off x="6830568" y="3108960"/>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Project Timeline</a:t>
            </a:r>
          </a:p>
        </p:txBody>
      </p:sp>
      <p:sp>
        <p:nvSpPr>
          <p:cNvPr id="61" name="TextBox 60"/>
          <p:cNvSpPr txBox="1"/>
          <p:nvPr/>
        </p:nvSpPr>
        <p:spPr>
          <a:xfrm>
            <a:off x="10469880" y="3108960"/>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15</a:t>
            </a:r>
          </a:p>
        </p:txBody>
      </p:sp>
      <p:sp>
        <p:nvSpPr>
          <p:cNvPr id="62" name="Rounded Rectangle 61"/>
          <p:cNvSpPr/>
          <p:nvPr/>
        </p:nvSpPr>
        <p:spPr>
          <a:xfrm>
            <a:off x="6263640" y="3712464"/>
            <a:ext cx="5577840" cy="493776"/>
          </a:xfrm>
          <a:prstGeom prst="roundRect">
            <a:avLst>
              <a:gd name="adj" fmla="val 3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6336792" y="3767328"/>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13</a:t>
            </a:r>
          </a:p>
        </p:txBody>
      </p:sp>
      <p:sp>
        <p:nvSpPr>
          <p:cNvPr id="64" name="TextBox 63"/>
          <p:cNvSpPr txBox="1"/>
          <p:nvPr/>
        </p:nvSpPr>
        <p:spPr>
          <a:xfrm>
            <a:off x="6830568" y="3712464"/>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Conclusions</a:t>
            </a:r>
          </a:p>
        </p:txBody>
      </p:sp>
      <p:sp>
        <p:nvSpPr>
          <p:cNvPr id="65" name="TextBox 64"/>
          <p:cNvSpPr txBox="1"/>
          <p:nvPr/>
        </p:nvSpPr>
        <p:spPr>
          <a:xfrm>
            <a:off x="10469880" y="3712464"/>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16</a:t>
            </a:r>
          </a:p>
        </p:txBody>
      </p:sp>
      <p:sp>
        <p:nvSpPr>
          <p:cNvPr id="66" name="Rounded Rectangle 65"/>
          <p:cNvSpPr/>
          <p:nvPr/>
        </p:nvSpPr>
        <p:spPr>
          <a:xfrm>
            <a:off x="6263640" y="4315968"/>
            <a:ext cx="5577840" cy="493776"/>
          </a:xfrm>
          <a:prstGeom prst="roundRect">
            <a:avLst>
              <a:gd name="adj" fmla="val 3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336792" y="4370832"/>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14</a:t>
            </a:r>
          </a:p>
        </p:txBody>
      </p:sp>
      <p:sp>
        <p:nvSpPr>
          <p:cNvPr id="68" name="TextBox 67"/>
          <p:cNvSpPr txBox="1"/>
          <p:nvPr/>
        </p:nvSpPr>
        <p:spPr>
          <a:xfrm>
            <a:off x="6830568" y="4315968"/>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Future Work &amp; Scope</a:t>
            </a:r>
          </a:p>
        </p:txBody>
      </p:sp>
      <p:sp>
        <p:nvSpPr>
          <p:cNvPr id="69" name="TextBox 68"/>
          <p:cNvSpPr txBox="1"/>
          <p:nvPr/>
        </p:nvSpPr>
        <p:spPr>
          <a:xfrm>
            <a:off x="10469880" y="4315968"/>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17</a:t>
            </a:r>
          </a:p>
        </p:txBody>
      </p:sp>
      <p:sp>
        <p:nvSpPr>
          <p:cNvPr id="70" name="Rounded Rectangle 69"/>
          <p:cNvSpPr/>
          <p:nvPr/>
        </p:nvSpPr>
        <p:spPr>
          <a:xfrm>
            <a:off x="6263640" y="4919472"/>
            <a:ext cx="5577840" cy="493776"/>
          </a:xfrm>
          <a:prstGeom prst="roundRect">
            <a:avLst>
              <a:gd name="adj" fmla="val 3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6336792" y="4974336"/>
            <a:ext cx="384048" cy="38404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600" b="1" i="0">
                <a:solidFill>
                  <a:srgbClr val="FFFFFF"/>
                </a:solidFill>
                <a:latin typeface="Times New Roman"/>
                <a:cs typeface="Times New Roman"/>
              </a:rPr>
              <a:t>15</a:t>
            </a:r>
          </a:p>
        </p:txBody>
      </p:sp>
      <p:sp>
        <p:nvSpPr>
          <p:cNvPr id="72" name="TextBox 71"/>
          <p:cNvSpPr txBox="1"/>
          <p:nvPr/>
        </p:nvSpPr>
        <p:spPr>
          <a:xfrm>
            <a:off x="6830568" y="4919472"/>
            <a:ext cx="4206240" cy="493776"/>
          </a:xfrm>
          <a:prstGeom prst="rect">
            <a:avLst/>
          </a:prstGeom>
          <a:noFill/>
        </p:spPr>
        <p:txBody>
          <a:bodyPr wrap="square" lIns="45720" tIns="27432" rIns="45720" bIns="27432" anchor="ctr">
            <a:noAutofit/>
          </a:bodyPr>
          <a:lstStyle/>
          <a:p>
            <a:pPr algn="l"/>
            <a:r>
              <a:rPr sz="2200" b="0" i="0">
                <a:solidFill>
                  <a:srgbClr val="1F1F1F"/>
                </a:solidFill>
                <a:latin typeface="Times New Roman"/>
                <a:cs typeface="Times New Roman"/>
              </a:rPr>
              <a:t>References</a:t>
            </a:r>
          </a:p>
        </p:txBody>
      </p:sp>
      <p:sp>
        <p:nvSpPr>
          <p:cNvPr id="73" name="TextBox 72"/>
          <p:cNvSpPr txBox="1"/>
          <p:nvPr/>
        </p:nvSpPr>
        <p:spPr>
          <a:xfrm>
            <a:off x="10469880" y="4919472"/>
            <a:ext cx="1280160" cy="493776"/>
          </a:xfrm>
          <a:prstGeom prst="rect">
            <a:avLst/>
          </a:prstGeom>
          <a:noFill/>
        </p:spPr>
        <p:txBody>
          <a:bodyPr wrap="square" lIns="45720" tIns="27432" rIns="45720" bIns="27432" anchor="ctr">
            <a:noAutofit/>
          </a:bodyPr>
          <a:lstStyle/>
          <a:p>
            <a:pPr algn="r"/>
            <a:r>
              <a:rPr sz="1300" b="0" i="0">
                <a:solidFill>
                  <a:srgbClr val="595959"/>
                </a:solidFill>
                <a:latin typeface="Calibri"/>
                <a:cs typeface="Calibri"/>
              </a:rPr>
              <a:t>Slide 18</a:t>
            </a:r>
          </a:p>
        </p:txBody>
      </p:sp>
    </p:spTree>
    <p:extLst>
      <p:ext uri="{BB962C8B-B14F-4D97-AF65-F5344CB8AC3E}">
        <p14:creationId xmlns:p14="http://schemas.microsoft.com/office/powerpoint/2010/main" val="560222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47DD2-DB07-A0D6-2477-3B29187D73B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BB1CF24-B971-CBFF-0568-D54310410AEF}"/>
              </a:ext>
            </a:extLst>
          </p:cNvPr>
          <p:cNvSpPr>
            <a:spLocks noGrp="1"/>
          </p:cNvSpPr>
          <p:nvPr>
            <p:ph type="sldNum" sz="quarter" idx="12"/>
          </p:nvPr>
        </p:nvSpPr>
        <p:spPr/>
        <p:txBody>
          <a:bodyPr/>
          <a:lstStyle/>
          <a:p>
            <a:fld id="{C56FAF6A-4925-4D1E-8078-ECEA64474517}" type="slidenum">
              <a:rPr lang="en-IN" smtClean="0"/>
              <a:t>3</a:t>
            </a:fld>
            <a:endParaRPr lang="en-IN"/>
          </a:p>
        </p:txBody>
      </p:sp>
      <p:sp>
        <p:nvSpPr>
          <p:cNvPr id="8" name="TextBox 7">
            <a:extLst>
              <a:ext uri="{FF2B5EF4-FFF2-40B4-BE49-F238E27FC236}">
                <a16:creationId xmlns:a16="http://schemas.microsoft.com/office/drawing/2014/main" id="{5B0729FB-B169-BF4E-15A2-C21E69787699}"/>
              </a:ext>
            </a:extLst>
          </p:cNvPr>
          <p:cNvSpPr txBox="1"/>
          <p:nvPr/>
        </p:nvSpPr>
        <p:spPr>
          <a:xfrm>
            <a:off x="1180444" y="420286"/>
            <a:ext cx="10607040" cy="584775"/>
          </a:xfrm>
          <a:prstGeom prst="rect">
            <a:avLst/>
          </a:prstGeom>
          <a:noFill/>
        </p:spPr>
        <p:txBody>
          <a:bodyPr wrap="square">
            <a:spAutoFit/>
          </a:bodyPr>
          <a:lstStyle/>
          <a:p>
            <a:pPr>
              <a:defRPr/>
            </a:pPr>
            <a:r>
              <a:rPr lang="en-US" sz="3200" b="1" dirty="0">
                <a:latin typeface="Times New Roman" panose="02020603050405020304" pitchFamily="18" charset="0"/>
                <a:cs typeface="Times New Roman"/>
              </a:rPr>
              <a:t>Problem Statement</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71586D3F-CFEB-588C-6A57-E6CA6C04CBF4}"/>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7A79684F-D9BF-C1FC-9FB2-66E7E479F2E8}"/>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FD9A56E-4F97-9A5C-1C8F-74CFF507ADBC}"/>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7DC662D4-09F8-31FE-4DBC-9CCC617B34FA}"/>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C7B746D-9102-FAC7-78A0-449051F88265}"/>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A threat report says </a:t>
            </a:r>
            <a:r>
              <a:rPr sz="2400" b="1" i="0">
                <a:solidFill>
                  <a:srgbClr val="820019"/>
                </a:solidFill>
                <a:latin typeface="Calibri"/>
                <a:cs typeface="Calibri"/>
              </a:rPr>
              <a:t>what an attacker did</a:t>
            </a:r>
            <a:r>
              <a:rPr sz="2400" b="0" i="0">
                <a:solidFill>
                  <a:srgbClr val="1F1F1F"/>
                </a:solidFill>
                <a:latin typeface="Calibri"/>
                <a:cs typeface="Calibri"/>
              </a:rPr>
              <a:t>, not how to detect it in logs.</a:t>
            </a:r>
          </a:p>
        </p:txBody>
      </p:sp>
      <p:sp>
        <p:nvSpPr>
          <p:cNvPr id="16" name="Rounded Rectangle 15"/>
          <p:cNvSpPr/>
          <p:nvPr/>
        </p:nvSpPr>
        <p:spPr>
          <a:xfrm>
            <a:off x="365760" y="1783080"/>
            <a:ext cx="6812280" cy="13716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2148840"/>
            <a:ext cx="640080" cy="640080"/>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FileAlt_white.png"/>
          <p:cNvPicPr>
            <a:picLocks noChangeAspect="1"/>
          </p:cNvPicPr>
          <p:nvPr/>
        </p:nvPicPr>
        <p:blipFill>
          <a:blip r:embed="rId3"/>
          <a:stretch>
            <a:fillRect/>
          </a:stretch>
        </p:blipFill>
        <p:spPr>
          <a:xfrm>
            <a:off x="708659" y="2308860"/>
            <a:ext cx="320040" cy="320040"/>
          </a:xfrm>
          <a:prstGeom prst="rect">
            <a:avLst/>
          </a:prstGeom>
        </p:spPr>
      </p:pic>
      <p:sp>
        <p:nvSpPr>
          <p:cNvPr id="19" name="TextBox 18"/>
          <p:cNvSpPr txBox="1"/>
          <p:nvPr/>
        </p:nvSpPr>
        <p:spPr>
          <a:xfrm>
            <a:off x="1371600" y="1874519"/>
            <a:ext cx="5669280" cy="384048"/>
          </a:xfrm>
          <a:prstGeom prst="rect">
            <a:avLst/>
          </a:prstGeom>
          <a:noFill/>
        </p:spPr>
        <p:txBody>
          <a:bodyPr wrap="square" lIns="45720" tIns="27432" rIns="45720" bIns="27432" anchor="ctr">
            <a:noAutofit/>
          </a:bodyPr>
          <a:lstStyle/>
          <a:p>
            <a:pPr algn="l"/>
            <a:r>
              <a:rPr sz="2000" b="1" i="0">
                <a:solidFill>
                  <a:srgbClr val="820019"/>
                </a:solidFill>
                <a:latin typeface="Times New Roman"/>
                <a:cs typeface="Times New Roman"/>
              </a:rPr>
              <a:t>Manual translation gap</a:t>
            </a:r>
          </a:p>
        </p:txBody>
      </p:sp>
      <p:sp>
        <p:nvSpPr>
          <p:cNvPr id="20" name="TextBox 19"/>
          <p:cNvSpPr txBox="1"/>
          <p:nvPr/>
        </p:nvSpPr>
        <p:spPr>
          <a:xfrm>
            <a:off x="1371600" y="2286000"/>
            <a:ext cx="5669280" cy="8229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Analysts read prose reports, then hand-write a rule for every SIEM. It is slow, inconsistent and hard to audit.</a:t>
            </a:r>
          </a:p>
        </p:txBody>
      </p:sp>
      <p:sp>
        <p:nvSpPr>
          <p:cNvPr id="21" name="Rounded Rectangle 20"/>
          <p:cNvSpPr/>
          <p:nvPr/>
        </p:nvSpPr>
        <p:spPr>
          <a:xfrm>
            <a:off x="365760" y="3337560"/>
            <a:ext cx="6812280" cy="13716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8640" y="3703320"/>
            <a:ext cx="640080" cy="640080"/>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Eye_white.png"/>
          <p:cNvPicPr>
            <a:picLocks noChangeAspect="1"/>
          </p:cNvPicPr>
          <p:nvPr/>
        </p:nvPicPr>
        <p:blipFill>
          <a:blip r:embed="rId4"/>
          <a:stretch>
            <a:fillRect/>
          </a:stretch>
        </p:blipFill>
        <p:spPr>
          <a:xfrm>
            <a:off x="708659" y="3863339"/>
            <a:ext cx="320040" cy="320040"/>
          </a:xfrm>
          <a:prstGeom prst="rect">
            <a:avLst/>
          </a:prstGeom>
        </p:spPr>
      </p:pic>
      <p:sp>
        <p:nvSpPr>
          <p:cNvPr id="24" name="TextBox 23"/>
          <p:cNvSpPr txBox="1"/>
          <p:nvPr/>
        </p:nvSpPr>
        <p:spPr>
          <a:xfrm>
            <a:off x="1371600" y="3429000"/>
            <a:ext cx="5669280" cy="384048"/>
          </a:xfrm>
          <a:prstGeom prst="rect">
            <a:avLst/>
          </a:prstGeom>
          <a:noFill/>
        </p:spPr>
        <p:txBody>
          <a:bodyPr wrap="square" lIns="45720" tIns="27432" rIns="45720" bIns="27432" anchor="ctr">
            <a:noAutofit/>
          </a:bodyPr>
          <a:lstStyle/>
          <a:p>
            <a:pPr algn="l"/>
            <a:r>
              <a:rPr sz="2000" b="1" i="0">
                <a:solidFill>
                  <a:srgbClr val="820019"/>
                </a:solidFill>
                <a:latin typeface="Times New Roman"/>
                <a:cs typeface="Times New Roman"/>
              </a:rPr>
              <a:t>Conditions the logs cannot see</a:t>
            </a:r>
          </a:p>
        </p:txBody>
      </p:sp>
      <p:sp>
        <p:nvSpPr>
          <p:cNvPr id="25" name="TextBox 24"/>
          <p:cNvSpPr txBox="1"/>
          <p:nvPr/>
        </p:nvSpPr>
        <p:spPr>
          <a:xfrm>
            <a:off x="1371600" y="3840480"/>
            <a:ext cx="5669280" cy="8229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A rule can need a field the logs never record (e.g. source_ip is often dropped). It runs cleanly yet detects nothing.</a:t>
            </a:r>
          </a:p>
        </p:txBody>
      </p:sp>
      <p:sp>
        <p:nvSpPr>
          <p:cNvPr id="26" name="Rounded Rectangle 25"/>
          <p:cNvSpPr/>
          <p:nvPr/>
        </p:nvSpPr>
        <p:spPr>
          <a:xfrm>
            <a:off x="365760" y="4892040"/>
            <a:ext cx="6812280" cy="13716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48640" y="5257800"/>
            <a:ext cx="640080" cy="640080"/>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aBug_white.png"/>
          <p:cNvPicPr>
            <a:picLocks noChangeAspect="1"/>
          </p:cNvPicPr>
          <p:nvPr/>
        </p:nvPicPr>
        <p:blipFill>
          <a:blip r:embed="rId5"/>
          <a:stretch>
            <a:fillRect/>
          </a:stretch>
        </p:blipFill>
        <p:spPr>
          <a:xfrm>
            <a:off x="708659" y="5417820"/>
            <a:ext cx="320040" cy="320040"/>
          </a:xfrm>
          <a:prstGeom prst="rect">
            <a:avLst/>
          </a:prstGeom>
        </p:spPr>
      </p:pic>
      <p:sp>
        <p:nvSpPr>
          <p:cNvPr id="29" name="TextBox 28"/>
          <p:cNvSpPr txBox="1"/>
          <p:nvPr/>
        </p:nvSpPr>
        <p:spPr>
          <a:xfrm>
            <a:off x="1371600" y="4983479"/>
            <a:ext cx="5669280" cy="384048"/>
          </a:xfrm>
          <a:prstGeom prst="rect">
            <a:avLst/>
          </a:prstGeom>
          <a:noFill/>
        </p:spPr>
        <p:txBody>
          <a:bodyPr wrap="square" lIns="45720" tIns="27432" rIns="45720" bIns="27432" anchor="ctr">
            <a:noAutofit/>
          </a:bodyPr>
          <a:lstStyle/>
          <a:p>
            <a:pPr algn="l"/>
            <a:r>
              <a:rPr sz="2000" b="1" i="0">
                <a:solidFill>
                  <a:srgbClr val="820019"/>
                </a:solidFill>
                <a:latin typeface="Times New Roman"/>
                <a:cs typeface="Times New Roman"/>
              </a:rPr>
              <a:t>Plausible but wrong LLM rules</a:t>
            </a:r>
          </a:p>
        </p:txBody>
      </p:sp>
      <p:sp>
        <p:nvSpPr>
          <p:cNvPr id="30" name="TextBox 29"/>
          <p:cNvSpPr txBox="1"/>
          <p:nvPr/>
        </p:nvSpPr>
        <p:spPr>
          <a:xfrm>
            <a:off x="1371600" y="5394959"/>
            <a:ext cx="5669280" cy="8229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Direct LLM generation compiles, but hard-codes account names, uses wrong enum values or floods duplicate alerts.</a:t>
            </a:r>
          </a:p>
        </p:txBody>
      </p:sp>
      <p:sp>
        <p:nvSpPr>
          <p:cNvPr id="31" name="TextBox 30"/>
          <p:cNvSpPr txBox="1"/>
          <p:nvPr/>
        </p:nvSpPr>
        <p:spPr>
          <a:xfrm>
            <a:off x="7406640" y="1737360"/>
            <a:ext cx="4416552" cy="292608"/>
          </a:xfrm>
          <a:prstGeom prst="rect">
            <a:avLst/>
          </a:prstGeom>
          <a:noFill/>
        </p:spPr>
        <p:txBody>
          <a:bodyPr wrap="square" lIns="45720" tIns="27432" rIns="45720" bIns="27432" anchor="ctr">
            <a:noAutofit/>
          </a:bodyPr>
          <a:lstStyle/>
          <a:p>
            <a:pPr algn="l"/>
            <a:r>
              <a:rPr sz="1250" b="1" i="0">
                <a:solidFill>
                  <a:srgbClr val="595959"/>
                </a:solidFill>
                <a:latin typeface="Calibri"/>
                <a:cs typeface="Calibri"/>
              </a:rPr>
              <a:t>MEASURED ON HELD-OUT REPORTS</a:t>
            </a:r>
          </a:p>
        </p:txBody>
      </p:sp>
      <p:sp>
        <p:nvSpPr>
          <p:cNvPr id="32" name="Rounded Rectangle 31"/>
          <p:cNvSpPr/>
          <p:nvPr/>
        </p:nvSpPr>
        <p:spPr>
          <a:xfrm>
            <a:off x="7406640" y="2057400"/>
            <a:ext cx="4416552" cy="822960"/>
          </a:xfrm>
          <a:prstGeom prst="roundRect">
            <a:avLst>
              <a:gd name="adj" fmla="val 10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79" y="2057400"/>
            <a:ext cx="1600200" cy="822960"/>
          </a:xfrm>
          <a:prstGeom prst="rect">
            <a:avLst/>
          </a:prstGeom>
          <a:noFill/>
        </p:spPr>
        <p:txBody>
          <a:bodyPr wrap="square" lIns="45720" tIns="27432" rIns="45720" bIns="27432" anchor="ctr">
            <a:noAutofit/>
          </a:bodyPr>
          <a:lstStyle/>
          <a:p>
            <a:pPr algn="ctr"/>
            <a:r>
              <a:rPr sz="3400" b="1" i="0">
                <a:solidFill>
                  <a:srgbClr val="C62828"/>
                </a:solidFill>
                <a:latin typeface="Calibri"/>
                <a:cs typeface="Calibri"/>
              </a:rPr>
              <a:t>1/5</a:t>
            </a:r>
          </a:p>
        </p:txBody>
      </p:sp>
      <p:sp>
        <p:nvSpPr>
          <p:cNvPr id="34" name="TextBox 33"/>
          <p:cNvSpPr txBox="1"/>
          <p:nvPr/>
        </p:nvSpPr>
        <p:spPr>
          <a:xfrm>
            <a:off x="9098280" y="2057400"/>
            <a:ext cx="2651760" cy="822960"/>
          </a:xfrm>
          <a:prstGeom prst="rect">
            <a:avLst/>
          </a:prstGeom>
          <a:noFill/>
        </p:spPr>
        <p:txBody>
          <a:bodyPr wrap="square" lIns="45720" tIns="27432" rIns="45720" bIns="27432" anchor="ctr">
            <a:noAutofit/>
          </a:bodyPr>
          <a:lstStyle/>
          <a:p>
            <a:pPr algn="l"/>
            <a:r>
              <a:rPr sz="1450" b="0" i="0">
                <a:solidFill>
                  <a:srgbClr val="1F1F1F"/>
                </a:solidFill>
                <a:latin typeface="Calibri"/>
                <a:cs typeface="Calibri"/>
              </a:rPr>
              <a:t>direct-LLM rules fully correct</a:t>
            </a:r>
          </a:p>
        </p:txBody>
      </p:sp>
      <p:sp>
        <p:nvSpPr>
          <p:cNvPr id="35" name="Rounded Rectangle 34"/>
          <p:cNvSpPr/>
          <p:nvPr/>
        </p:nvSpPr>
        <p:spPr>
          <a:xfrm>
            <a:off x="7406640" y="2999232"/>
            <a:ext cx="4416552" cy="822960"/>
          </a:xfrm>
          <a:prstGeom prst="roundRect">
            <a:avLst>
              <a:gd name="adj" fmla="val 10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79" y="2999232"/>
            <a:ext cx="1600200" cy="822960"/>
          </a:xfrm>
          <a:prstGeom prst="rect">
            <a:avLst/>
          </a:prstGeom>
          <a:noFill/>
        </p:spPr>
        <p:txBody>
          <a:bodyPr wrap="square" lIns="45720" tIns="27432" rIns="45720" bIns="27432" anchor="ctr">
            <a:noAutofit/>
          </a:bodyPr>
          <a:lstStyle/>
          <a:p>
            <a:pPr algn="ctr"/>
            <a:r>
              <a:rPr sz="3400" b="1" i="0">
                <a:solidFill>
                  <a:srgbClr val="C62828"/>
                </a:solidFill>
                <a:latin typeface="Calibri"/>
                <a:cs typeface="Calibri"/>
              </a:rPr>
              <a:t>0/5</a:t>
            </a:r>
          </a:p>
        </p:txBody>
      </p:sp>
      <p:sp>
        <p:nvSpPr>
          <p:cNvPr id="37" name="TextBox 36"/>
          <p:cNvSpPr txBox="1"/>
          <p:nvPr/>
        </p:nvSpPr>
        <p:spPr>
          <a:xfrm>
            <a:off x="9098280" y="2999232"/>
            <a:ext cx="2651760" cy="822960"/>
          </a:xfrm>
          <a:prstGeom prst="rect">
            <a:avLst/>
          </a:prstGeom>
          <a:noFill/>
        </p:spPr>
        <p:txBody>
          <a:bodyPr wrap="square" lIns="45720" tIns="27432" rIns="45720" bIns="27432" anchor="ctr">
            <a:noAutofit/>
          </a:bodyPr>
          <a:lstStyle/>
          <a:p>
            <a:pPr algn="l"/>
            <a:r>
              <a:rPr sz="1450" b="0" i="0">
                <a:solidFill>
                  <a:srgbClr val="1F1F1F"/>
                </a:solidFill>
                <a:latin typeface="Calibri"/>
                <a:cs typeface="Calibri"/>
              </a:rPr>
              <a:t>schema-constrained rules correct on every scenario</a:t>
            </a:r>
          </a:p>
        </p:txBody>
      </p:sp>
      <p:sp>
        <p:nvSpPr>
          <p:cNvPr id="38" name="Rounded Rectangle 37"/>
          <p:cNvSpPr/>
          <p:nvPr/>
        </p:nvSpPr>
        <p:spPr>
          <a:xfrm>
            <a:off x="7406640" y="3941064"/>
            <a:ext cx="4416552" cy="822960"/>
          </a:xfrm>
          <a:prstGeom prst="roundRect">
            <a:avLst>
              <a:gd name="adj" fmla="val 10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98079" y="3941064"/>
            <a:ext cx="1600200" cy="822960"/>
          </a:xfrm>
          <a:prstGeom prst="rect">
            <a:avLst/>
          </a:prstGeom>
          <a:noFill/>
        </p:spPr>
        <p:txBody>
          <a:bodyPr wrap="square" lIns="45720" tIns="27432" rIns="45720" bIns="27432" anchor="ctr">
            <a:noAutofit/>
          </a:bodyPr>
          <a:lstStyle/>
          <a:p>
            <a:pPr algn="ctr"/>
            <a:r>
              <a:rPr sz="3400" b="1" i="0">
                <a:solidFill>
                  <a:srgbClr val="1E8E4E"/>
                </a:solidFill>
                <a:latin typeface="Calibri"/>
                <a:cs typeface="Calibri"/>
              </a:rPr>
              <a:t>17/17</a:t>
            </a:r>
          </a:p>
        </p:txBody>
      </p:sp>
      <p:sp>
        <p:nvSpPr>
          <p:cNvPr id="40" name="TextBox 39"/>
          <p:cNvSpPr txBox="1"/>
          <p:nvPr/>
        </p:nvSpPr>
        <p:spPr>
          <a:xfrm>
            <a:off x="9098280" y="3941064"/>
            <a:ext cx="2651760" cy="822960"/>
          </a:xfrm>
          <a:prstGeom prst="rect">
            <a:avLst/>
          </a:prstGeom>
          <a:noFill/>
        </p:spPr>
        <p:txBody>
          <a:bodyPr wrap="square" lIns="45720" tIns="27432" rIns="45720" bIns="27432" anchor="ctr">
            <a:noAutofit/>
          </a:bodyPr>
          <a:lstStyle/>
          <a:p>
            <a:pPr algn="l"/>
            <a:r>
              <a:rPr sz="1450" b="0" i="0">
                <a:solidFill>
                  <a:srgbClr val="1F1F1F"/>
                </a:solidFill>
                <a:latin typeface="Calibri"/>
                <a:cs typeface="Calibri"/>
              </a:rPr>
              <a:t>replay scenarios passed by SENTINEL Forge</a:t>
            </a:r>
          </a:p>
        </p:txBody>
      </p:sp>
      <p:sp>
        <p:nvSpPr>
          <p:cNvPr id="41" name="Rounded Rectangle 40"/>
          <p:cNvSpPr/>
          <p:nvPr/>
        </p:nvSpPr>
        <p:spPr>
          <a:xfrm>
            <a:off x="7406640" y="4956048"/>
            <a:ext cx="4416552" cy="1353312"/>
          </a:xfrm>
          <a:prstGeom prst="roundRect">
            <a:avLst>
              <a:gd name="adj" fmla="val 5000"/>
            </a:avLst>
          </a:prstGeom>
          <a:solidFill>
            <a:srgbClr val="FFF7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43800" y="4992624"/>
            <a:ext cx="4206240" cy="292608"/>
          </a:xfrm>
          <a:prstGeom prst="rect">
            <a:avLst/>
          </a:prstGeom>
          <a:noFill/>
        </p:spPr>
        <p:txBody>
          <a:bodyPr wrap="square" lIns="45720" tIns="27432" rIns="45720" bIns="27432" anchor="ctr">
            <a:noAutofit/>
          </a:bodyPr>
          <a:lstStyle/>
          <a:p>
            <a:pPr algn="l"/>
            <a:r>
              <a:rPr sz="1250" b="1" i="0">
                <a:solidFill>
                  <a:srgbClr val="8A6A00"/>
                </a:solidFill>
                <a:latin typeface="Calibri"/>
                <a:cs typeface="Calibri"/>
              </a:rPr>
              <a:t>WHY IT MATTERS  ·  REAL-WORLD USE</a:t>
            </a:r>
          </a:p>
        </p:txBody>
      </p:sp>
      <p:sp>
        <p:nvSpPr>
          <p:cNvPr id="43" name="TextBox 42"/>
          <p:cNvSpPr txBox="1"/>
          <p:nvPr/>
        </p:nvSpPr>
        <p:spPr>
          <a:xfrm>
            <a:off x="7543800" y="5303520"/>
            <a:ext cx="4206240" cy="987552"/>
          </a:xfrm>
          <a:prstGeom prst="rect">
            <a:avLst/>
          </a:prstGeom>
          <a:noFill/>
        </p:spPr>
        <p:txBody>
          <a:bodyPr wrap="square" lIns="45720" tIns="27432" rIns="45720" bIns="27432" anchor="t">
            <a:noAutofit/>
          </a:bodyPr>
          <a:lstStyle/>
          <a:p>
            <a:pPr algn="l" marL="182880" indent="-182880">
              <a:spcAft>
                <a:spcPts val="100"/>
              </a:spcAft>
              <a:buClr>
                <a:srgbClr val="820019"/>
              </a:buClr>
              <a:buFont typeface="Arial"/>
              <a:buChar char="•"/>
            </a:pPr>
            <a:r>
              <a:rPr sz="1400" b="0" i="0">
                <a:solidFill>
                  <a:srgbClr val="1F1F1F"/>
                </a:solidFill>
                <a:latin typeface="Calibri"/>
                <a:cs typeface="Calibri"/>
              </a:rPr>
              <a:t>SOC detection engineering and threat hunting</a:t>
            </a:r>
          </a:p>
          <a:p>
            <a:pPr algn="l" marL="182880" indent="-182880">
              <a:spcAft>
                <a:spcPts val="100"/>
              </a:spcAft>
              <a:buClr>
                <a:srgbClr val="820019"/>
              </a:buClr>
              <a:buFont typeface="Arial"/>
              <a:buChar char="•"/>
            </a:pPr>
            <a:r>
              <a:rPr sz="1400" b="0" i="0">
                <a:solidFill>
                  <a:srgbClr val="1F1F1F"/>
                </a:solidFill>
                <a:latin typeface="Calibri"/>
                <a:cs typeface="Calibri"/>
              </a:rPr>
              <a:t>Portable rules for any SIEM (Sigma export)</a:t>
            </a:r>
          </a:p>
          <a:p>
            <a:pPr algn="l" marL="182880" indent="-182880">
              <a:spcAft>
                <a:spcPts val="100"/>
              </a:spcAft>
              <a:buClr>
                <a:srgbClr val="820019"/>
              </a:buClr>
              <a:buFont typeface="Arial"/>
              <a:buChar char="•"/>
            </a:pPr>
            <a:r>
              <a:rPr sz="1400" b="0" i="0">
                <a:solidFill>
                  <a:srgbClr val="1F1F1F"/>
                </a:solidFill>
                <a:latin typeface="Calibri"/>
                <a:cs typeface="Calibri"/>
              </a:rPr>
              <a:t>Audit-ready evidence for every condition</a:t>
            </a:r>
          </a:p>
        </p:txBody>
      </p:sp>
    </p:spTree>
    <p:extLst>
      <p:ext uri="{BB962C8B-B14F-4D97-AF65-F5344CB8AC3E}">
        <p14:creationId xmlns:p14="http://schemas.microsoft.com/office/powerpoint/2010/main" val="44861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6FAF6A-4925-4D1E-8078-ECEA64474517}" type="slidenum">
              <a:rPr lang="en-IN" smtClean="0"/>
              <a:t>4</a:t>
            </a:fld>
            <a:endParaRPr lang="en-IN"/>
          </a:p>
        </p:txBody>
      </p:sp>
      <p:sp>
        <p:nvSpPr>
          <p:cNvPr id="8" name="TextBox 7">
            <a:extLst>
              <a:ext uri="{FF2B5EF4-FFF2-40B4-BE49-F238E27FC236}">
                <a16:creationId xmlns:a16="http://schemas.microsoft.com/office/drawing/2014/main" id="{CDEB24E1-EFE8-4D6C-A0BF-6C337B6CDBE1}"/>
              </a:ext>
            </a:extLst>
          </p:cNvPr>
          <p:cNvSpPr txBox="1"/>
          <p:nvPr/>
        </p:nvSpPr>
        <p:spPr>
          <a:xfrm>
            <a:off x="1180444" y="420286"/>
            <a:ext cx="10607040" cy="1077218"/>
          </a:xfrm>
          <a:prstGeom prst="rect">
            <a:avLst/>
          </a:prstGeom>
          <a:noFill/>
        </p:spPr>
        <p:txBody>
          <a:bodyPr wrap="square">
            <a:spAutoFit/>
          </a:bodyPr>
          <a:lstStyle/>
          <a:p>
            <a:pPr>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a:rPr>
              <a:t>Literature Review (Previous Work)</a:t>
            </a:r>
            <a:r>
              <a:rPr lang="en-IN" sz="3200" dirty="0">
                <a:latin typeface="Times New Roman" panose="02020603050405020304" pitchFamily="18" charset="0"/>
                <a:cs typeface="Times New Roman" panose="02020603050405020304" pitchFamily="18" charset="0"/>
              </a:rP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172D857B-6114-487D-901F-3BE3414CF24C}"/>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24BCFDA0-1B03-47DF-AE91-84DA533C967E}"/>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FF5372F-8F94-452E-A69C-686724A91017}"/>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FB314557-CE86-4F11-8AB0-0FF019C94743}"/>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669453CB-B78C-4457-AD4D-A05E8BA74E18}"/>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Prior work extracts or represents threats. </a:t>
            </a:r>
            <a:r>
              <a:rPr sz="2400" b="1" i="0">
                <a:solidFill>
                  <a:srgbClr val="820019"/>
                </a:solidFill>
                <a:latin typeface="Calibri"/>
                <a:cs typeface="Calibri"/>
              </a:rPr>
              <a:t>None closes the loop to a tested rule.</a:t>
            </a:r>
          </a:p>
        </p:txBody>
      </p:sp>
      <p:graphicFrame>
        <p:nvGraphicFramePr>
          <p:cNvPr id="16" name="Table 15"/>
          <p:cNvGraphicFramePr>
            <a:graphicFrameLocks noGrp="1"/>
          </p:cNvGraphicFramePr>
          <p:nvPr/>
        </p:nvGraphicFramePr>
        <p:xfrm>
          <a:off x="365760" y="1783080"/>
          <a:ext cx="11457432" cy="3840480"/>
        </p:xfrm>
        <a:graphic>
          <a:graphicData uri="http://schemas.openxmlformats.org/drawingml/2006/table">
            <a:tbl>
              <a:tblPr firstRow="1" bandRow="1">
                <a:tableStyleId>{2D5ABB26-0587-4C30-8999-92F81FD0307C}</a:tableStyleId>
              </a:tblPr>
              <a:tblGrid>
                <a:gridCol w="2514600"/>
                <a:gridCol w="4572000"/>
                <a:gridCol w="4370832"/>
              </a:tblGrid>
              <a:tr h="384048">
                <a:tc>
                  <a:txBody>
                    <a:bodyPr wrap="square"/>
                    <a:lstStyle/>
                    <a:p>
                      <a:pPr algn="l"/>
                      <a:r>
                        <a:rPr sz="1500" b="1" i="0">
                          <a:solidFill>
                            <a:srgbClr val="FFFFFF"/>
                          </a:solidFill>
                          <a:latin typeface="Times New Roman"/>
                          <a:cs typeface="Times New Roman"/>
                        </a:rPr>
                        <a:t>Paper / System</a:t>
                      </a:r>
                    </a:p>
                  </a:txBody>
                  <a:tcPr anchor="ctr" marL="109728" marR="109728" marT="36576" marB="36576">
                    <a:lnB w="9525">
                      <a:solidFill>
                        <a:srgbClr val="820019"/>
                      </a:solidFill>
                    </a:lnB>
                    <a:solidFill>
                      <a:srgbClr val="820019"/>
                    </a:solidFill>
                  </a:tcPr>
                </a:tc>
                <a:tc>
                  <a:txBody>
                    <a:bodyPr wrap="square"/>
                    <a:lstStyle/>
                    <a:p>
                      <a:pPr algn="l"/>
                      <a:r>
                        <a:rPr sz="1500" b="1" i="0">
                          <a:solidFill>
                            <a:srgbClr val="FFFFFF"/>
                          </a:solidFill>
                          <a:latin typeface="Times New Roman"/>
                          <a:cs typeface="Times New Roman"/>
                        </a:rPr>
                        <a:t>Method</a:t>
                      </a:r>
                    </a:p>
                  </a:txBody>
                  <a:tcPr anchor="ctr" marL="109728" marR="109728" marT="36576" marB="36576">
                    <a:lnB w="9525">
                      <a:solidFill>
                        <a:srgbClr val="820019"/>
                      </a:solidFill>
                    </a:lnB>
                    <a:solidFill>
                      <a:srgbClr val="820019"/>
                    </a:solidFill>
                  </a:tcPr>
                </a:tc>
                <a:tc>
                  <a:txBody>
                    <a:bodyPr wrap="square"/>
                    <a:lstStyle/>
                    <a:p>
                      <a:pPr algn="l"/>
                      <a:r>
                        <a:rPr sz="1500" b="1" i="0">
                          <a:solidFill>
                            <a:srgbClr val="FFFFFF"/>
                          </a:solidFill>
                          <a:latin typeface="Times New Roman"/>
                          <a:cs typeface="Times New Roman"/>
                        </a:rPr>
                        <a:t>Limitation</a:t>
                      </a:r>
                    </a:p>
                  </a:txBody>
                  <a:tcPr anchor="ctr" marL="109728" marR="109728" marT="36576" marB="36576">
                    <a:lnB w="9525">
                      <a:solidFill>
                        <a:srgbClr val="820019"/>
                      </a:solidFill>
                    </a:lnB>
                    <a:solidFill>
                      <a:srgbClr val="820019"/>
                    </a:solidFill>
                  </a:tcPr>
                </a:tc>
              </a:tr>
              <a:tr h="576072">
                <a:tc>
                  <a:txBody>
                    <a:bodyPr wrap="square"/>
                    <a:lstStyle/>
                    <a:p>
                      <a:pPr algn="l"/>
                      <a:r>
                        <a:rPr sz="1400" b="1" i="0">
                          <a:solidFill>
                            <a:srgbClr val="820019"/>
                          </a:solidFill>
                          <a:latin typeface="Times New Roman"/>
                          <a:cs typeface="Times New Roman"/>
                        </a:rPr>
                        <a:t>TTPDrill [1]</a:t>
                      </a:r>
                    </a:p>
                    <a:p>
                      <a:pPr algn="l"/>
                      <a:r>
                        <a:rPr sz="1150" b="0" i="0">
                          <a:solidFill>
                            <a:srgbClr val="595959"/>
                          </a:solidFill>
                          <a:latin typeface="Calibri"/>
                          <a:cs typeface="Calibri"/>
                        </a:rPr>
                        <a:t>ACSAC 2017</a:t>
                      </a:r>
                    </a:p>
                  </a:txBody>
                  <a:tcPr anchor="ctr" marL="109728" marR="109728" marT="36576" marB="36576">
                    <a:lnB w="9525">
                      <a:solidFill>
                        <a:srgbClr val="D9DCE3"/>
                      </a:solidFill>
                    </a:lnB>
                    <a:solidFill>
                      <a:srgbClr val="FFFFFF"/>
                    </a:solidFill>
                  </a:tcPr>
                </a:tc>
                <a:tc>
                  <a:txBody>
                    <a:bodyPr wrap="square"/>
                    <a:lstStyle/>
                    <a:p>
                      <a:pPr algn="l"/>
                      <a:r>
                        <a:rPr sz="1250" b="0" i="0">
                          <a:solidFill>
                            <a:srgbClr val="1F1F1F"/>
                          </a:solidFill>
                          <a:latin typeface="Calibri"/>
                          <a:cs typeface="Calibri"/>
                        </a:rPr>
                        <a:t>NLP (POS tagging) + TF-IDF/BM25 to map report sentences to ATT&amp;CK-style threat actions.</a:t>
                      </a:r>
                    </a:p>
                  </a:txBody>
                  <a:tcPr anchor="ctr" marL="109728" marR="109728" marT="36576" marB="36576">
                    <a:lnB w="9525">
                      <a:solidFill>
                        <a:srgbClr val="D9DCE3"/>
                      </a:solidFill>
                    </a:lnB>
                    <a:solidFill>
                      <a:srgbClr val="FFFFFF"/>
                    </a:solidFill>
                  </a:tcPr>
                </a:tc>
                <a:tc>
                  <a:txBody>
                    <a:bodyPr wrap="square"/>
                    <a:lstStyle/>
                    <a:p>
                      <a:pPr algn="l"/>
                      <a:r>
                        <a:rPr sz="1250" b="0" i="0">
                          <a:solidFill>
                            <a:srgbClr val="1F1F1F"/>
                          </a:solidFill>
                          <a:latin typeface="Calibri"/>
                          <a:cs typeface="Calibri"/>
                        </a:rPr>
                        <a:t>Outputs technique labels only; no log-field check and no executable rule.</a:t>
                      </a:r>
                    </a:p>
                  </a:txBody>
                  <a:tcPr anchor="ctr" marL="109728" marR="109728" marT="36576" marB="36576">
                    <a:lnB w="9525">
                      <a:solidFill>
                        <a:srgbClr val="D9DCE3"/>
                      </a:solidFill>
                    </a:lnB>
                    <a:solidFill>
                      <a:srgbClr val="FFFFFF"/>
                    </a:solidFill>
                  </a:tcPr>
                </a:tc>
              </a:tr>
              <a:tr h="576072">
                <a:tc>
                  <a:txBody>
                    <a:bodyPr wrap="square"/>
                    <a:lstStyle/>
                    <a:p>
                      <a:pPr algn="l"/>
                      <a:r>
                        <a:rPr sz="1400" b="1" i="0">
                          <a:solidFill>
                            <a:srgbClr val="820019"/>
                          </a:solidFill>
                          <a:latin typeface="Times New Roman"/>
                          <a:cs typeface="Times New Roman"/>
                        </a:rPr>
                        <a:t>EXTRACTOR [2]</a:t>
                      </a:r>
                    </a:p>
                    <a:p>
                      <a:pPr algn="l"/>
                      <a:r>
                        <a:rPr sz="1150" b="0" i="0">
                          <a:solidFill>
                            <a:srgbClr val="595959"/>
                          </a:solidFill>
                          <a:latin typeface="Calibri"/>
                          <a:cs typeface="Calibri"/>
                        </a:rPr>
                        <a:t>EuroS&amp;P 2021</a:t>
                      </a:r>
                    </a:p>
                  </a:txBody>
                  <a:tcPr anchor="ctr" marL="109728" marR="109728" marT="36576" marB="36576">
                    <a:lnB w="9525">
                      <a:solidFill>
                        <a:srgbClr val="D9DCE3"/>
                      </a:solidFill>
                    </a:lnB>
                    <a:solidFill>
                      <a:srgbClr val="F7F8FB"/>
                    </a:solidFill>
                  </a:tcPr>
                </a:tc>
                <a:tc>
                  <a:txBody>
                    <a:bodyPr wrap="square"/>
                    <a:lstStyle/>
                    <a:p>
                      <a:pPr algn="l"/>
                      <a:r>
                        <a:rPr sz="1250" b="0" i="0">
                          <a:solidFill>
                            <a:srgbClr val="1F1F1F"/>
                          </a:solidFill>
                          <a:latin typeface="Calibri"/>
                          <a:cs typeface="Calibri"/>
                        </a:rPr>
                        <a:t>Extracts concise attack behaviour as provenance graphs from unstructured CTI text.</a:t>
                      </a:r>
                    </a:p>
                  </a:txBody>
                  <a:tcPr anchor="ctr" marL="109728" marR="109728" marT="36576" marB="36576">
                    <a:lnB w="9525">
                      <a:solidFill>
                        <a:srgbClr val="D9DCE3"/>
                      </a:solidFill>
                    </a:lnB>
                    <a:solidFill>
                      <a:srgbClr val="F7F8FB"/>
                    </a:solidFill>
                  </a:tcPr>
                </a:tc>
                <a:tc>
                  <a:txBody>
                    <a:bodyPr wrap="square"/>
                    <a:lstStyle/>
                    <a:p>
                      <a:pPr algn="l"/>
                      <a:r>
                        <a:rPr sz="1250" b="0" i="0">
                          <a:solidFill>
                            <a:srgbClr val="1F1F1F"/>
                          </a:solidFill>
                          <a:latin typeface="Calibri"/>
                          <a:cs typeface="Calibri"/>
                        </a:rPr>
                        <a:t>Graphs support threat hunting; thresholds and windows never become tested rules.</a:t>
                      </a:r>
                    </a:p>
                  </a:txBody>
                  <a:tcPr anchor="ctr" marL="109728" marR="109728" marT="36576" marB="36576">
                    <a:lnB w="9525">
                      <a:solidFill>
                        <a:srgbClr val="D9DCE3"/>
                      </a:solidFill>
                    </a:lnB>
                    <a:solidFill>
                      <a:srgbClr val="F7F8FB"/>
                    </a:solidFill>
                  </a:tcPr>
                </a:tc>
              </a:tr>
              <a:tr h="576072">
                <a:tc>
                  <a:txBody>
                    <a:bodyPr wrap="square"/>
                    <a:lstStyle/>
                    <a:p>
                      <a:pPr algn="l"/>
                      <a:r>
                        <a:rPr sz="1400" b="1" i="0">
                          <a:solidFill>
                            <a:srgbClr val="820019"/>
                          </a:solidFill>
                          <a:latin typeface="Times New Roman"/>
                          <a:cs typeface="Times New Roman"/>
                        </a:rPr>
                        <a:t>AttacKG [3]</a:t>
                      </a:r>
                    </a:p>
                    <a:p>
                      <a:pPr algn="l"/>
                      <a:r>
                        <a:rPr sz="1150" b="0" i="0">
                          <a:solidFill>
                            <a:srgbClr val="595959"/>
                          </a:solidFill>
                          <a:latin typeface="Calibri"/>
                          <a:cs typeface="Calibri"/>
                        </a:rPr>
                        <a:t>ESORICS 2022</a:t>
                      </a:r>
                    </a:p>
                  </a:txBody>
                  <a:tcPr anchor="ctr" marL="109728" marR="109728" marT="36576" marB="36576">
                    <a:lnB w="9525">
                      <a:solidFill>
                        <a:srgbClr val="D9DCE3"/>
                      </a:solidFill>
                    </a:lnB>
                    <a:solidFill>
                      <a:srgbClr val="FFFFFF"/>
                    </a:solidFill>
                  </a:tcPr>
                </a:tc>
                <a:tc>
                  <a:txBody>
                    <a:bodyPr wrap="square"/>
                    <a:lstStyle/>
                    <a:p>
                      <a:pPr algn="l"/>
                      <a:r>
                        <a:rPr sz="1250" b="0" i="0">
                          <a:solidFill>
                            <a:srgbClr val="1F1F1F"/>
                          </a:solidFill>
                          <a:latin typeface="Calibri"/>
                          <a:cs typeface="Calibri"/>
                        </a:rPr>
                        <a:t>Technique knowledge graphs; identifies entities, dependencies and techniques (F1 0.887 / 0.896 / 0.789).</a:t>
                      </a:r>
                    </a:p>
                  </a:txBody>
                  <a:tcPr anchor="ctr" marL="109728" marR="109728" marT="36576" marB="36576">
                    <a:lnB w="9525">
                      <a:solidFill>
                        <a:srgbClr val="D9DCE3"/>
                      </a:solidFill>
                    </a:lnB>
                    <a:solidFill>
                      <a:srgbClr val="FFFFFF"/>
                    </a:solidFill>
                  </a:tcPr>
                </a:tc>
                <a:tc>
                  <a:txBody>
                    <a:bodyPr wrap="square"/>
                    <a:lstStyle/>
                    <a:p>
                      <a:pPr algn="l"/>
                      <a:r>
                        <a:rPr sz="1250" b="0" i="0">
                          <a:solidFill>
                            <a:srgbClr val="1F1F1F"/>
                          </a:solidFill>
                          <a:latin typeface="Calibri"/>
                          <a:cs typeface="Calibri"/>
                        </a:rPr>
                        <a:t>Knowledge representation, not detection generation; no telemetry awareness.</a:t>
                      </a:r>
                    </a:p>
                  </a:txBody>
                  <a:tcPr anchor="ctr" marL="109728" marR="109728" marT="36576" marB="36576">
                    <a:lnB w="9525">
                      <a:solidFill>
                        <a:srgbClr val="D9DCE3"/>
                      </a:solidFill>
                    </a:lnB>
                    <a:solidFill>
                      <a:srgbClr val="FFFFFF"/>
                    </a:solidFill>
                  </a:tcPr>
                </a:tc>
              </a:tr>
              <a:tr h="576072">
                <a:tc>
                  <a:txBody>
                    <a:bodyPr wrap="square"/>
                    <a:lstStyle/>
                    <a:p>
                      <a:pPr algn="l"/>
                      <a:r>
                        <a:rPr sz="1400" b="1" i="0">
                          <a:solidFill>
                            <a:srgbClr val="820019"/>
                          </a:solidFill>
                          <a:latin typeface="Times New Roman"/>
                          <a:cs typeface="Times New Roman"/>
                        </a:rPr>
                        <a:t>SecureBERT [4]</a:t>
                      </a:r>
                    </a:p>
                    <a:p>
                      <a:pPr algn="l"/>
                      <a:r>
                        <a:rPr sz="1150" b="0" i="0">
                          <a:solidFill>
                            <a:srgbClr val="595959"/>
                          </a:solidFill>
                          <a:latin typeface="Calibri"/>
                          <a:cs typeface="Calibri"/>
                        </a:rPr>
                        <a:t>SecureComm 2022</a:t>
                      </a:r>
                    </a:p>
                  </a:txBody>
                  <a:tcPr anchor="ctr" marL="109728" marR="109728" marT="36576" marB="36576">
                    <a:lnB w="9525">
                      <a:solidFill>
                        <a:srgbClr val="D9DCE3"/>
                      </a:solidFill>
                    </a:lnB>
                    <a:solidFill>
                      <a:srgbClr val="F7F8FB"/>
                    </a:solidFill>
                  </a:tcPr>
                </a:tc>
                <a:tc>
                  <a:txBody>
                    <a:bodyPr wrap="square"/>
                    <a:lstStyle/>
                    <a:p>
                      <a:pPr algn="l"/>
                      <a:r>
                        <a:rPr sz="1250" b="0" i="0">
                          <a:solidFill>
                            <a:srgbClr val="1F1F1F"/>
                          </a:solidFill>
                          <a:latin typeface="Calibri"/>
                          <a:cs typeface="Calibri"/>
                        </a:rPr>
                        <a:t>Domain-adapted BERT language model for cybersecurity text.</a:t>
                      </a:r>
                    </a:p>
                  </a:txBody>
                  <a:tcPr anchor="ctr" marL="109728" marR="109728" marT="36576" marB="36576">
                    <a:lnB w="9525">
                      <a:solidFill>
                        <a:srgbClr val="D9DCE3"/>
                      </a:solidFill>
                    </a:lnB>
                    <a:solidFill>
                      <a:srgbClr val="F7F8FB"/>
                    </a:solidFill>
                  </a:tcPr>
                </a:tc>
                <a:tc>
                  <a:txBody>
                    <a:bodyPr wrap="square"/>
                    <a:lstStyle/>
                    <a:p>
                      <a:pPr algn="l"/>
                      <a:r>
                        <a:rPr sz="1250" b="0" i="0">
                          <a:solidFill>
                            <a:srgbClr val="1F1F1F"/>
                          </a:solidFill>
                          <a:latin typeface="Calibri"/>
                          <a:cs typeface="Calibri"/>
                        </a:rPr>
                        <a:t>A representation model: needs task heads and offers no rule synthesis or validation.</a:t>
                      </a:r>
                    </a:p>
                  </a:txBody>
                  <a:tcPr anchor="ctr" marL="109728" marR="109728" marT="36576" marB="36576">
                    <a:lnB w="9525">
                      <a:solidFill>
                        <a:srgbClr val="D9DCE3"/>
                      </a:solidFill>
                    </a:lnB>
                    <a:solidFill>
                      <a:srgbClr val="F7F8FB"/>
                    </a:solidFill>
                  </a:tcPr>
                </a:tc>
              </a:tr>
              <a:tr h="576072">
                <a:tc>
                  <a:txBody>
                    <a:bodyPr wrap="square"/>
                    <a:lstStyle/>
                    <a:p>
                      <a:pPr algn="l"/>
                      <a:r>
                        <a:rPr sz="1400" b="1" i="0">
                          <a:solidFill>
                            <a:srgbClr val="820019"/>
                          </a:solidFill>
                          <a:latin typeface="Times New Roman"/>
                          <a:cs typeface="Times New Roman"/>
                        </a:rPr>
                        <a:t>Sigma + ATT&amp;CK [5], [6]</a:t>
                      </a:r>
                    </a:p>
                  </a:txBody>
                  <a:tcPr anchor="ctr" marL="109728" marR="109728" marT="36576" marB="36576">
                    <a:lnB w="9525">
                      <a:solidFill>
                        <a:srgbClr val="D9DCE3"/>
                      </a:solidFill>
                    </a:lnB>
                    <a:solidFill>
                      <a:srgbClr val="FFFFFF"/>
                    </a:solidFill>
                  </a:tcPr>
                </a:tc>
                <a:tc>
                  <a:txBody>
                    <a:bodyPr wrap="square"/>
                    <a:lstStyle/>
                    <a:p>
                      <a:pPr algn="l"/>
                      <a:r>
                        <a:rPr sz="1250" b="0" i="0">
                          <a:solidFill>
                            <a:srgbClr val="1F1F1F"/>
                          </a:solidFill>
                          <a:latin typeface="Calibri"/>
                          <a:cs typeface="Calibri"/>
                        </a:rPr>
                        <a:t>Vendor-neutral rule format and a knowledge base of adversary techniques.</a:t>
                      </a:r>
                    </a:p>
                  </a:txBody>
                  <a:tcPr anchor="ctr" marL="109728" marR="109728" marT="36576" marB="36576">
                    <a:lnB w="9525">
                      <a:solidFill>
                        <a:srgbClr val="D9DCE3"/>
                      </a:solidFill>
                    </a:lnB>
                    <a:solidFill>
                      <a:srgbClr val="FFFFFF"/>
                    </a:solidFill>
                  </a:tcPr>
                </a:tc>
                <a:tc>
                  <a:txBody>
                    <a:bodyPr wrap="square"/>
                    <a:lstStyle/>
                    <a:p>
                      <a:pPr algn="l"/>
                      <a:r>
                        <a:rPr sz="1250" b="0" i="0">
                          <a:solidFill>
                            <a:srgbClr val="1F1F1F"/>
                          </a:solidFill>
                          <a:latin typeface="Calibri"/>
                          <a:cs typeface="Calibri"/>
                        </a:rPr>
                        <a:t>Rules are still hand-authored; no link back to source text or observability checks.</a:t>
                      </a:r>
                    </a:p>
                  </a:txBody>
                  <a:tcPr anchor="ctr" marL="109728" marR="109728" marT="36576" marB="36576">
                    <a:lnB w="9525">
                      <a:solidFill>
                        <a:srgbClr val="D9DCE3"/>
                      </a:solidFill>
                    </a:lnB>
                    <a:solidFill>
                      <a:srgbClr val="FFFFFF"/>
                    </a:solidFill>
                  </a:tcPr>
                </a:tc>
              </a:tr>
              <a:tr h="576072">
                <a:tc>
                  <a:txBody>
                    <a:bodyPr wrap="square"/>
                    <a:lstStyle/>
                    <a:p>
                      <a:pPr algn="l"/>
                      <a:r>
                        <a:rPr sz="1400" b="1" i="0">
                          <a:solidFill>
                            <a:srgbClr val="820019"/>
                          </a:solidFill>
                          <a:latin typeface="Times New Roman"/>
                          <a:cs typeface="Times New Roman"/>
                        </a:rPr>
                        <a:t>Direct LLM rules [7], [8]</a:t>
                      </a:r>
                    </a:p>
                    <a:p>
                      <a:pPr algn="l"/>
                      <a:r>
                        <a:rPr sz="1150" b="0" i="0">
                          <a:solidFill>
                            <a:srgbClr val="595959"/>
                          </a:solidFill>
                          <a:latin typeface="Calibri"/>
                          <a:cs typeface="Calibri"/>
                        </a:rPr>
                        <a:t>(baseline in this work)</a:t>
                      </a:r>
                    </a:p>
                  </a:txBody>
                  <a:tcPr anchor="ctr" marL="109728" marR="109728" marT="36576" marB="36576">
                    <a:lnB w="9525">
                      <a:solidFill>
                        <a:srgbClr val="D9DCE3"/>
                      </a:solidFill>
                    </a:lnB>
                    <a:solidFill>
                      <a:srgbClr val="F7F8FB"/>
                    </a:solidFill>
                  </a:tcPr>
                </a:tc>
                <a:tc>
                  <a:txBody>
                    <a:bodyPr wrap="square"/>
                    <a:lstStyle/>
                    <a:p>
                      <a:pPr algn="l"/>
                      <a:r>
                        <a:rPr sz="1250" b="0" i="0">
                          <a:solidFill>
                            <a:srgbClr val="1F1F1F"/>
                          </a:solidFill>
                          <a:latin typeface="Calibri"/>
                          <a:cs typeface="Calibri"/>
                        </a:rPr>
                        <a:t>Prompt an LLM to write detection code straight from the report.</a:t>
                      </a:r>
                    </a:p>
                  </a:txBody>
                  <a:tcPr anchor="ctr" marL="109728" marR="109728" marT="36576" marB="36576">
                    <a:lnB w="9525">
                      <a:solidFill>
                        <a:srgbClr val="D9DCE3"/>
                      </a:solidFill>
                    </a:lnB>
                    <a:solidFill>
                      <a:srgbClr val="F7F8FB"/>
                    </a:solidFill>
                  </a:tcPr>
                </a:tc>
                <a:tc>
                  <a:txBody>
                    <a:bodyPr wrap="square"/>
                    <a:lstStyle/>
                    <a:p>
                      <a:pPr algn="l"/>
                      <a:r>
                        <a:rPr sz="1250" b="0" i="0">
                          <a:solidFill>
                            <a:srgbClr val="1F1F1F"/>
                          </a:solidFill>
                          <a:latin typeface="Calibri"/>
                          <a:cs typeface="Calibri"/>
                        </a:rPr>
                        <a:t>Compiles but hard-codes values and enum literals; hallucination and injection risks.</a:t>
                      </a:r>
                    </a:p>
                  </a:txBody>
                  <a:tcPr anchor="ctr" marL="109728" marR="109728" marT="36576" marB="36576">
                    <a:lnB w="9525">
                      <a:solidFill>
                        <a:srgbClr val="D9DCE3"/>
                      </a:solidFill>
                    </a:lnB>
                    <a:solidFill>
                      <a:srgbClr val="F7F8FB"/>
                    </a:solidFill>
                  </a:tcPr>
                </a:tc>
              </a:tr>
            </a:tbl>
          </a:graphicData>
        </a:graphic>
      </p:graphicFrame>
      <p:sp>
        <p:nvSpPr>
          <p:cNvPr id="17" name="Rounded Rectangle 16"/>
          <p:cNvSpPr/>
          <p:nvPr/>
        </p:nvSpPr>
        <p:spPr>
          <a:xfrm>
            <a:off x="365760" y="5779008"/>
            <a:ext cx="11457432" cy="530352"/>
          </a:xfrm>
          <a:prstGeom prst="roundRect">
            <a:avLst>
              <a:gd name="adj" fmla="val 15000"/>
            </a:avLst>
          </a:prstGeom>
          <a:solidFill>
            <a:srgbClr val="FFF7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Lightbulb_gold.png"/>
          <p:cNvPicPr>
            <a:picLocks noChangeAspect="1"/>
          </p:cNvPicPr>
          <p:nvPr/>
        </p:nvPicPr>
        <p:blipFill>
          <a:blip r:embed="rId3"/>
          <a:stretch>
            <a:fillRect/>
          </a:stretch>
        </p:blipFill>
        <p:spPr>
          <a:xfrm>
            <a:off x="530352" y="5888736"/>
            <a:ext cx="310896" cy="310896"/>
          </a:xfrm>
          <a:prstGeom prst="rect">
            <a:avLst/>
          </a:prstGeom>
        </p:spPr>
      </p:pic>
      <p:sp>
        <p:nvSpPr>
          <p:cNvPr id="19" name="TextBox 18"/>
          <p:cNvSpPr txBox="1"/>
          <p:nvPr/>
        </p:nvSpPr>
        <p:spPr>
          <a:xfrm>
            <a:off x="960120" y="5779008"/>
            <a:ext cx="10789920" cy="530352"/>
          </a:xfrm>
          <a:prstGeom prst="rect">
            <a:avLst/>
          </a:prstGeom>
          <a:noFill/>
        </p:spPr>
        <p:txBody>
          <a:bodyPr wrap="square" lIns="45720" tIns="27432" rIns="45720" bIns="27432" anchor="ctr">
            <a:noAutofit/>
          </a:bodyPr>
          <a:lstStyle/>
          <a:p>
            <a:pPr algn="l"/>
            <a:r>
              <a:rPr sz="1500" b="1" i="0">
                <a:solidFill>
                  <a:srgbClr val="8A6A00"/>
                </a:solidFill>
                <a:latin typeface="Calibri"/>
                <a:cs typeface="Calibri"/>
              </a:rPr>
              <a:t>Research gap:  </a:t>
            </a:r>
            <a:r>
              <a:rPr sz="1500" b="0" i="0">
                <a:solidFill>
                  <a:srgbClr val="1F1F1F"/>
                </a:solidFill>
                <a:latin typeface="Calibri"/>
                <a:cs typeface="Calibri"/>
              </a:rPr>
              <a:t>no prior system verifies that the logs can observe a behaviour before compiling it into a tested, evidence-linked rule.</a:t>
            </a:r>
          </a:p>
        </p:txBody>
      </p:sp>
    </p:spTree>
    <p:extLst>
      <p:ext uri="{BB962C8B-B14F-4D97-AF65-F5344CB8AC3E}">
        <p14:creationId xmlns:p14="http://schemas.microsoft.com/office/powerpoint/2010/main" val="79963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6FAF6A-4925-4D1E-8078-ECEA64474517}" type="slidenum">
              <a:rPr lang="en-IN" smtClean="0"/>
              <a:t>5</a:t>
            </a:fld>
            <a:endParaRPr lang="en-IN"/>
          </a:p>
        </p:txBody>
      </p:sp>
      <p:sp>
        <p:nvSpPr>
          <p:cNvPr id="8" name="TextBox 7">
            <a:extLst>
              <a:ext uri="{FF2B5EF4-FFF2-40B4-BE49-F238E27FC236}">
                <a16:creationId xmlns:a16="http://schemas.microsoft.com/office/drawing/2014/main" id="{CDEB24E1-EFE8-4D6C-A0BF-6C337B6CDBE1}"/>
              </a:ext>
            </a:extLst>
          </p:cNvPr>
          <p:cNvSpPr txBox="1"/>
          <p:nvPr/>
        </p:nvSpPr>
        <p:spPr>
          <a:xfrm>
            <a:off x="1180444" y="420286"/>
            <a:ext cx="10607040" cy="584775"/>
          </a:xfrm>
          <a:prstGeom prst="rect">
            <a:avLst/>
          </a:prstGeom>
          <a:noFill/>
        </p:spPr>
        <p:txBody>
          <a:bodyPr wrap="square">
            <a:spAutoFit/>
          </a:bodyPr>
          <a:lstStyle/>
          <a:p>
            <a:pPr>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a:rPr>
              <a:t>Objectives of the Project</a:t>
            </a:r>
            <a:r>
              <a:rPr lang="en-IN" sz="3200" dirty="0">
                <a:latin typeface="Times New Roman" panose="02020603050405020304" pitchFamily="18" charset="0"/>
                <a:cs typeface="Times New Roman" panose="02020603050405020304" pitchFamily="18" charset="0"/>
              </a:rPr>
              <a:t/>
            </a:r>
            <a:r>
              <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172D857B-6114-487D-901F-3BE3414CF24C}"/>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24BCFDA0-1B03-47DF-AE91-84DA533C967E}"/>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FF5372F-8F94-452E-A69C-686724A91017}"/>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29250C7A-F039-43BA-807B-A2C20BBA975F}"/>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85F080FF-9C64-4CA6-B9B8-6689260DCADC}"/>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Six measurable objectives for a </a:t>
            </a:r>
            <a:r>
              <a:rPr sz="2400" b="1" i="0">
                <a:solidFill>
                  <a:srgbClr val="820019"/>
                </a:solidFill>
                <a:latin typeface="Calibri"/>
                <a:cs typeface="Calibri"/>
              </a:rPr>
              <a:t>trustworthy</a:t>
            </a:r>
            <a:r>
              <a:rPr sz="2400" b="0" i="0">
                <a:solidFill>
                  <a:srgbClr val="1F1F1F"/>
                </a:solidFill>
                <a:latin typeface="Calibri"/>
                <a:cs typeface="Calibri"/>
              </a:rPr>
              <a:t> report-to-rule pipeline.</a:t>
            </a:r>
          </a:p>
        </p:txBody>
      </p:sp>
      <p:sp>
        <p:nvSpPr>
          <p:cNvPr id="16" name="Rounded Rectangle 15"/>
          <p:cNvSpPr/>
          <p:nvPr/>
        </p:nvSpPr>
        <p:spPr>
          <a:xfrm>
            <a:off x="365760" y="1783080"/>
            <a:ext cx="3666744" cy="18288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0352" y="1947672"/>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1</a:t>
            </a:r>
          </a:p>
        </p:txBody>
      </p:sp>
      <p:pic>
        <p:nvPicPr>
          <p:cNvPr id="18" name="Picture 17" descr="FaSearch_maroon.png"/>
          <p:cNvPicPr>
            <a:picLocks noChangeAspect="1"/>
          </p:cNvPicPr>
          <p:nvPr/>
        </p:nvPicPr>
        <p:blipFill>
          <a:blip r:embed="rId3"/>
          <a:stretch>
            <a:fillRect/>
          </a:stretch>
        </p:blipFill>
        <p:spPr>
          <a:xfrm>
            <a:off x="3438144" y="2002536"/>
            <a:ext cx="329184" cy="329184"/>
          </a:xfrm>
          <a:prstGeom prst="rect">
            <a:avLst/>
          </a:prstGeom>
        </p:spPr>
      </p:pic>
      <p:sp>
        <p:nvSpPr>
          <p:cNvPr id="19" name="TextBox 18"/>
          <p:cNvSpPr txBox="1"/>
          <p:nvPr/>
        </p:nvSpPr>
        <p:spPr>
          <a:xfrm>
            <a:off x="1051560" y="1911095"/>
            <a:ext cx="2295144" cy="502920"/>
          </a:xfrm>
          <a:prstGeom prst="rect">
            <a:avLst/>
          </a:prstGeom>
          <a:noFill/>
        </p:spPr>
        <p:txBody>
          <a:bodyPr wrap="square" lIns="45720" tIns="27432" rIns="45720" bIns="27432" anchor="ctr">
            <a:noAutofit/>
          </a:bodyPr>
          <a:lstStyle/>
          <a:p>
            <a:pPr algn="l"/>
            <a:r>
              <a:rPr sz="1800" b="1" i="0">
                <a:solidFill>
                  <a:srgbClr val="820019"/>
                </a:solidFill>
                <a:latin typeface="Times New Roman"/>
                <a:cs typeface="Times New Roman"/>
              </a:rPr>
              <a:t>Extract behaviour</a:t>
            </a:r>
          </a:p>
        </p:txBody>
      </p:sp>
      <p:sp>
        <p:nvSpPr>
          <p:cNvPr id="20" name="TextBox 19"/>
          <p:cNvSpPr txBox="1"/>
          <p:nvPr/>
        </p:nvSpPr>
        <p:spPr>
          <a:xfrm>
            <a:off x="548640" y="2532888"/>
            <a:ext cx="3300984" cy="1051560"/>
          </a:xfrm>
          <a:prstGeom prst="rect">
            <a:avLst/>
          </a:prstGeom>
          <a:noFill/>
        </p:spPr>
        <p:txBody>
          <a:bodyPr wrap="square" lIns="45720" tIns="27432" rIns="45720" bIns="27432" anchor="t">
            <a:noAutofit/>
          </a:bodyPr>
          <a:lstStyle/>
          <a:p>
            <a:pPr algn="l"/>
            <a:r>
              <a:rPr sz="1600" b="0" i="0">
                <a:solidFill>
                  <a:srgbClr val="1F1F1F"/>
                </a:solidFill>
                <a:latin typeface="Calibri"/>
                <a:cs typeface="Calibri"/>
              </a:rPr>
              <a:t>Identify actions, entities, conditions and event sequences with classical and transformer NLP, compared on F1.</a:t>
            </a:r>
          </a:p>
        </p:txBody>
      </p:sp>
      <p:sp>
        <p:nvSpPr>
          <p:cNvPr id="21" name="Rounded Rectangle 20"/>
          <p:cNvSpPr/>
          <p:nvPr/>
        </p:nvSpPr>
        <p:spPr>
          <a:xfrm>
            <a:off x="4256532" y="1783080"/>
            <a:ext cx="3666744" cy="18288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21124" y="1947672"/>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2</a:t>
            </a:r>
          </a:p>
        </p:txBody>
      </p:sp>
      <p:pic>
        <p:nvPicPr>
          <p:cNvPr id="23" name="Picture 22" descr="FaEye_maroon.png"/>
          <p:cNvPicPr>
            <a:picLocks noChangeAspect="1"/>
          </p:cNvPicPr>
          <p:nvPr/>
        </p:nvPicPr>
        <p:blipFill>
          <a:blip r:embed="rId4"/>
          <a:stretch>
            <a:fillRect/>
          </a:stretch>
        </p:blipFill>
        <p:spPr>
          <a:xfrm>
            <a:off x="7328915" y="2002536"/>
            <a:ext cx="329184" cy="329184"/>
          </a:xfrm>
          <a:prstGeom prst="rect">
            <a:avLst/>
          </a:prstGeom>
        </p:spPr>
      </p:pic>
      <p:sp>
        <p:nvSpPr>
          <p:cNvPr id="24" name="TextBox 23"/>
          <p:cNvSpPr txBox="1"/>
          <p:nvPr/>
        </p:nvSpPr>
        <p:spPr>
          <a:xfrm>
            <a:off x="4942332" y="1911095"/>
            <a:ext cx="2295144" cy="502920"/>
          </a:xfrm>
          <a:prstGeom prst="rect">
            <a:avLst/>
          </a:prstGeom>
          <a:noFill/>
        </p:spPr>
        <p:txBody>
          <a:bodyPr wrap="square" lIns="45720" tIns="27432" rIns="45720" bIns="27432" anchor="ctr">
            <a:noAutofit/>
          </a:bodyPr>
          <a:lstStyle/>
          <a:p>
            <a:pPr algn="l"/>
            <a:r>
              <a:rPr sz="1800" b="1" i="0">
                <a:solidFill>
                  <a:srgbClr val="820019"/>
                </a:solidFill>
                <a:latin typeface="Times New Roman"/>
                <a:cs typeface="Times New Roman"/>
              </a:rPr>
              <a:t>Check observability</a:t>
            </a:r>
          </a:p>
        </p:txBody>
      </p:sp>
      <p:sp>
        <p:nvSpPr>
          <p:cNvPr id="25" name="TextBox 24"/>
          <p:cNvSpPr txBox="1"/>
          <p:nvPr/>
        </p:nvSpPr>
        <p:spPr>
          <a:xfrm>
            <a:off x="4439412" y="2532888"/>
            <a:ext cx="3300984" cy="1051560"/>
          </a:xfrm>
          <a:prstGeom prst="rect">
            <a:avLst/>
          </a:prstGeom>
          <a:noFill/>
        </p:spPr>
        <p:txBody>
          <a:bodyPr wrap="square" lIns="45720" tIns="27432" rIns="45720" bIns="27432" anchor="t">
            <a:noAutofit/>
          </a:bodyPr>
          <a:lstStyle/>
          <a:p>
            <a:pPr algn="l"/>
            <a:r>
              <a:rPr sz="1600" b="0" i="0">
                <a:solidFill>
                  <a:srgbClr val="1F1F1F"/>
                </a:solidFill>
                <a:latin typeface="Calibri"/>
                <a:cs typeface="Calibri"/>
              </a:rPr>
              <a:t>Decide whether the documented log schema can capture the behaviour before any rule is generated.</a:t>
            </a:r>
          </a:p>
        </p:txBody>
      </p:sp>
      <p:sp>
        <p:nvSpPr>
          <p:cNvPr id="26" name="Rounded Rectangle 25"/>
          <p:cNvSpPr/>
          <p:nvPr/>
        </p:nvSpPr>
        <p:spPr>
          <a:xfrm>
            <a:off x="8147304" y="1783080"/>
            <a:ext cx="3666744" cy="18288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11896" y="1947672"/>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3</a:t>
            </a:r>
          </a:p>
        </p:txBody>
      </p:sp>
      <p:pic>
        <p:nvPicPr>
          <p:cNvPr id="28" name="Picture 27" descr="FaCode_maroon.png"/>
          <p:cNvPicPr>
            <a:picLocks noChangeAspect="1"/>
          </p:cNvPicPr>
          <p:nvPr/>
        </p:nvPicPr>
        <p:blipFill>
          <a:blip r:embed="rId5"/>
          <a:stretch>
            <a:fillRect/>
          </a:stretch>
        </p:blipFill>
        <p:spPr>
          <a:xfrm>
            <a:off x="11219688" y="2002536"/>
            <a:ext cx="329184" cy="329184"/>
          </a:xfrm>
          <a:prstGeom prst="rect">
            <a:avLst/>
          </a:prstGeom>
        </p:spPr>
      </p:pic>
      <p:sp>
        <p:nvSpPr>
          <p:cNvPr id="29" name="TextBox 28"/>
          <p:cNvSpPr txBox="1"/>
          <p:nvPr/>
        </p:nvSpPr>
        <p:spPr>
          <a:xfrm>
            <a:off x="8833104" y="1911095"/>
            <a:ext cx="2295144" cy="502920"/>
          </a:xfrm>
          <a:prstGeom prst="rect">
            <a:avLst/>
          </a:prstGeom>
          <a:noFill/>
        </p:spPr>
        <p:txBody>
          <a:bodyPr wrap="square" lIns="45720" tIns="27432" rIns="45720" bIns="27432" anchor="ctr">
            <a:noAutofit/>
          </a:bodyPr>
          <a:lstStyle/>
          <a:p>
            <a:pPr algn="l"/>
            <a:r>
              <a:rPr sz="1800" b="1" i="0">
                <a:solidFill>
                  <a:srgbClr val="820019"/>
                </a:solidFill>
                <a:latin typeface="Times New Roman"/>
                <a:cs typeface="Times New Roman"/>
              </a:rPr>
              <a:t>Compile precisely</a:t>
            </a:r>
          </a:p>
        </p:txBody>
      </p:sp>
      <p:sp>
        <p:nvSpPr>
          <p:cNvPr id="30" name="TextBox 29"/>
          <p:cNvSpPr txBox="1"/>
          <p:nvPr/>
        </p:nvSpPr>
        <p:spPr>
          <a:xfrm>
            <a:off x="8330183" y="2532888"/>
            <a:ext cx="3300984" cy="1051560"/>
          </a:xfrm>
          <a:prstGeom prst="rect">
            <a:avLst/>
          </a:prstGeom>
          <a:noFill/>
        </p:spPr>
        <p:txBody>
          <a:bodyPr wrap="square" lIns="45720" tIns="27432" rIns="45720" bIns="27432" anchor="t">
            <a:noAutofit/>
          </a:bodyPr>
          <a:lstStyle/>
          <a:p>
            <a:pPr algn="l"/>
            <a:r>
              <a:rPr sz="1600" b="0" i="0">
                <a:solidFill>
                  <a:srgbClr val="1F1F1F"/>
                </a:solidFill>
                <a:latin typeface="Calibri"/>
                <a:cs typeface="Calibri"/>
              </a:rPr>
              <a:t>Convert a typed behaviour spec into a restricted Scala/Spark rule with exact detection semantics.</a:t>
            </a:r>
          </a:p>
        </p:txBody>
      </p:sp>
      <p:sp>
        <p:nvSpPr>
          <p:cNvPr id="31" name="Rounded Rectangle 30"/>
          <p:cNvSpPr/>
          <p:nvPr/>
        </p:nvSpPr>
        <p:spPr>
          <a:xfrm>
            <a:off x="365760" y="3794760"/>
            <a:ext cx="3666744" cy="18288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30352" y="3959352"/>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4</a:t>
            </a:r>
          </a:p>
        </p:txBody>
      </p:sp>
      <p:pic>
        <p:nvPicPr>
          <p:cNvPr id="33" name="Picture 32" descr="FaSyncAlt_maroon.png"/>
          <p:cNvPicPr>
            <a:picLocks noChangeAspect="1"/>
          </p:cNvPicPr>
          <p:nvPr/>
        </p:nvPicPr>
        <p:blipFill>
          <a:blip r:embed="rId6"/>
          <a:stretch>
            <a:fillRect/>
          </a:stretch>
        </p:blipFill>
        <p:spPr>
          <a:xfrm>
            <a:off x="3438144" y="4014216"/>
            <a:ext cx="329184" cy="329184"/>
          </a:xfrm>
          <a:prstGeom prst="rect">
            <a:avLst/>
          </a:prstGeom>
        </p:spPr>
      </p:pic>
      <p:sp>
        <p:nvSpPr>
          <p:cNvPr id="34" name="TextBox 33"/>
          <p:cNvSpPr txBox="1"/>
          <p:nvPr/>
        </p:nvSpPr>
        <p:spPr>
          <a:xfrm>
            <a:off x="1051560" y="3922776"/>
            <a:ext cx="2295144" cy="502920"/>
          </a:xfrm>
          <a:prstGeom prst="rect">
            <a:avLst/>
          </a:prstGeom>
          <a:noFill/>
        </p:spPr>
        <p:txBody>
          <a:bodyPr wrap="square" lIns="45720" tIns="27432" rIns="45720" bIns="27432" anchor="ctr">
            <a:noAutofit/>
          </a:bodyPr>
          <a:lstStyle/>
          <a:p>
            <a:pPr algn="l"/>
            <a:r>
              <a:rPr sz="1800" b="1" i="0">
                <a:solidFill>
                  <a:srgbClr val="820019"/>
                </a:solidFill>
                <a:latin typeface="Times New Roman"/>
                <a:cs typeface="Times New Roman"/>
              </a:rPr>
              <a:t>Validate reliability</a:t>
            </a:r>
          </a:p>
        </p:txBody>
      </p:sp>
      <p:sp>
        <p:nvSpPr>
          <p:cNvPr id="35" name="TextBox 34"/>
          <p:cNvSpPr txBox="1"/>
          <p:nvPr/>
        </p:nvSpPr>
        <p:spPr>
          <a:xfrm>
            <a:off x="548640" y="4544568"/>
            <a:ext cx="3300984" cy="1051560"/>
          </a:xfrm>
          <a:prstGeom prst="rect">
            <a:avLst/>
          </a:prstGeom>
          <a:noFill/>
        </p:spPr>
        <p:txBody>
          <a:bodyPr wrap="square" lIns="45720" tIns="27432" rIns="45720" bIns="27432" anchor="t">
            <a:noAutofit/>
          </a:bodyPr>
          <a:lstStyle/>
          <a:p>
            <a:pPr algn="l"/>
            <a:r>
              <a:rPr sz="1600" b="0" i="0">
                <a:solidFill>
                  <a:srgbClr val="1F1F1F"/>
                </a:solidFill>
                <a:latin typeface="Calibri"/>
                <a:cs typeface="Calibri"/>
              </a:rPr>
              <a:t>Replay labelled events; stress with missing fields, policy outages and adversarial text.</a:t>
            </a:r>
          </a:p>
        </p:txBody>
      </p:sp>
      <p:sp>
        <p:nvSpPr>
          <p:cNvPr id="36" name="Rounded Rectangle 35"/>
          <p:cNvSpPr/>
          <p:nvPr/>
        </p:nvSpPr>
        <p:spPr>
          <a:xfrm>
            <a:off x="4256532" y="3794760"/>
            <a:ext cx="3666744" cy="18288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421124" y="3959352"/>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5</a:t>
            </a:r>
          </a:p>
        </p:txBody>
      </p:sp>
      <p:pic>
        <p:nvPicPr>
          <p:cNvPr id="38" name="Picture 37" descr="FaLink_maroon.png"/>
          <p:cNvPicPr>
            <a:picLocks noChangeAspect="1"/>
          </p:cNvPicPr>
          <p:nvPr/>
        </p:nvPicPr>
        <p:blipFill>
          <a:blip r:embed="rId7"/>
          <a:stretch>
            <a:fillRect/>
          </a:stretch>
        </p:blipFill>
        <p:spPr>
          <a:xfrm>
            <a:off x="7328915" y="4014216"/>
            <a:ext cx="329184" cy="329184"/>
          </a:xfrm>
          <a:prstGeom prst="rect">
            <a:avLst/>
          </a:prstGeom>
        </p:spPr>
      </p:pic>
      <p:sp>
        <p:nvSpPr>
          <p:cNvPr id="39" name="TextBox 38"/>
          <p:cNvSpPr txBox="1"/>
          <p:nvPr/>
        </p:nvSpPr>
        <p:spPr>
          <a:xfrm>
            <a:off x="4942332" y="3922776"/>
            <a:ext cx="2295144" cy="502920"/>
          </a:xfrm>
          <a:prstGeom prst="rect">
            <a:avLst/>
          </a:prstGeom>
          <a:noFill/>
        </p:spPr>
        <p:txBody>
          <a:bodyPr wrap="square" lIns="45720" tIns="27432" rIns="45720" bIns="27432" anchor="ctr">
            <a:noAutofit/>
          </a:bodyPr>
          <a:lstStyle/>
          <a:p>
            <a:pPr algn="l"/>
            <a:r>
              <a:rPr sz="1800" b="1" i="0">
                <a:solidFill>
                  <a:srgbClr val="820019"/>
                </a:solidFill>
                <a:latin typeface="Times New Roman"/>
                <a:cs typeface="Times New Roman"/>
              </a:rPr>
              <a:t>Preserve evidence</a:t>
            </a:r>
          </a:p>
        </p:txBody>
      </p:sp>
      <p:sp>
        <p:nvSpPr>
          <p:cNvPr id="40" name="TextBox 39"/>
          <p:cNvSpPr txBox="1"/>
          <p:nvPr/>
        </p:nvSpPr>
        <p:spPr>
          <a:xfrm>
            <a:off x="4439412" y="4544568"/>
            <a:ext cx="3300984" cy="1051560"/>
          </a:xfrm>
          <a:prstGeom prst="rect">
            <a:avLst/>
          </a:prstGeom>
          <a:noFill/>
        </p:spPr>
        <p:txBody>
          <a:bodyPr wrap="square" lIns="45720" tIns="27432" rIns="45720" bIns="27432" anchor="t">
            <a:noAutofit/>
          </a:bodyPr>
          <a:lstStyle/>
          <a:p>
            <a:pPr algn="l"/>
            <a:r>
              <a:rPr sz="1600" b="0" i="0">
                <a:solidFill>
                  <a:srgbClr val="1F1F1F"/>
                </a:solidFill>
                <a:latin typeface="Calibri"/>
                <a:cs typeface="Calibri"/>
              </a:rPr>
              <a:t>Link every detection condition to source text or to an explicit analyst assumption.</a:t>
            </a:r>
          </a:p>
        </p:txBody>
      </p:sp>
      <p:sp>
        <p:nvSpPr>
          <p:cNvPr id="41" name="Rounded Rectangle 40"/>
          <p:cNvSpPr/>
          <p:nvPr/>
        </p:nvSpPr>
        <p:spPr>
          <a:xfrm>
            <a:off x="8147304" y="3794760"/>
            <a:ext cx="3666744" cy="18288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311896" y="3959352"/>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6</a:t>
            </a:r>
          </a:p>
        </p:txBody>
      </p:sp>
      <p:pic>
        <p:nvPicPr>
          <p:cNvPr id="43" name="Picture 42" descr="FaBan_maroon.png"/>
          <p:cNvPicPr>
            <a:picLocks noChangeAspect="1"/>
          </p:cNvPicPr>
          <p:nvPr/>
        </p:nvPicPr>
        <p:blipFill>
          <a:blip r:embed="rId8"/>
          <a:stretch>
            <a:fillRect/>
          </a:stretch>
        </p:blipFill>
        <p:spPr>
          <a:xfrm>
            <a:off x="11219688" y="4014216"/>
            <a:ext cx="329184" cy="329184"/>
          </a:xfrm>
          <a:prstGeom prst="rect">
            <a:avLst/>
          </a:prstGeom>
        </p:spPr>
      </p:pic>
      <p:sp>
        <p:nvSpPr>
          <p:cNvPr id="44" name="TextBox 43"/>
          <p:cNvSpPr txBox="1"/>
          <p:nvPr/>
        </p:nvSpPr>
        <p:spPr>
          <a:xfrm>
            <a:off x="8833104" y="3922776"/>
            <a:ext cx="2295144" cy="502920"/>
          </a:xfrm>
          <a:prstGeom prst="rect">
            <a:avLst/>
          </a:prstGeom>
          <a:noFill/>
        </p:spPr>
        <p:txBody>
          <a:bodyPr wrap="square" lIns="45720" tIns="27432" rIns="45720" bIns="27432" anchor="ctr">
            <a:noAutofit/>
          </a:bodyPr>
          <a:lstStyle/>
          <a:p>
            <a:pPr algn="l"/>
            <a:r>
              <a:rPr sz="1800" b="1" i="0">
                <a:solidFill>
                  <a:srgbClr val="820019"/>
                </a:solidFill>
                <a:latin typeface="Times New Roman"/>
                <a:cs typeface="Times New Roman"/>
              </a:rPr>
              <a:t>Reject unsupported</a:t>
            </a:r>
          </a:p>
        </p:txBody>
      </p:sp>
      <p:sp>
        <p:nvSpPr>
          <p:cNvPr id="45" name="TextBox 44"/>
          <p:cNvSpPr txBox="1"/>
          <p:nvPr/>
        </p:nvSpPr>
        <p:spPr>
          <a:xfrm>
            <a:off x="8330183" y="4544568"/>
            <a:ext cx="3300984" cy="1051560"/>
          </a:xfrm>
          <a:prstGeom prst="rect">
            <a:avLst/>
          </a:prstGeom>
          <a:noFill/>
        </p:spPr>
        <p:txBody>
          <a:bodyPr wrap="square" lIns="45720" tIns="27432" rIns="45720" bIns="27432" anchor="t">
            <a:noAutofit/>
          </a:bodyPr>
          <a:lstStyle/>
          <a:p>
            <a:pPr algn="l"/>
            <a:r>
              <a:rPr sz="1600" b="0" i="0">
                <a:solidFill>
                  <a:srgbClr val="1F1F1F"/>
                </a:solidFill>
                <a:latin typeface="Calibri"/>
                <a:cs typeface="Calibri"/>
              </a:rPr>
              <a:t>Ask for clarification or withhold generation when essential information is missing.</a:t>
            </a:r>
          </a:p>
        </p:txBody>
      </p:sp>
      <p:sp>
        <p:nvSpPr>
          <p:cNvPr id="46" name="Rounded Rectangle 45"/>
          <p:cNvSpPr/>
          <p:nvPr/>
        </p:nvSpPr>
        <p:spPr>
          <a:xfrm>
            <a:off x="365760" y="5852160"/>
            <a:ext cx="11457432" cy="457200"/>
          </a:xfrm>
          <a:prstGeom prst="roundRect">
            <a:avLst>
              <a:gd name="adj" fmla="val 2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5852160"/>
            <a:ext cx="11155680" cy="457200"/>
          </a:xfrm>
          <a:prstGeom prst="rect">
            <a:avLst/>
          </a:prstGeom>
          <a:noFill/>
        </p:spPr>
        <p:txBody>
          <a:bodyPr wrap="square" lIns="45720" tIns="27432" rIns="45720" bIns="27432" anchor="ctr">
            <a:noAutofit/>
          </a:bodyPr>
          <a:lstStyle/>
          <a:p>
            <a:pPr algn="l"/>
            <a:r>
              <a:rPr sz="1450" b="1" i="0">
                <a:solidFill>
                  <a:srgbClr val="820019"/>
                </a:solidFill>
                <a:latin typeface="Calibri"/>
                <a:cs typeface="Calibri"/>
              </a:rPr>
              <a:t>Research question:  </a:t>
            </a:r>
            <a:r>
              <a:rPr sz="1450" b="0" i="0">
                <a:solidFill>
                  <a:srgbClr val="1F1F1F"/>
                </a:solidFill>
                <a:latin typeface="Calibri"/>
                <a:cs typeface="Calibri"/>
              </a:rPr>
              <a:t>can telemetry-aware compilation and validation beat direct LLM rule generation on correctness and reliability?</a:t>
            </a:r>
          </a:p>
        </p:txBody>
      </p:sp>
    </p:spTree>
    <p:extLst>
      <p:ext uri="{BB962C8B-B14F-4D97-AF65-F5344CB8AC3E}">
        <p14:creationId xmlns:p14="http://schemas.microsoft.com/office/powerpoint/2010/main" val="4277054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6FAF6A-4925-4D1E-8078-ECEA64474517}" type="slidenum">
              <a:rPr lang="en-IN" smtClean="0"/>
              <a:t>6</a:t>
            </a:fld>
            <a:endParaRPr lang="en-IN"/>
          </a:p>
        </p:txBody>
      </p:sp>
      <p:sp>
        <p:nvSpPr>
          <p:cNvPr id="8" name="TextBox 7">
            <a:extLst>
              <a:ext uri="{FF2B5EF4-FFF2-40B4-BE49-F238E27FC236}">
                <a16:creationId xmlns:a16="http://schemas.microsoft.com/office/drawing/2014/main" id="{CDEB24E1-EFE8-4D6C-A0BF-6C337B6CDBE1}"/>
              </a:ext>
            </a:extLst>
          </p:cNvPr>
          <p:cNvSpPr txBox="1"/>
          <p:nvPr/>
        </p:nvSpPr>
        <p:spPr>
          <a:xfrm>
            <a:off x="1180444" y="430960"/>
            <a:ext cx="10607040" cy="584775"/>
          </a:xfrm>
          <a:prstGeom prst="rect">
            <a:avLst/>
          </a:prstGeom>
          <a:noFill/>
        </p:spPr>
        <p:txBody>
          <a:bodyPr wrap="square">
            <a:spAutoFit/>
          </a:bodyPr>
          <a:lstStyle/>
          <a:p>
            <a:pPr>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a:rPr>
              <a:t>Proposed Methodology</a:t>
            </a:r>
            <a:r>
              <a:rPr lang="en-IN" sz="3200" dirty="0">
                <a:latin typeface="Times New Roman" panose="02020603050405020304" pitchFamily="18" charset="0"/>
                <a:cs typeface="Times New Roman" panose="02020603050405020304" pitchFamily="18" charset="0"/>
              </a:rPr>
              <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172D857B-6114-487D-901F-3BE3414CF24C}"/>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24BCFDA0-1B03-47DF-AE91-84DA533C967E}"/>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FF5372F-8F94-452E-A69C-686724A91017}"/>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B9C29719-C192-4010-8F70-EBE1E066FC54}"/>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219E0FE1-17DB-4035-B5FC-C05C4BD5902A}"/>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Five stages from raw report to </a:t>
            </a:r>
            <a:r>
              <a:rPr sz="2400" b="1" i="0">
                <a:solidFill>
                  <a:srgbClr val="820019"/>
                </a:solidFill>
                <a:latin typeface="Calibri"/>
                <a:cs typeface="Calibri"/>
              </a:rPr>
              <a:t>explained alert</a:t>
            </a:r>
            <a:r>
              <a:rPr sz="2400" b="0" i="0">
                <a:solidFill>
                  <a:srgbClr val="1F1F1F"/>
                </a:solidFill>
                <a:latin typeface="Calibri"/>
                <a:cs typeface="Calibri"/>
              </a:rPr>
              <a:t>.</a:t>
            </a:r>
          </a:p>
        </p:txBody>
      </p:sp>
      <p:sp>
        <p:nvSpPr>
          <p:cNvPr id="16" name="Rounded Rectangle 15"/>
          <p:cNvSpPr/>
          <p:nvPr/>
        </p:nvSpPr>
        <p:spPr>
          <a:xfrm>
            <a:off x="365760" y="1783080"/>
            <a:ext cx="2139696" cy="310896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02920" y="1920240"/>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1</a:t>
            </a:r>
          </a:p>
        </p:txBody>
      </p:sp>
      <p:pic>
        <p:nvPicPr>
          <p:cNvPr id="18" name="Picture 17" descr="FaDatabase_maroon.png"/>
          <p:cNvPicPr>
            <a:picLocks noChangeAspect="1"/>
          </p:cNvPicPr>
          <p:nvPr/>
        </p:nvPicPr>
        <p:blipFill>
          <a:blip r:embed="rId3"/>
          <a:stretch>
            <a:fillRect/>
          </a:stretch>
        </p:blipFill>
        <p:spPr>
          <a:xfrm>
            <a:off x="1956815" y="1965960"/>
            <a:ext cx="329184" cy="329184"/>
          </a:xfrm>
          <a:prstGeom prst="rect">
            <a:avLst/>
          </a:prstGeom>
        </p:spPr>
      </p:pic>
      <p:sp>
        <p:nvSpPr>
          <p:cNvPr id="19" name="TextBox 18"/>
          <p:cNvSpPr txBox="1"/>
          <p:nvPr/>
        </p:nvSpPr>
        <p:spPr>
          <a:xfrm>
            <a:off x="475488" y="2450592"/>
            <a:ext cx="1920239" cy="566928"/>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Ingest &amp; Normalize</a:t>
            </a:r>
          </a:p>
        </p:txBody>
      </p:sp>
      <p:sp>
        <p:nvSpPr>
          <p:cNvPr id="20" name="TextBox 19"/>
          <p:cNvSpPr txBox="1"/>
          <p:nvPr/>
        </p:nvSpPr>
        <p:spPr>
          <a:xfrm>
            <a:off x="475488" y="3035808"/>
            <a:ext cx="1920239" cy="1371600"/>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Scala/Spark cleans telemetry into a partitioned Parquet store for replay and streaming.</a:t>
            </a:r>
          </a:p>
        </p:txBody>
      </p:sp>
      <p:sp>
        <p:nvSpPr>
          <p:cNvPr id="21" name="Rounded Rectangle 20"/>
          <p:cNvSpPr/>
          <p:nvPr/>
        </p:nvSpPr>
        <p:spPr>
          <a:xfrm>
            <a:off x="475488" y="4443984"/>
            <a:ext cx="1920239" cy="329184"/>
          </a:xfrm>
          <a:prstGeom prst="roundRect">
            <a:avLst>
              <a:gd name="adj" fmla="val 5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200" b="1" i="0">
                <a:solidFill>
                  <a:srgbClr val="820019"/>
                </a:solidFill>
                <a:latin typeface="Calibri"/>
                <a:cs typeface="Calibri"/>
              </a:rPr>
              <a:t>Parquet store</a:t>
            </a:r>
          </a:p>
        </p:txBody>
      </p:sp>
      <p:sp>
        <p:nvSpPr>
          <p:cNvPr id="22" name="Chevron 21"/>
          <p:cNvSpPr/>
          <p:nvPr/>
        </p:nvSpPr>
        <p:spPr>
          <a:xfrm>
            <a:off x="2487168" y="3108960"/>
            <a:ext cx="219456" cy="365760"/>
          </a:xfrm>
          <a:prstGeom prst="chevron">
            <a:avLst/>
          </a:prstGeom>
          <a:solidFill>
            <a:srgbClr val="C99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688336" y="1783080"/>
            <a:ext cx="2139696" cy="310896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825496" y="1920240"/>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2</a:t>
            </a:r>
          </a:p>
        </p:txBody>
      </p:sp>
      <p:pic>
        <p:nvPicPr>
          <p:cNvPr id="25" name="Picture 24" descr="FaSearch_maroon.png"/>
          <p:cNvPicPr>
            <a:picLocks noChangeAspect="1"/>
          </p:cNvPicPr>
          <p:nvPr/>
        </p:nvPicPr>
        <p:blipFill>
          <a:blip r:embed="rId4"/>
          <a:stretch>
            <a:fillRect/>
          </a:stretch>
        </p:blipFill>
        <p:spPr>
          <a:xfrm>
            <a:off x="4279392" y="1965960"/>
            <a:ext cx="329184" cy="329184"/>
          </a:xfrm>
          <a:prstGeom prst="rect">
            <a:avLst/>
          </a:prstGeom>
        </p:spPr>
      </p:pic>
      <p:sp>
        <p:nvSpPr>
          <p:cNvPr id="26" name="TextBox 25"/>
          <p:cNvSpPr txBox="1"/>
          <p:nvPr/>
        </p:nvSpPr>
        <p:spPr>
          <a:xfrm>
            <a:off x="2798064" y="2450592"/>
            <a:ext cx="1920239" cy="566928"/>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Understand the Report</a:t>
            </a:r>
          </a:p>
        </p:txBody>
      </p:sp>
      <p:sp>
        <p:nvSpPr>
          <p:cNvPr id="27" name="TextBox 26"/>
          <p:cNvSpPr txBox="1"/>
          <p:nvPr/>
        </p:nvSpPr>
        <p:spPr>
          <a:xfrm>
            <a:off x="2798064" y="3035808"/>
            <a:ext cx="1920239" cy="1371600"/>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Classical (regex) vs transformer (LLM, controlled vocabulary) extraction, with verified provenance.</a:t>
            </a:r>
          </a:p>
        </p:txBody>
      </p:sp>
      <p:sp>
        <p:nvSpPr>
          <p:cNvPr id="28" name="Rounded Rectangle 27"/>
          <p:cNvSpPr/>
          <p:nvPr/>
        </p:nvSpPr>
        <p:spPr>
          <a:xfrm>
            <a:off x="2798064" y="4443984"/>
            <a:ext cx="1920239" cy="329184"/>
          </a:xfrm>
          <a:prstGeom prst="roundRect">
            <a:avLst>
              <a:gd name="adj" fmla="val 5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200" b="1" i="0">
                <a:solidFill>
                  <a:srgbClr val="820019"/>
                </a:solidFill>
                <a:latin typeface="Calibri"/>
                <a:cs typeface="Calibri"/>
              </a:rPr>
              <a:t>Behaviour IR (JSON)</a:t>
            </a:r>
          </a:p>
        </p:txBody>
      </p:sp>
      <p:sp>
        <p:nvSpPr>
          <p:cNvPr id="29" name="Chevron 28"/>
          <p:cNvSpPr/>
          <p:nvPr/>
        </p:nvSpPr>
        <p:spPr>
          <a:xfrm>
            <a:off x="4809744" y="3108960"/>
            <a:ext cx="219456" cy="365760"/>
          </a:xfrm>
          <a:prstGeom prst="chevron">
            <a:avLst/>
          </a:prstGeom>
          <a:solidFill>
            <a:srgbClr val="C99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10912" y="1783080"/>
            <a:ext cx="2139696" cy="310896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148072" y="1920240"/>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3</a:t>
            </a:r>
          </a:p>
        </p:txBody>
      </p:sp>
      <p:pic>
        <p:nvPicPr>
          <p:cNvPr id="32" name="Picture 31" descr="FaClipboardCheck_maroon.png"/>
          <p:cNvPicPr>
            <a:picLocks noChangeAspect="1"/>
          </p:cNvPicPr>
          <p:nvPr/>
        </p:nvPicPr>
        <p:blipFill>
          <a:blip r:embed="rId5"/>
          <a:stretch>
            <a:fillRect/>
          </a:stretch>
        </p:blipFill>
        <p:spPr>
          <a:xfrm>
            <a:off x="6601968" y="1965960"/>
            <a:ext cx="329184" cy="329184"/>
          </a:xfrm>
          <a:prstGeom prst="rect">
            <a:avLst/>
          </a:prstGeom>
        </p:spPr>
      </p:pic>
      <p:sp>
        <p:nvSpPr>
          <p:cNvPr id="33" name="TextBox 32"/>
          <p:cNvSpPr txBox="1"/>
          <p:nvPr/>
        </p:nvSpPr>
        <p:spPr>
          <a:xfrm>
            <a:off x="5120640" y="2450592"/>
            <a:ext cx="1920239" cy="566928"/>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Validate the Spec</a:t>
            </a:r>
          </a:p>
        </p:txBody>
      </p:sp>
      <p:sp>
        <p:nvSpPr>
          <p:cNvPr id="34" name="TextBox 33"/>
          <p:cNvSpPr txBox="1"/>
          <p:nvPr/>
        </p:nvSpPr>
        <p:spPr>
          <a:xfrm>
            <a:off x="5120640" y="3035808"/>
            <a:ext cx="1920239" cy="1371600"/>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Stage 3 gate: fields exist and are reliable, values are sane, structural dependencies covered.</a:t>
            </a:r>
          </a:p>
        </p:txBody>
      </p:sp>
      <p:sp>
        <p:nvSpPr>
          <p:cNvPr id="35" name="Rounded Rectangle 34"/>
          <p:cNvSpPr/>
          <p:nvPr/>
        </p:nvSpPr>
        <p:spPr>
          <a:xfrm>
            <a:off x="5120640" y="4443984"/>
            <a:ext cx="1920239" cy="329184"/>
          </a:xfrm>
          <a:prstGeom prst="roundRect">
            <a:avLst>
              <a:gd name="adj" fmla="val 5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200" b="1" i="0">
                <a:solidFill>
                  <a:srgbClr val="820019"/>
                </a:solidFill>
                <a:latin typeface="Calibri"/>
                <a:cs typeface="Calibri"/>
              </a:rPr>
              <a:t>supported / rejected</a:t>
            </a:r>
          </a:p>
        </p:txBody>
      </p:sp>
      <p:sp>
        <p:nvSpPr>
          <p:cNvPr id="36" name="Chevron 35"/>
          <p:cNvSpPr/>
          <p:nvPr/>
        </p:nvSpPr>
        <p:spPr>
          <a:xfrm>
            <a:off x="7132320" y="3108960"/>
            <a:ext cx="219456" cy="365760"/>
          </a:xfrm>
          <a:prstGeom prst="chevron">
            <a:avLst/>
          </a:prstGeom>
          <a:solidFill>
            <a:srgbClr val="C99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333488" y="1783080"/>
            <a:ext cx="2139696" cy="310896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470648" y="1920240"/>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4</a:t>
            </a:r>
          </a:p>
        </p:txBody>
      </p:sp>
      <p:pic>
        <p:nvPicPr>
          <p:cNvPr id="39" name="Picture 38" descr="FaCogs_maroon.png"/>
          <p:cNvPicPr>
            <a:picLocks noChangeAspect="1"/>
          </p:cNvPicPr>
          <p:nvPr/>
        </p:nvPicPr>
        <p:blipFill>
          <a:blip r:embed="rId6"/>
          <a:stretch>
            <a:fillRect/>
          </a:stretch>
        </p:blipFill>
        <p:spPr>
          <a:xfrm>
            <a:off x="8924544" y="1965960"/>
            <a:ext cx="329184" cy="329184"/>
          </a:xfrm>
          <a:prstGeom prst="rect">
            <a:avLst/>
          </a:prstGeom>
        </p:spPr>
      </p:pic>
      <p:sp>
        <p:nvSpPr>
          <p:cNvPr id="40" name="TextBox 39"/>
          <p:cNvSpPr txBox="1"/>
          <p:nvPr/>
        </p:nvSpPr>
        <p:spPr>
          <a:xfrm>
            <a:off x="7443215" y="2450592"/>
            <a:ext cx="1920239" cy="566928"/>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Compile &amp; Execute</a:t>
            </a:r>
          </a:p>
        </p:txBody>
      </p:sp>
      <p:sp>
        <p:nvSpPr>
          <p:cNvPr id="41" name="TextBox 40"/>
          <p:cNvSpPr txBox="1"/>
          <p:nvPr/>
        </p:nvSpPr>
        <p:spPr>
          <a:xfrm>
            <a:off x="7443215" y="3035808"/>
            <a:ext cx="1920239" cy="1371600"/>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spec_bridge → CompiledSpec → Scala RuleCompiler → Spark batch and streaming; Sigma export.</a:t>
            </a:r>
          </a:p>
        </p:txBody>
      </p:sp>
      <p:sp>
        <p:nvSpPr>
          <p:cNvPr id="42" name="Rounded Rectangle 41"/>
          <p:cNvSpPr/>
          <p:nvPr/>
        </p:nvSpPr>
        <p:spPr>
          <a:xfrm>
            <a:off x="7443215" y="4443984"/>
            <a:ext cx="1920239" cy="329184"/>
          </a:xfrm>
          <a:prstGeom prst="roundRect">
            <a:avLst>
              <a:gd name="adj" fmla="val 5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200" b="1" i="0">
                <a:solidFill>
                  <a:srgbClr val="820019"/>
                </a:solidFill>
                <a:latin typeface="Calibri"/>
                <a:cs typeface="Calibri"/>
              </a:rPr>
              <a:t>Alerts + Sigma YAML</a:t>
            </a:r>
          </a:p>
        </p:txBody>
      </p:sp>
      <p:sp>
        <p:nvSpPr>
          <p:cNvPr id="43" name="Chevron 42"/>
          <p:cNvSpPr/>
          <p:nvPr/>
        </p:nvSpPr>
        <p:spPr>
          <a:xfrm>
            <a:off x="9454896" y="3108960"/>
            <a:ext cx="219456" cy="365760"/>
          </a:xfrm>
          <a:prstGeom prst="chevron">
            <a:avLst/>
          </a:prstGeom>
          <a:solidFill>
            <a:srgbClr val="C99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656064" y="1783080"/>
            <a:ext cx="2139696" cy="310896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793224" y="1920240"/>
            <a:ext cx="420624" cy="42062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b="1" i="0">
                <a:solidFill>
                  <a:srgbClr val="FFFFFF"/>
                </a:solidFill>
                <a:latin typeface="Times New Roman"/>
                <a:cs typeface="Times New Roman"/>
              </a:rPr>
              <a:t>5</a:t>
            </a:r>
          </a:p>
        </p:txBody>
      </p:sp>
      <p:pic>
        <p:nvPicPr>
          <p:cNvPr id="46" name="Picture 45" descr="FaChartLine_maroon.png"/>
          <p:cNvPicPr>
            <a:picLocks noChangeAspect="1"/>
          </p:cNvPicPr>
          <p:nvPr/>
        </p:nvPicPr>
        <p:blipFill>
          <a:blip r:embed="rId7"/>
          <a:stretch>
            <a:fillRect/>
          </a:stretch>
        </p:blipFill>
        <p:spPr>
          <a:xfrm>
            <a:off x="11247120" y="1965960"/>
            <a:ext cx="329184" cy="329184"/>
          </a:xfrm>
          <a:prstGeom prst="rect">
            <a:avLst/>
          </a:prstGeom>
        </p:spPr>
      </p:pic>
      <p:sp>
        <p:nvSpPr>
          <p:cNvPr id="47" name="TextBox 46"/>
          <p:cNvSpPr txBox="1"/>
          <p:nvPr/>
        </p:nvSpPr>
        <p:spPr>
          <a:xfrm>
            <a:off x="9765792" y="2450592"/>
            <a:ext cx="1920239" cy="566928"/>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Evaluate &amp; Explain</a:t>
            </a:r>
          </a:p>
        </p:txBody>
      </p:sp>
      <p:sp>
        <p:nvSpPr>
          <p:cNvPr id="48" name="TextBox 47"/>
          <p:cNvSpPr txBox="1"/>
          <p:nvPr/>
        </p:nvSpPr>
        <p:spPr>
          <a:xfrm>
            <a:off x="9765792" y="3035808"/>
            <a:ext cx="1920239" cy="1371600"/>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Compare with independent labels; dashboard shows evidence, verdict and analyst decision.</a:t>
            </a:r>
          </a:p>
        </p:txBody>
      </p:sp>
      <p:sp>
        <p:nvSpPr>
          <p:cNvPr id="49" name="Rounded Rectangle 48"/>
          <p:cNvSpPr/>
          <p:nvPr/>
        </p:nvSpPr>
        <p:spPr>
          <a:xfrm>
            <a:off x="9765792" y="4443984"/>
            <a:ext cx="1920239" cy="329184"/>
          </a:xfrm>
          <a:prstGeom prst="roundRect">
            <a:avLst>
              <a:gd name="adj" fmla="val 5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200" b="1" i="0">
                <a:solidFill>
                  <a:srgbClr val="820019"/>
                </a:solidFill>
                <a:latin typeface="Calibri"/>
                <a:cs typeface="Calibri"/>
              </a:rPr>
              <a:t>Report + audit log</a:t>
            </a:r>
          </a:p>
        </p:txBody>
      </p:sp>
      <p:sp>
        <p:nvSpPr>
          <p:cNvPr id="50" name="Rounded Rectangle 49"/>
          <p:cNvSpPr/>
          <p:nvPr/>
        </p:nvSpPr>
        <p:spPr>
          <a:xfrm>
            <a:off x="365760" y="5047488"/>
            <a:ext cx="5532120" cy="1261872"/>
          </a:xfrm>
          <a:prstGeom prst="roundRect">
            <a:avLst>
              <a:gd name="adj" fmla="val 5000"/>
            </a:avLst>
          </a:prstGeom>
          <a:solidFill>
            <a:srgbClr val="ED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FaKey_navy.png"/>
          <p:cNvPicPr>
            <a:picLocks noChangeAspect="1"/>
          </p:cNvPicPr>
          <p:nvPr/>
        </p:nvPicPr>
        <p:blipFill>
          <a:blip r:embed="rId8"/>
          <a:stretch>
            <a:fillRect/>
          </a:stretch>
        </p:blipFill>
        <p:spPr>
          <a:xfrm>
            <a:off x="548640" y="5212080"/>
            <a:ext cx="365760" cy="365760"/>
          </a:xfrm>
          <a:prstGeom prst="rect">
            <a:avLst/>
          </a:prstGeom>
        </p:spPr>
      </p:pic>
      <p:sp>
        <p:nvSpPr>
          <p:cNvPr id="52" name="TextBox 51"/>
          <p:cNvSpPr txBox="1"/>
          <p:nvPr/>
        </p:nvSpPr>
        <p:spPr>
          <a:xfrm>
            <a:off x="1051560" y="5084064"/>
            <a:ext cx="4754880" cy="1188720"/>
          </a:xfrm>
          <a:prstGeom prst="rect">
            <a:avLst/>
          </a:prstGeom>
          <a:noFill/>
        </p:spPr>
        <p:txBody>
          <a:bodyPr wrap="square" lIns="45720" tIns="27432" rIns="45720" bIns="27432" anchor="t">
            <a:noAutofit/>
          </a:bodyPr>
          <a:lstStyle/>
          <a:p>
            <a:pPr algn="l">
              <a:spcAft>
                <a:spcPts val="200"/>
              </a:spcAft>
            </a:pPr>
            <a:r>
              <a:rPr sz="1500" b="1" i="0">
                <a:solidFill>
                  <a:srgbClr val="002060"/>
                </a:solidFill>
                <a:latin typeface="Times New Roman"/>
                <a:cs typeface="Times New Roman"/>
              </a:rPr>
              <a:t>Decision rule</a:t>
            </a:r>
          </a:p>
          <a:p>
            <a:pPr algn="l"/>
            <a:r>
              <a:rPr sz="1400" b="1" i="0">
                <a:solidFill>
                  <a:srgbClr val="1E8E4E"/>
                </a:solidFill>
                <a:latin typeface="Calibri"/>
                <a:cs typeface="Calibri"/>
              </a:rPr>
              <a:t>supported</a:t>
            </a:r>
            <a:r>
              <a:rPr sz="1400" b="0" i="0">
                <a:solidFill>
                  <a:srgbClr val="1F1F1F"/>
                </a:solidFill>
                <a:latin typeface="Calibri"/>
                <a:cs typeface="Calibri"/>
              </a:rPr>
              <a:t>  →  compile and replay</a:t>
            </a:r>
          </a:p>
          <a:p>
            <a:pPr algn="l"/>
            <a:r>
              <a:rPr sz="1400" b="1" i="0">
                <a:solidFill>
                  <a:srgbClr val="C62828"/>
                </a:solidFill>
                <a:latin typeface="Calibri"/>
                <a:cs typeface="Calibri"/>
              </a:rPr>
              <a:t>unsupported / ambiguous</a:t>
            </a:r>
            <a:r>
              <a:rPr sz="1400" b="0" i="0">
                <a:solidFill>
                  <a:srgbClr val="1F1F1F"/>
                </a:solidFill>
                <a:latin typeface="Calibri"/>
                <a:cs typeface="Calibri"/>
              </a:rPr>
              <a:t>  →  reject with a reason or ask the analyst. Never guess.</a:t>
            </a:r>
          </a:p>
        </p:txBody>
      </p:sp>
      <p:sp>
        <p:nvSpPr>
          <p:cNvPr id="53" name="TextBox 52"/>
          <p:cNvSpPr txBox="1"/>
          <p:nvPr/>
        </p:nvSpPr>
        <p:spPr>
          <a:xfrm>
            <a:off x="6035040" y="5029200"/>
            <a:ext cx="5788152" cy="274320"/>
          </a:xfrm>
          <a:prstGeom prst="rect">
            <a:avLst/>
          </a:prstGeom>
          <a:noFill/>
        </p:spPr>
        <p:txBody>
          <a:bodyPr wrap="square" lIns="45720" tIns="27432" rIns="45720" bIns="27432" anchor="ctr">
            <a:noAutofit/>
          </a:bodyPr>
          <a:lstStyle/>
          <a:p>
            <a:pPr algn="l"/>
            <a:r>
              <a:rPr sz="1200" b="1" i="0">
                <a:solidFill>
                  <a:srgbClr val="595959"/>
                </a:solidFill>
                <a:latin typeface="Calibri"/>
                <a:cs typeface="Calibri"/>
              </a:rPr>
              <a:t>THREE CLOSED RECIPES  (the only rules the compiler can emit)</a:t>
            </a:r>
          </a:p>
        </p:txBody>
      </p:sp>
      <p:sp>
        <p:nvSpPr>
          <p:cNvPr id="54" name="Rounded Rectangle 53"/>
          <p:cNvSpPr/>
          <p:nvPr/>
        </p:nvSpPr>
        <p:spPr>
          <a:xfrm>
            <a:off x="6035040" y="5340096"/>
            <a:ext cx="1691640" cy="932688"/>
          </a:xfrm>
          <a:prstGeom prst="roundRect">
            <a:avLst>
              <a:gd name="adj" fmla="val 10000"/>
            </a:avLst>
          </a:prstGeom>
          <a:solidFill>
            <a:srgbClr val="FFFFFF"/>
          </a:solidFill>
          <a:ln w="15875">
            <a:solidFill>
              <a:srgbClr val="8200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080759" y="5358384"/>
            <a:ext cx="1600200" cy="502920"/>
          </a:xfrm>
          <a:prstGeom prst="rect">
            <a:avLst/>
          </a:prstGeom>
          <a:noFill/>
        </p:spPr>
        <p:txBody>
          <a:bodyPr wrap="square" lIns="18288" tIns="0" rIns="18288" bIns="0" anchor="ctr">
            <a:noAutofit/>
          </a:bodyPr>
          <a:lstStyle/>
          <a:p>
            <a:pPr algn="ctr"/>
            <a:r>
              <a:rPr sz="1150" b="1" i="0">
                <a:solidFill>
                  <a:srgbClr val="820019"/>
                </a:solidFill>
                <a:latin typeface="Consolas"/>
                <a:cs typeface="Consolas"/>
              </a:rPr>
              <a:t>SequenceThenTrigger</a:t>
            </a:r>
          </a:p>
        </p:txBody>
      </p:sp>
      <p:sp>
        <p:nvSpPr>
          <p:cNvPr id="56" name="TextBox 55"/>
          <p:cNvSpPr txBox="1"/>
          <p:nvPr/>
        </p:nvSpPr>
        <p:spPr>
          <a:xfrm>
            <a:off x="6080759" y="5852160"/>
            <a:ext cx="1600200" cy="365760"/>
          </a:xfrm>
          <a:prstGeom prst="rect">
            <a:avLst/>
          </a:prstGeom>
          <a:noFill/>
        </p:spPr>
        <p:txBody>
          <a:bodyPr wrap="square" lIns="18288" tIns="0" rIns="18288" bIns="0" anchor="ctr">
            <a:noAutofit/>
          </a:bodyPr>
          <a:lstStyle/>
          <a:p>
            <a:pPr algn="ctr"/>
            <a:r>
              <a:rPr sz="1200" b="0" i="0">
                <a:solidFill>
                  <a:srgbClr val="595959"/>
                </a:solidFill>
                <a:latin typeface="Calibri"/>
                <a:cs typeface="Calibri"/>
              </a:rPr>
              <a:t>B1 · brute force</a:t>
            </a:r>
          </a:p>
        </p:txBody>
      </p:sp>
      <p:sp>
        <p:nvSpPr>
          <p:cNvPr id="57" name="Rounded Rectangle 56"/>
          <p:cNvSpPr/>
          <p:nvPr/>
        </p:nvSpPr>
        <p:spPr>
          <a:xfrm>
            <a:off x="7836408" y="5340096"/>
            <a:ext cx="2194560" cy="932688"/>
          </a:xfrm>
          <a:prstGeom prst="roundRect">
            <a:avLst>
              <a:gd name="adj" fmla="val 10000"/>
            </a:avLst>
          </a:prstGeom>
          <a:solidFill>
            <a:srgbClr val="FFFFFF"/>
          </a:solidFill>
          <a:ln w="15875">
            <a:solidFill>
              <a:srgbClr val="8200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82128" y="5358384"/>
            <a:ext cx="2103120" cy="502920"/>
          </a:xfrm>
          <a:prstGeom prst="rect">
            <a:avLst/>
          </a:prstGeom>
          <a:noFill/>
        </p:spPr>
        <p:txBody>
          <a:bodyPr wrap="square" lIns="18288" tIns="0" rIns="18288" bIns="0" anchor="ctr">
            <a:noAutofit/>
          </a:bodyPr>
          <a:lstStyle/>
          <a:p>
            <a:pPr algn="ctr"/>
            <a:r>
              <a:rPr sz="1150" b="1" i="0">
                <a:solidFill>
                  <a:srgbClr val="820019"/>
                </a:solidFill>
                <a:latin typeface="Consolas"/>
                <a:cs typeface="Consolas"/>
              </a:rPr>
              <a:t>DistinctCountWithinWindow</a:t>
            </a:r>
          </a:p>
        </p:txBody>
      </p:sp>
      <p:sp>
        <p:nvSpPr>
          <p:cNvPr id="59" name="TextBox 58"/>
          <p:cNvSpPr txBox="1"/>
          <p:nvPr/>
        </p:nvSpPr>
        <p:spPr>
          <a:xfrm>
            <a:off x="7882128" y="5852160"/>
            <a:ext cx="2103120" cy="365760"/>
          </a:xfrm>
          <a:prstGeom prst="rect">
            <a:avLst/>
          </a:prstGeom>
          <a:noFill/>
        </p:spPr>
        <p:txBody>
          <a:bodyPr wrap="square" lIns="18288" tIns="0" rIns="18288" bIns="0" anchor="ctr">
            <a:noAutofit/>
          </a:bodyPr>
          <a:lstStyle/>
          <a:p>
            <a:pPr algn="ctr"/>
            <a:r>
              <a:rPr sz="1200" b="0" i="0">
                <a:solidFill>
                  <a:srgbClr val="595959"/>
                </a:solidFill>
                <a:latin typeface="Calibri"/>
                <a:cs typeface="Calibri"/>
              </a:rPr>
              <a:t>B2 spray · B3 sessions</a:t>
            </a:r>
          </a:p>
        </p:txBody>
      </p:sp>
      <p:sp>
        <p:nvSpPr>
          <p:cNvPr id="60" name="Rounded Rectangle 59"/>
          <p:cNvSpPr/>
          <p:nvPr/>
        </p:nvSpPr>
        <p:spPr>
          <a:xfrm>
            <a:off x="10140696" y="5340096"/>
            <a:ext cx="1572768" cy="932688"/>
          </a:xfrm>
          <a:prstGeom prst="roundRect">
            <a:avLst>
              <a:gd name="adj" fmla="val 10000"/>
            </a:avLst>
          </a:prstGeom>
          <a:solidFill>
            <a:srgbClr val="FFFFFF"/>
          </a:solidFill>
          <a:ln w="15875">
            <a:solidFill>
              <a:srgbClr val="8200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86416" y="5358384"/>
            <a:ext cx="1481328" cy="502920"/>
          </a:xfrm>
          <a:prstGeom prst="rect">
            <a:avLst/>
          </a:prstGeom>
          <a:noFill/>
        </p:spPr>
        <p:txBody>
          <a:bodyPr wrap="square" lIns="18288" tIns="0" rIns="18288" bIns="0" anchor="ctr">
            <a:noAutofit/>
          </a:bodyPr>
          <a:lstStyle/>
          <a:p>
            <a:pPr algn="ctr"/>
            <a:r>
              <a:rPr sz="1150" b="1" i="0">
                <a:solidFill>
                  <a:srgbClr val="820019"/>
                </a:solidFill>
                <a:latin typeface="Consolas"/>
                <a:cs typeface="Consolas"/>
              </a:rPr>
              <a:t>PolicyCompare</a:t>
            </a:r>
          </a:p>
        </p:txBody>
      </p:sp>
      <p:sp>
        <p:nvSpPr>
          <p:cNvPr id="62" name="TextBox 61"/>
          <p:cNvSpPr txBox="1"/>
          <p:nvPr/>
        </p:nvSpPr>
        <p:spPr>
          <a:xfrm>
            <a:off x="10186416" y="5852160"/>
            <a:ext cx="1481328" cy="365760"/>
          </a:xfrm>
          <a:prstGeom prst="rect">
            <a:avLst/>
          </a:prstGeom>
          <a:noFill/>
        </p:spPr>
        <p:txBody>
          <a:bodyPr wrap="square" lIns="18288" tIns="0" rIns="18288" bIns="0" anchor="ctr">
            <a:noAutofit/>
          </a:bodyPr>
          <a:lstStyle/>
          <a:p>
            <a:pPr algn="ctr"/>
            <a:r>
              <a:rPr sz="1200" b="0" i="0">
                <a:solidFill>
                  <a:srgbClr val="595959"/>
                </a:solidFill>
                <a:latin typeface="Calibri"/>
                <a:cs typeface="Calibri"/>
              </a:rPr>
              <a:t>B4 · B5 policy checks</a:t>
            </a:r>
          </a:p>
        </p:txBody>
      </p:sp>
    </p:spTree>
    <p:extLst>
      <p:ext uri="{BB962C8B-B14F-4D97-AF65-F5344CB8AC3E}">
        <p14:creationId xmlns:p14="http://schemas.microsoft.com/office/powerpoint/2010/main" val="578544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77A01-3FC2-02AD-0F54-55A22D26C3B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006486B-C201-CB9D-3DF1-389481BB5618}"/>
              </a:ext>
            </a:extLst>
          </p:cNvPr>
          <p:cNvSpPr>
            <a:spLocks noGrp="1"/>
          </p:cNvSpPr>
          <p:nvPr>
            <p:ph type="sldNum" sz="quarter" idx="12"/>
          </p:nvPr>
        </p:nvSpPr>
        <p:spPr/>
        <p:txBody>
          <a:bodyPr/>
          <a:lstStyle/>
          <a:p>
            <a:fld id="{C56FAF6A-4925-4D1E-8078-ECEA64474517}" type="slidenum">
              <a:rPr lang="en-IN" smtClean="0"/>
              <a:t>7</a:t>
            </a:fld>
            <a:endParaRPr lang="en-IN"/>
          </a:p>
        </p:txBody>
      </p:sp>
      <p:sp>
        <p:nvSpPr>
          <p:cNvPr id="8" name="TextBox 7">
            <a:extLst>
              <a:ext uri="{FF2B5EF4-FFF2-40B4-BE49-F238E27FC236}">
                <a16:creationId xmlns:a16="http://schemas.microsoft.com/office/drawing/2014/main" id="{60BF338B-A63F-DABC-08DF-F29DF264C816}"/>
              </a:ext>
            </a:extLst>
          </p:cNvPr>
          <p:cNvSpPr txBox="1"/>
          <p:nvPr/>
        </p:nvSpPr>
        <p:spPr>
          <a:xfrm>
            <a:off x="1180444" y="430960"/>
            <a:ext cx="10607040" cy="584775"/>
          </a:xfrm>
          <a:prstGeom prst="rect">
            <a:avLst/>
          </a:prstGeom>
          <a:noFill/>
        </p:spPr>
        <p:txBody>
          <a:bodyPr wrap="square">
            <a:spAutoFit/>
          </a:bodyPr>
          <a:lstStyle/>
          <a:p>
            <a:pPr>
              <a:defRPr/>
            </a:pPr>
            <a:r>
              <a:rPr lang="en-US" sz="3200" b="1" dirty="0">
                <a:latin typeface="Times New Roman"/>
                <a:cs typeface="Times New Roman"/>
              </a:rPr>
              <a:t>Tools &amp; Technologies</a:t>
            </a: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r>
              <a:rPr lang="en-IN" sz="3200" b="1" dirty="0">
                <a:latin typeface="Times New Roman" panose="02020603050405020304" pitchFamily="18" charset="0"/>
                <a:cs typeface="Times New Roman" panose="02020603050405020304" pitchFamily="18" charset="0"/>
              </a:rPr>
              <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96281D76-D098-2E8B-2BA8-9709BC4C8DA3}"/>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D8C36AEC-6261-BE10-32F8-54B4DB7737DD}"/>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E59306C-16D9-7821-7A5F-2073B4078566}"/>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1F0ACA74-3033-CBD0-EBD9-C3FAB6F16051}"/>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8B636DCE-6850-3706-1E53-D330CB51E6E4}"/>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A Python NLP front end feeding a </a:t>
            </a:r>
            <a:r>
              <a:rPr sz="2400" b="1" i="0">
                <a:solidFill>
                  <a:srgbClr val="820019"/>
                </a:solidFill>
                <a:latin typeface="Calibri"/>
                <a:cs typeface="Calibri"/>
              </a:rPr>
              <a:t>Scala/Spark</a:t>
            </a:r>
            <a:r>
              <a:rPr sz="2400" b="0" i="0">
                <a:solidFill>
                  <a:srgbClr val="1F1F1F"/>
                </a:solidFill>
                <a:latin typeface="Calibri"/>
                <a:cs typeface="Calibri"/>
              </a:rPr>
              <a:t> compiler and execution engine.</a:t>
            </a:r>
          </a:p>
        </p:txBody>
      </p:sp>
      <p:sp>
        <p:nvSpPr>
          <p:cNvPr id="16" name="Rounded Rectangle 15"/>
          <p:cNvSpPr/>
          <p:nvPr/>
        </p:nvSpPr>
        <p:spPr>
          <a:xfrm>
            <a:off x="365760" y="1783080"/>
            <a:ext cx="3666744" cy="452628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5760" y="1783080"/>
            <a:ext cx="3666744" cy="640080"/>
          </a:xfrm>
          <a:prstGeom prst="roundRect">
            <a:avLst>
              <a:gd name="adj" fmla="val 5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Microchip_white.png"/>
          <p:cNvPicPr>
            <a:picLocks noChangeAspect="1"/>
          </p:cNvPicPr>
          <p:nvPr/>
        </p:nvPicPr>
        <p:blipFill>
          <a:blip r:embed="rId3"/>
          <a:stretch>
            <a:fillRect/>
          </a:stretch>
        </p:blipFill>
        <p:spPr>
          <a:xfrm>
            <a:off x="548640" y="1920240"/>
            <a:ext cx="365760" cy="365760"/>
          </a:xfrm>
          <a:prstGeom prst="rect">
            <a:avLst/>
          </a:prstGeom>
        </p:spPr>
      </p:pic>
      <p:sp>
        <p:nvSpPr>
          <p:cNvPr id="19" name="TextBox 18"/>
          <p:cNvSpPr txBox="1"/>
          <p:nvPr/>
        </p:nvSpPr>
        <p:spPr>
          <a:xfrm>
            <a:off x="1051560" y="1783080"/>
            <a:ext cx="2889503" cy="640080"/>
          </a:xfrm>
          <a:prstGeom prst="rect">
            <a:avLst/>
          </a:prstGeom>
          <a:noFill/>
        </p:spPr>
        <p:txBody>
          <a:bodyPr wrap="square" lIns="45720" tIns="27432" rIns="45720" bIns="27432" anchor="ctr">
            <a:noAutofit/>
          </a:bodyPr>
          <a:lstStyle/>
          <a:p>
            <a:pPr algn="l"/>
            <a:r>
              <a:rPr sz="1900" b="1" i="0">
                <a:solidFill>
                  <a:srgbClr val="FFFFFF"/>
                </a:solidFill>
                <a:latin typeface="Times New Roman"/>
                <a:cs typeface="Times New Roman"/>
              </a:rPr>
              <a:t>Software</a:t>
            </a:r>
          </a:p>
        </p:txBody>
      </p:sp>
      <p:sp>
        <p:nvSpPr>
          <p:cNvPr id="20" name="Oval 19"/>
          <p:cNvSpPr/>
          <p:nvPr/>
        </p:nvSpPr>
        <p:spPr>
          <a:xfrm>
            <a:off x="548640" y="2679191"/>
            <a:ext cx="109728" cy="10972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2542032"/>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Python 3</a:t>
            </a:r>
          </a:p>
          <a:p>
            <a:pPr algn="l"/>
            <a:r>
              <a:rPr sz="1250" b="0" i="0">
                <a:solidFill>
                  <a:srgbClr val="595959"/>
                </a:solidFill>
                <a:latin typeface="Calibri"/>
                <a:cs typeface="Calibri"/>
              </a:rPr>
              <a:t>NLP, validation, dashboard API</a:t>
            </a:r>
          </a:p>
        </p:txBody>
      </p:sp>
      <p:sp>
        <p:nvSpPr>
          <p:cNvPr id="22" name="Oval 21"/>
          <p:cNvSpPr/>
          <p:nvPr/>
        </p:nvSpPr>
        <p:spPr>
          <a:xfrm>
            <a:off x="548640" y="3227832"/>
            <a:ext cx="109728" cy="10972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090672"/>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Scala 2.13.12</a:t>
            </a:r>
          </a:p>
          <a:p>
            <a:pPr algn="l"/>
            <a:r>
              <a:rPr sz="1250" b="0" i="0">
                <a:solidFill>
                  <a:srgbClr val="595959"/>
                </a:solidFill>
                <a:latin typeface="Calibri"/>
                <a:cs typeface="Calibri"/>
              </a:rPr>
              <a:t>restricted-rule compiler</a:t>
            </a:r>
          </a:p>
        </p:txBody>
      </p:sp>
      <p:sp>
        <p:nvSpPr>
          <p:cNvPr id="24" name="Oval 23"/>
          <p:cNvSpPr/>
          <p:nvPr/>
        </p:nvSpPr>
        <p:spPr>
          <a:xfrm>
            <a:off x="548640" y="3776472"/>
            <a:ext cx="109728" cy="10972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639311"/>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Apache Spark 3.5.3 [9]</a:t>
            </a:r>
          </a:p>
          <a:p>
            <a:pPr algn="l"/>
            <a:r>
              <a:rPr sz="1250" b="0" i="0">
                <a:solidFill>
                  <a:srgbClr val="595959"/>
                </a:solidFill>
                <a:latin typeface="Calibri"/>
                <a:cs typeface="Calibri"/>
              </a:rPr>
              <a:t>Spark SQL, Structured Streaming [10]</a:t>
            </a:r>
          </a:p>
        </p:txBody>
      </p:sp>
      <p:sp>
        <p:nvSpPr>
          <p:cNvPr id="26" name="Oval 25"/>
          <p:cNvSpPr/>
          <p:nvPr/>
        </p:nvSpPr>
        <p:spPr>
          <a:xfrm>
            <a:off x="548640" y="4325112"/>
            <a:ext cx="109728" cy="10972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187952"/>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sbt + ScalaTest</a:t>
            </a:r>
          </a:p>
          <a:p>
            <a:pPr algn="l"/>
            <a:r>
              <a:rPr sz="1250" b="0" i="0">
                <a:solidFill>
                  <a:srgbClr val="595959"/>
                </a:solidFill>
                <a:latin typeface="Calibri"/>
                <a:cs typeface="Calibri"/>
              </a:rPr>
              <a:t>build and test</a:t>
            </a:r>
          </a:p>
        </p:txBody>
      </p:sp>
      <p:sp>
        <p:nvSpPr>
          <p:cNvPr id="28" name="Oval 27"/>
          <p:cNvSpPr/>
          <p:nvPr/>
        </p:nvSpPr>
        <p:spPr>
          <a:xfrm>
            <a:off x="548640" y="4873752"/>
            <a:ext cx="109728" cy="10972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4736592"/>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FastAPI + Pydantic</a:t>
            </a:r>
          </a:p>
          <a:p>
            <a:pPr algn="l"/>
            <a:r>
              <a:rPr sz="1250" b="0" i="0">
                <a:solidFill>
                  <a:srgbClr val="595959"/>
                </a:solidFill>
                <a:latin typeface="Calibri"/>
                <a:cs typeface="Calibri"/>
              </a:rPr>
              <a:t>analyst review API</a:t>
            </a:r>
          </a:p>
        </p:txBody>
      </p:sp>
      <p:sp>
        <p:nvSpPr>
          <p:cNvPr id="30" name="Oval 29"/>
          <p:cNvSpPr/>
          <p:nvPr/>
        </p:nvSpPr>
        <p:spPr>
          <a:xfrm>
            <a:off x="548640" y="5422392"/>
            <a:ext cx="109728" cy="10972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5285231"/>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HTML / CSS / JS</a:t>
            </a:r>
          </a:p>
          <a:p>
            <a:pPr algn="l"/>
            <a:r>
              <a:rPr sz="1250" b="0" i="0">
                <a:solidFill>
                  <a:srgbClr val="595959"/>
                </a:solidFill>
                <a:latin typeface="Calibri"/>
                <a:cs typeface="Calibri"/>
              </a:rPr>
              <a:t>no-build review dashboard</a:t>
            </a:r>
          </a:p>
        </p:txBody>
      </p:sp>
      <p:sp>
        <p:nvSpPr>
          <p:cNvPr id="32" name="Oval 31"/>
          <p:cNvSpPr/>
          <p:nvPr/>
        </p:nvSpPr>
        <p:spPr>
          <a:xfrm>
            <a:off x="548640" y="5971031"/>
            <a:ext cx="109728" cy="109728"/>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5833871"/>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Groq · gpt-oss-120b</a:t>
            </a:r>
          </a:p>
          <a:p>
            <a:pPr algn="l"/>
            <a:r>
              <a:rPr sz="1250" b="0" i="0">
                <a:solidFill>
                  <a:srgbClr val="595959"/>
                </a:solidFill>
                <a:latin typeface="Calibri"/>
                <a:cs typeface="Calibri"/>
              </a:rPr>
              <a:t>pretrained transformer, not fine-tuned</a:t>
            </a:r>
          </a:p>
        </p:txBody>
      </p:sp>
      <p:sp>
        <p:nvSpPr>
          <p:cNvPr id="34" name="Rounded Rectangle 33"/>
          <p:cNvSpPr/>
          <p:nvPr/>
        </p:nvSpPr>
        <p:spPr>
          <a:xfrm>
            <a:off x="4256532" y="1783080"/>
            <a:ext cx="3666744" cy="452628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256532" y="1783080"/>
            <a:ext cx="3666744" cy="640080"/>
          </a:xfrm>
          <a:prstGeom prst="roundRect">
            <a:avLst>
              <a:gd name="adj" fmla="val 5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FaServer_white.png"/>
          <p:cNvPicPr>
            <a:picLocks noChangeAspect="1"/>
          </p:cNvPicPr>
          <p:nvPr/>
        </p:nvPicPr>
        <p:blipFill>
          <a:blip r:embed="rId4"/>
          <a:stretch>
            <a:fillRect/>
          </a:stretch>
        </p:blipFill>
        <p:spPr>
          <a:xfrm>
            <a:off x="4439412" y="1920240"/>
            <a:ext cx="365760" cy="365760"/>
          </a:xfrm>
          <a:prstGeom prst="rect">
            <a:avLst/>
          </a:prstGeom>
        </p:spPr>
      </p:pic>
      <p:sp>
        <p:nvSpPr>
          <p:cNvPr id="37" name="TextBox 36"/>
          <p:cNvSpPr txBox="1"/>
          <p:nvPr/>
        </p:nvSpPr>
        <p:spPr>
          <a:xfrm>
            <a:off x="4942332" y="1783080"/>
            <a:ext cx="2889503" cy="640080"/>
          </a:xfrm>
          <a:prstGeom prst="rect">
            <a:avLst/>
          </a:prstGeom>
          <a:noFill/>
        </p:spPr>
        <p:txBody>
          <a:bodyPr wrap="square" lIns="45720" tIns="27432" rIns="45720" bIns="27432" anchor="ctr">
            <a:noAutofit/>
          </a:bodyPr>
          <a:lstStyle/>
          <a:p>
            <a:pPr algn="l"/>
            <a:r>
              <a:rPr sz="1900" b="1" i="0">
                <a:solidFill>
                  <a:srgbClr val="FFFFFF"/>
                </a:solidFill>
                <a:latin typeface="Times New Roman"/>
                <a:cs typeface="Times New Roman"/>
              </a:rPr>
              <a:t>Hardware &amp; Environment</a:t>
            </a:r>
          </a:p>
        </p:txBody>
      </p:sp>
      <p:sp>
        <p:nvSpPr>
          <p:cNvPr id="38" name="Oval 37"/>
          <p:cNvSpPr/>
          <p:nvPr/>
        </p:nvSpPr>
        <p:spPr>
          <a:xfrm>
            <a:off x="4439412" y="2679191"/>
            <a:ext cx="109728" cy="109728"/>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0580" y="2542032"/>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Single local machine</a:t>
            </a:r>
          </a:p>
          <a:p>
            <a:pPr algn="l"/>
            <a:r>
              <a:rPr sz="1250" b="0" i="0">
                <a:solidFill>
                  <a:srgbClr val="595959"/>
                </a:solidFill>
                <a:latin typeface="Calibri"/>
                <a:cs typeface="Calibri"/>
              </a:rPr>
              <a:t>Spark local[*] on the JVM</a:t>
            </a:r>
          </a:p>
        </p:txBody>
      </p:sp>
      <p:sp>
        <p:nvSpPr>
          <p:cNvPr id="40" name="Oval 39"/>
          <p:cNvSpPr/>
          <p:nvPr/>
        </p:nvSpPr>
        <p:spPr>
          <a:xfrm>
            <a:off x="4439412" y="3456432"/>
            <a:ext cx="109728" cy="109728"/>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40580" y="3319272"/>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No GPU required</a:t>
            </a:r>
          </a:p>
          <a:p>
            <a:pPr algn="l"/>
            <a:r>
              <a:rPr sz="1250" b="0" i="0">
                <a:solidFill>
                  <a:srgbClr val="595959"/>
                </a:solidFill>
                <a:latin typeface="Calibri"/>
                <a:cs typeface="Calibri"/>
              </a:rPr>
              <a:t>transformer is called via API</a:t>
            </a:r>
          </a:p>
        </p:txBody>
      </p:sp>
      <p:sp>
        <p:nvSpPr>
          <p:cNvPr id="42" name="Oval 41"/>
          <p:cNvSpPr/>
          <p:nvPr/>
        </p:nvSpPr>
        <p:spPr>
          <a:xfrm>
            <a:off x="4439412" y="4233672"/>
            <a:ext cx="109728" cy="109728"/>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40580" y="4096511"/>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Dashboard on localhost</a:t>
            </a:r>
          </a:p>
          <a:p>
            <a:pPr algn="l"/>
            <a:r>
              <a:rPr sz="1250" b="0" i="0">
                <a:solidFill>
                  <a:srgbClr val="595959"/>
                </a:solidFill>
                <a:latin typeface="Calibri"/>
                <a:cs typeface="Calibri"/>
              </a:rPr>
              <a:t>served by Uvicorn</a:t>
            </a:r>
          </a:p>
        </p:txBody>
      </p:sp>
      <p:sp>
        <p:nvSpPr>
          <p:cNvPr id="44" name="Oval 43"/>
          <p:cNvSpPr/>
          <p:nvPr/>
        </p:nvSpPr>
        <p:spPr>
          <a:xfrm>
            <a:off x="4439412" y="5010912"/>
            <a:ext cx="109728" cy="109728"/>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40580" y="4873752"/>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Cluster deployment</a:t>
            </a:r>
          </a:p>
          <a:p>
            <a:pPr algn="l"/>
            <a:r>
              <a:rPr sz="1250" b="0" i="0">
                <a:solidFill>
                  <a:srgbClr val="595959"/>
                </a:solidFill>
                <a:latin typeface="Calibri"/>
                <a:cs typeface="Calibri"/>
              </a:rPr>
              <a:t>planned, see Future Work</a:t>
            </a:r>
          </a:p>
        </p:txBody>
      </p:sp>
      <p:sp>
        <p:nvSpPr>
          <p:cNvPr id="46" name="Rounded Rectangle 45"/>
          <p:cNvSpPr/>
          <p:nvPr/>
        </p:nvSpPr>
        <p:spPr>
          <a:xfrm>
            <a:off x="8147304" y="1783080"/>
            <a:ext cx="3666744" cy="452628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147304" y="1783080"/>
            <a:ext cx="3666744" cy="640080"/>
          </a:xfrm>
          <a:prstGeom prst="roundRect">
            <a:avLst>
              <a:gd name="adj" fmla="val 5000"/>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FaLayerGroup_white.png"/>
          <p:cNvPicPr>
            <a:picLocks noChangeAspect="1"/>
          </p:cNvPicPr>
          <p:nvPr/>
        </p:nvPicPr>
        <p:blipFill>
          <a:blip r:embed="rId5"/>
          <a:stretch>
            <a:fillRect/>
          </a:stretch>
        </p:blipFill>
        <p:spPr>
          <a:xfrm>
            <a:off x="8330183" y="1920240"/>
            <a:ext cx="365760" cy="365760"/>
          </a:xfrm>
          <a:prstGeom prst="rect">
            <a:avLst/>
          </a:prstGeom>
        </p:spPr>
      </p:pic>
      <p:sp>
        <p:nvSpPr>
          <p:cNvPr id="49" name="TextBox 48"/>
          <p:cNvSpPr txBox="1"/>
          <p:nvPr/>
        </p:nvSpPr>
        <p:spPr>
          <a:xfrm>
            <a:off x="8833104" y="1783080"/>
            <a:ext cx="2889503" cy="640080"/>
          </a:xfrm>
          <a:prstGeom prst="rect">
            <a:avLst/>
          </a:prstGeom>
          <a:noFill/>
        </p:spPr>
        <p:txBody>
          <a:bodyPr wrap="square" lIns="45720" tIns="27432" rIns="45720" bIns="27432" anchor="ctr">
            <a:noAutofit/>
          </a:bodyPr>
          <a:lstStyle/>
          <a:p>
            <a:pPr algn="l"/>
            <a:r>
              <a:rPr sz="1900" b="1" i="0">
                <a:solidFill>
                  <a:srgbClr val="FFFFFF"/>
                </a:solidFill>
                <a:latin typeface="Times New Roman"/>
                <a:cs typeface="Times New Roman"/>
              </a:rPr>
              <a:t>Data &amp; Standards</a:t>
            </a:r>
          </a:p>
        </p:txBody>
      </p:sp>
      <p:sp>
        <p:nvSpPr>
          <p:cNvPr id="50" name="Oval 49"/>
          <p:cNvSpPr/>
          <p:nvPr/>
        </p:nvSpPr>
        <p:spPr>
          <a:xfrm>
            <a:off x="8330183" y="2679191"/>
            <a:ext cx="109728" cy="109728"/>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31352" y="2542032"/>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Partitioned Parquet</a:t>
            </a:r>
          </a:p>
          <a:p>
            <a:pPr algn="l"/>
            <a:r>
              <a:rPr sz="1250" b="0" i="0">
                <a:solidFill>
                  <a:srgbClr val="595959"/>
                </a:solidFill>
                <a:latin typeface="Calibri"/>
                <a:cs typeface="Calibri"/>
              </a:rPr>
              <a:t>event store + Spark SQL replay</a:t>
            </a:r>
          </a:p>
        </p:txBody>
      </p:sp>
      <p:sp>
        <p:nvSpPr>
          <p:cNvPr id="52" name="Oval 51"/>
          <p:cNvSpPr/>
          <p:nvPr/>
        </p:nvSpPr>
        <p:spPr>
          <a:xfrm>
            <a:off x="8330183" y="3337560"/>
            <a:ext cx="109728" cy="109728"/>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31352" y="3200400"/>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MITRE ATT&amp;CK [5]</a:t>
            </a:r>
          </a:p>
          <a:p>
            <a:pPr algn="l"/>
            <a:r>
              <a:rPr sz="1250" b="0" i="0">
                <a:solidFill>
                  <a:srgbClr val="595959"/>
                </a:solidFill>
                <a:latin typeface="Calibri"/>
                <a:cs typeface="Calibri"/>
              </a:rPr>
              <a:t>T1110 · T1078 · T1556 · T1621</a:t>
            </a:r>
          </a:p>
        </p:txBody>
      </p:sp>
      <p:sp>
        <p:nvSpPr>
          <p:cNvPr id="54" name="Oval 53"/>
          <p:cNvSpPr/>
          <p:nvPr/>
        </p:nvSpPr>
        <p:spPr>
          <a:xfrm>
            <a:off x="8330183" y="3995928"/>
            <a:ext cx="109728" cy="109728"/>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31352" y="3858768"/>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Sigma YAML [6]</a:t>
            </a:r>
          </a:p>
          <a:p>
            <a:pPr algn="l"/>
            <a:r>
              <a:rPr sz="1250" b="0" i="0">
                <a:solidFill>
                  <a:srgbClr val="595959"/>
                </a:solidFill>
                <a:latin typeface="Calibri"/>
                <a:cs typeface="Calibri"/>
              </a:rPr>
              <a:t>portable rule export</a:t>
            </a:r>
          </a:p>
        </p:txBody>
      </p:sp>
      <p:sp>
        <p:nvSpPr>
          <p:cNvPr id="56" name="Oval 55"/>
          <p:cNvSpPr/>
          <p:nvPr/>
        </p:nvSpPr>
        <p:spPr>
          <a:xfrm>
            <a:off x="8330183" y="4654296"/>
            <a:ext cx="109728" cy="109728"/>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31352" y="4517136"/>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JSON contracts</a:t>
            </a:r>
          </a:p>
          <a:p>
            <a:pPr algn="l"/>
            <a:r>
              <a:rPr sz="1250" b="0" i="0">
                <a:solidFill>
                  <a:srgbClr val="595959"/>
                </a:solidFill>
                <a:latin typeface="Calibri"/>
                <a:cs typeface="Calibri"/>
              </a:rPr>
              <a:t>Behaviour IR · Compiled spec</a:t>
            </a:r>
          </a:p>
        </p:txBody>
      </p:sp>
      <p:sp>
        <p:nvSpPr>
          <p:cNvPr id="58" name="Oval 57"/>
          <p:cNvSpPr/>
          <p:nvPr/>
        </p:nvSpPr>
        <p:spPr>
          <a:xfrm>
            <a:off x="8330183" y="5312664"/>
            <a:ext cx="109728" cy="109728"/>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31352" y="5175504"/>
            <a:ext cx="3163824" cy="530352"/>
          </a:xfrm>
          <a:prstGeom prst="rect">
            <a:avLst/>
          </a:prstGeom>
          <a:noFill/>
        </p:spPr>
        <p:txBody>
          <a:bodyPr wrap="square" lIns="18288" tIns="0" rIns="18288" bIns="0" anchor="t">
            <a:noAutofit/>
          </a:bodyPr>
          <a:lstStyle/>
          <a:p>
            <a:pPr algn="l">
              <a:spcAft>
                <a:spcPts val="0"/>
              </a:spcAft>
            </a:pPr>
            <a:r>
              <a:rPr sz="1500" b="1" i="0">
                <a:solidFill>
                  <a:srgbClr val="1F1F1F"/>
                </a:solidFill>
                <a:latin typeface="Calibri"/>
                <a:cs typeface="Calibri"/>
              </a:rPr>
              <a:t>Auth-log schema v1</a:t>
            </a:r>
          </a:p>
          <a:p>
            <a:pPr algn="l"/>
            <a:r>
              <a:rPr sz="1250" b="0" i="0">
                <a:solidFill>
                  <a:srgbClr val="595959"/>
                </a:solidFill>
                <a:latin typeface="Calibri"/>
                <a:cs typeface="Calibri"/>
              </a:rPr>
              <a:t>9 fields + 1 policy table</a:t>
            </a:r>
          </a:p>
        </p:txBody>
      </p:sp>
      <p:sp>
        <p:nvSpPr>
          <p:cNvPr id="60" name="Rounded Rectangle 59"/>
          <p:cNvSpPr/>
          <p:nvPr/>
        </p:nvSpPr>
        <p:spPr>
          <a:xfrm>
            <a:off x="4439412" y="5504688"/>
            <a:ext cx="3300984" cy="685800"/>
          </a:xfrm>
          <a:prstGeom prst="roundRect">
            <a:avLst>
              <a:gd name="adj" fmla="val 10000"/>
            </a:avLst>
          </a:prstGeom>
          <a:solidFill>
            <a:srgbClr val="FFF7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30852" y="5504688"/>
            <a:ext cx="3118103" cy="685800"/>
          </a:xfrm>
          <a:prstGeom prst="rect">
            <a:avLst/>
          </a:prstGeom>
          <a:noFill/>
        </p:spPr>
        <p:txBody>
          <a:bodyPr wrap="square" lIns="45720" tIns="27432" rIns="45720" bIns="27432" anchor="ctr">
            <a:noAutofit/>
          </a:bodyPr>
          <a:lstStyle/>
          <a:p>
            <a:pPr algn="l"/>
            <a:r>
              <a:rPr sz="1350" b="1" i="0">
                <a:solidFill>
                  <a:srgbClr val="8A6A00"/>
                </a:solidFill>
                <a:latin typeface="Calibri"/>
                <a:cs typeface="Calibri"/>
              </a:rPr>
              <a:t>Scope note: </a:t>
            </a:r>
            <a:r>
              <a:rPr sz="1350" b="0" i="0">
                <a:solidFill>
                  <a:srgbClr val="1F1F1F"/>
                </a:solidFill>
                <a:latin typeface="Calibri"/>
                <a:cs typeface="Calibri"/>
              </a:rPr>
              <a:t>all measurements are single-machine; cluster runs are future work.</a:t>
            </a:r>
          </a:p>
        </p:txBody>
      </p:sp>
    </p:spTree>
    <p:extLst>
      <p:ext uri="{BB962C8B-B14F-4D97-AF65-F5344CB8AC3E}">
        <p14:creationId xmlns:p14="http://schemas.microsoft.com/office/powerpoint/2010/main" val="1279204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94038-EDEA-48A0-BE94-DFD0F39A35C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DE5E39D-C17C-0547-F8D7-F6096FF710C1}"/>
              </a:ext>
            </a:extLst>
          </p:cNvPr>
          <p:cNvSpPr>
            <a:spLocks noGrp="1"/>
          </p:cNvSpPr>
          <p:nvPr>
            <p:ph type="sldNum" sz="quarter" idx="12"/>
          </p:nvPr>
        </p:nvSpPr>
        <p:spPr/>
        <p:txBody>
          <a:bodyPr/>
          <a:lstStyle/>
          <a:p>
            <a:fld id="{C56FAF6A-4925-4D1E-8078-ECEA64474517}" type="slidenum">
              <a:rPr lang="en-IN" smtClean="0"/>
              <a:t>8</a:t>
            </a:fld>
            <a:endParaRPr lang="en-IN"/>
          </a:p>
        </p:txBody>
      </p:sp>
      <p:sp>
        <p:nvSpPr>
          <p:cNvPr id="8" name="TextBox 7">
            <a:extLst>
              <a:ext uri="{FF2B5EF4-FFF2-40B4-BE49-F238E27FC236}">
                <a16:creationId xmlns:a16="http://schemas.microsoft.com/office/drawing/2014/main" id="{E193D674-41D8-4EA1-D6AC-5B9A8B761D85}"/>
              </a:ext>
            </a:extLst>
          </p:cNvPr>
          <p:cNvSpPr txBox="1"/>
          <p:nvPr/>
        </p:nvSpPr>
        <p:spPr>
          <a:xfrm>
            <a:off x="1180444" y="430960"/>
            <a:ext cx="10607040" cy="584775"/>
          </a:xfrm>
          <a:prstGeom prst="rect">
            <a:avLst/>
          </a:prstGeom>
          <a:noFill/>
        </p:spPr>
        <p:txBody>
          <a:bodyPr wrap="square">
            <a:spAutoFit/>
          </a:bodyPr>
          <a:lstStyle/>
          <a:p>
            <a:pPr>
              <a:defRPr/>
            </a:pPr>
            <a:r>
              <a:rPr lang="en-US" sz="3200" b="1" dirty="0">
                <a:latin typeface="Times New Roman"/>
                <a:cs typeface="Times New Roman"/>
              </a:rPr>
              <a:t>Experimental Setup</a:t>
            </a: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r>
              <a:rPr lang="en-IN" sz="3200" b="1" dirty="0">
                <a:latin typeface="Times New Roman" panose="02020603050405020304" pitchFamily="18" charset="0"/>
                <a:cs typeface="Times New Roman" panose="02020603050405020304" pitchFamily="18" charset="0"/>
              </a:rPr>
              <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0AB18A85-B1A5-598B-B916-6C5E766A0BB5}"/>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6CED1E01-C70B-FAAB-D647-AAB962E22EE7}"/>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AFE0EEB-5C28-2786-34D8-D4EDCE87C976}"/>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216359EC-3102-8F68-58F2-E4FFA206A2AF}"/>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9AA8C519-12A8-34D7-71FF-CDEBCBD184E6}"/>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Same reports, same events, same labels for </a:t>
            </a:r>
            <a:r>
              <a:rPr sz="2400" b="1" i="0">
                <a:solidFill>
                  <a:srgbClr val="820019"/>
                </a:solidFill>
                <a:latin typeface="Calibri"/>
                <a:cs typeface="Calibri"/>
              </a:rPr>
              <a:t>every</a:t>
            </a:r>
            <a:r>
              <a:rPr sz="2400" b="0" i="0">
                <a:solidFill>
                  <a:srgbClr val="1F1F1F"/>
                </a:solidFill>
                <a:latin typeface="Calibri"/>
                <a:cs typeface="Calibri"/>
              </a:rPr>
              <a:t> system.</a:t>
            </a:r>
          </a:p>
        </p:txBody>
      </p:sp>
      <p:sp>
        <p:nvSpPr>
          <p:cNvPr id="16" name="Rounded Rectangle 15"/>
          <p:cNvSpPr/>
          <p:nvPr/>
        </p:nvSpPr>
        <p:spPr>
          <a:xfrm>
            <a:off x="365760" y="1783080"/>
            <a:ext cx="2145182" cy="1097280"/>
          </a:xfrm>
          <a:prstGeom prst="roundRect">
            <a:avLst>
              <a:gd name="adj" fmla="val 5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810512"/>
            <a:ext cx="2145182" cy="621792"/>
          </a:xfrm>
          <a:prstGeom prst="rect">
            <a:avLst/>
          </a:prstGeom>
          <a:noFill/>
        </p:spPr>
        <p:txBody>
          <a:bodyPr wrap="square" lIns="45720" tIns="27432" rIns="45720" bIns="27432" anchor="ctr">
            <a:noAutofit/>
          </a:bodyPr>
          <a:lstStyle/>
          <a:p>
            <a:pPr algn="ctr"/>
            <a:r>
              <a:rPr sz="3200" b="1" i="0">
                <a:solidFill>
                  <a:srgbClr val="820019"/>
                </a:solidFill>
                <a:latin typeface="Times New Roman"/>
                <a:cs typeface="Times New Roman"/>
              </a:rPr>
              <a:t>15</a:t>
            </a:r>
          </a:p>
        </p:txBody>
      </p:sp>
      <p:sp>
        <p:nvSpPr>
          <p:cNvPr id="18" name="TextBox 17"/>
          <p:cNvSpPr txBox="1"/>
          <p:nvPr/>
        </p:nvSpPr>
        <p:spPr>
          <a:xfrm>
            <a:off x="365760" y="2432304"/>
            <a:ext cx="2145182" cy="384048"/>
          </a:xfrm>
          <a:prstGeom prst="rect">
            <a:avLst/>
          </a:prstGeom>
          <a:noFill/>
        </p:spPr>
        <p:txBody>
          <a:bodyPr wrap="square" lIns="45720" tIns="27432" rIns="45720" bIns="27432" anchor="ctr">
            <a:noAutofit/>
          </a:bodyPr>
          <a:lstStyle/>
          <a:p>
            <a:pPr algn="ctr"/>
            <a:r>
              <a:rPr sz="1300" b="0" i="0">
                <a:solidFill>
                  <a:srgbClr val="1F1F1F"/>
                </a:solidFill>
                <a:latin typeface="Calibri"/>
                <a:cs typeface="Calibri"/>
              </a:rPr>
              <a:t>reports, 3 per behaviour</a:t>
            </a:r>
          </a:p>
        </p:txBody>
      </p:sp>
      <p:sp>
        <p:nvSpPr>
          <p:cNvPr id="19" name="Rounded Rectangle 18"/>
          <p:cNvSpPr/>
          <p:nvPr/>
        </p:nvSpPr>
        <p:spPr>
          <a:xfrm>
            <a:off x="2693822" y="1783080"/>
            <a:ext cx="2145182" cy="1097280"/>
          </a:xfrm>
          <a:prstGeom prst="roundRect">
            <a:avLst>
              <a:gd name="adj" fmla="val 5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3822" y="1810512"/>
            <a:ext cx="2145182" cy="621792"/>
          </a:xfrm>
          <a:prstGeom prst="rect">
            <a:avLst/>
          </a:prstGeom>
          <a:noFill/>
        </p:spPr>
        <p:txBody>
          <a:bodyPr wrap="square" lIns="45720" tIns="27432" rIns="45720" bIns="27432" anchor="ctr">
            <a:noAutofit/>
          </a:bodyPr>
          <a:lstStyle/>
          <a:p>
            <a:pPr algn="ctr"/>
            <a:r>
              <a:rPr sz="3200" b="1" i="0">
                <a:solidFill>
                  <a:srgbClr val="820019"/>
                </a:solidFill>
                <a:latin typeface="Times New Roman"/>
                <a:cs typeface="Times New Roman"/>
              </a:rPr>
              <a:t>5</a:t>
            </a:r>
          </a:p>
        </p:txBody>
      </p:sp>
      <p:sp>
        <p:nvSpPr>
          <p:cNvPr id="21" name="TextBox 20"/>
          <p:cNvSpPr txBox="1"/>
          <p:nvPr/>
        </p:nvSpPr>
        <p:spPr>
          <a:xfrm>
            <a:off x="2693822" y="2432304"/>
            <a:ext cx="2145182" cy="384048"/>
          </a:xfrm>
          <a:prstGeom prst="rect">
            <a:avLst/>
          </a:prstGeom>
          <a:noFill/>
        </p:spPr>
        <p:txBody>
          <a:bodyPr wrap="square" lIns="45720" tIns="27432" rIns="45720" bIns="27432" anchor="ctr">
            <a:noAutofit/>
          </a:bodyPr>
          <a:lstStyle/>
          <a:p>
            <a:pPr algn="ctr"/>
            <a:r>
              <a:rPr sz="1300" b="0" i="0">
                <a:solidFill>
                  <a:srgbClr val="1F1F1F"/>
                </a:solidFill>
                <a:latin typeface="Calibri"/>
                <a:cs typeface="Calibri"/>
              </a:rPr>
              <a:t>ATT&amp;CK-mapped behaviours</a:t>
            </a:r>
          </a:p>
        </p:txBody>
      </p:sp>
      <p:sp>
        <p:nvSpPr>
          <p:cNvPr id="22" name="Rounded Rectangle 21"/>
          <p:cNvSpPr/>
          <p:nvPr/>
        </p:nvSpPr>
        <p:spPr>
          <a:xfrm>
            <a:off x="5021884" y="1783080"/>
            <a:ext cx="2145182" cy="1097280"/>
          </a:xfrm>
          <a:prstGeom prst="roundRect">
            <a:avLst>
              <a:gd name="adj" fmla="val 5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1884" y="1810512"/>
            <a:ext cx="2145182" cy="621792"/>
          </a:xfrm>
          <a:prstGeom prst="rect">
            <a:avLst/>
          </a:prstGeom>
          <a:noFill/>
        </p:spPr>
        <p:txBody>
          <a:bodyPr wrap="square" lIns="45720" tIns="27432" rIns="45720" bIns="27432" anchor="ctr">
            <a:noAutofit/>
          </a:bodyPr>
          <a:lstStyle/>
          <a:p>
            <a:pPr algn="ctr"/>
            <a:r>
              <a:rPr sz="3200" b="1" i="0">
                <a:solidFill>
                  <a:srgbClr val="820019"/>
                </a:solidFill>
                <a:latin typeface="Times New Roman"/>
                <a:cs typeface="Times New Roman"/>
              </a:rPr>
              <a:t>10 | 5</a:t>
            </a:r>
          </a:p>
        </p:txBody>
      </p:sp>
      <p:sp>
        <p:nvSpPr>
          <p:cNvPr id="24" name="TextBox 23"/>
          <p:cNvSpPr txBox="1"/>
          <p:nvPr/>
        </p:nvSpPr>
        <p:spPr>
          <a:xfrm>
            <a:off x="5021884" y="2432304"/>
            <a:ext cx="2145182" cy="384048"/>
          </a:xfrm>
          <a:prstGeom prst="rect">
            <a:avLst/>
          </a:prstGeom>
          <a:noFill/>
        </p:spPr>
        <p:txBody>
          <a:bodyPr wrap="square" lIns="45720" tIns="27432" rIns="45720" bIns="27432" anchor="ctr">
            <a:noAutofit/>
          </a:bodyPr>
          <a:lstStyle/>
          <a:p>
            <a:pPr algn="ctr"/>
            <a:r>
              <a:rPr sz="1300" b="0" i="0">
                <a:solidFill>
                  <a:srgbClr val="1F1F1F"/>
                </a:solidFill>
                <a:latin typeface="Calibri"/>
                <a:cs typeface="Calibri"/>
              </a:rPr>
              <a:t>train | held-out reports</a:t>
            </a:r>
          </a:p>
        </p:txBody>
      </p:sp>
      <p:sp>
        <p:nvSpPr>
          <p:cNvPr id="25" name="Rounded Rectangle 24"/>
          <p:cNvSpPr/>
          <p:nvPr/>
        </p:nvSpPr>
        <p:spPr>
          <a:xfrm>
            <a:off x="7349947" y="1783080"/>
            <a:ext cx="2145182" cy="1097280"/>
          </a:xfrm>
          <a:prstGeom prst="roundRect">
            <a:avLst>
              <a:gd name="adj" fmla="val 5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49947" y="1810512"/>
            <a:ext cx="2145182" cy="621792"/>
          </a:xfrm>
          <a:prstGeom prst="rect">
            <a:avLst/>
          </a:prstGeom>
          <a:noFill/>
        </p:spPr>
        <p:txBody>
          <a:bodyPr wrap="square" lIns="45720" tIns="27432" rIns="45720" bIns="27432" anchor="ctr">
            <a:noAutofit/>
          </a:bodyPr>
          <a:lstStyle/>
          <a:p>
            <a:pPr algn="ctr"/>
            <a:r>
              <a:rPr sz="3200" b="1" i="0">
                <a:solidFill>
                  <a:srgbClr val="820019"/>
                </a:solidFill>
                <a:latin typeface="Times New Roman"/>
                <a:cs typeface="Times New Roman"/>
              </a:rPr>
              <a:t>48</a:t>
            </a:r>
          </a:p>
        </p:txBody>
      </p:sp>
      <p:sp>
        <p:nvSpPr>
          <p:cNvPr id="27" name="TextBox 26"/>
          <p:cNvSpPr txBox="1"/>
          <p:nvPr/>
        </p:nvSpPr>
        <p:spPr>
          <a:xfrm>
            <a:off x="7349947" y="2432304"/>
            <a:ext cx="2145182" cy="384048"/>
          </a:xfrm>
          <a:prstGeom prst="rect">
            <a:avLst/>
          </a:prstGeom>
          <a:noFill/>
        </p:spPr>
        <p:txBody>
          <a:bodyPr wrap="square" lIns="45720" tIns="27432" rIns="45720" bIns="27432" anchor="ctr">
            <a:noAutofit/>
          </a:bodyPr>
          <a:lstStyle/>
          <a:p>
            <a:pPr algn="ctr"/>
            <a:r>
              <a:rPr sz="1300" b="0" i="0">
                <a:solidFill>
                  <a:srgbClr val="1F1F1F"/>
                </a:solidFill>
                <a:latin typeface="Calibri"/>
                <a:cs typeface="Calibri"/>
              </a:rPr>
              <a:t>replay events (Parquet)</a:t>
            </a:r>
          </a:p>
        </p:txBody>
      </p:sp>
      <p:sp>
        <p:nvSpPr>
          <p:cNvPr id="28" name="Rounded Rectangle 27"/>
          <p:cNvSpPr/>
          <p:nvPr/>
        </p:nvSpPr>
        <p:spPr>
          <a:xfrm>
            <a:off x="9678009" y="1783080"/>
            <a:ext cx="2145182" cy="1097280"/>
          </a:xfrm>
          <a:prstGeom prst="roundRect">
            <a:avLst>
              <a:gd name="adj" fmla="val 5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78009" y="1810512"/>
            <a:ext cx="2145182" cy="621792"/>
          </a:xfrm>
          <a:prstGeom prst="rect">
            <a:avLst/>
          </a:prstGeom>
          <a:noFill/>
        </p:spPr>
        <p:txBody>
          <a:bodyPr wrap="square" lIns="45720" tIns="27432" rIns="45720" bIns="27432" anchor="ctr">
            <a:noAutofit/>
          </a:bodyPr>
          <a:lstStyle/>
          <a:p>
            <a:pPr algn="ctr"/>
            <a:r>
              <a:rPr sz="3200" b="1" i="0">
                <a:solidFill>
                  <a:srgbClr val="820019"/>
                </a:solidFill>
                <a:latin typeface="Times New Roman"/>
                <a:cs typeface="Times New Roman"/>
              </a:rPr>
              <a:t>17</a:t>
            </a:r>
          </a:p>
        </p:txBody>
      </p:sp>
      <p:sp>
        <p:nvSpPr>
          <p:cNvPr id="30" name="TextBox 29"/>
          <p:cNvSpPr txBox="1"/>
          <p:nvPr/>
        </p:nvSpPr>
        <p:spPr>
          <a:xfrm>
            <a:off x="9678009" y="2432304"/>
            <a:ext cx="2145182" cy="384048"/>
          </a:xfrm>
          <a:prstGeom prst="rect">
            <a:avLst/>
          </a:prstGeom>
          <a:noFill/>
        </p:spPr>
        <p:txBody>
          <a:bodyPr wrap="square" lIns="45720" tIns="27432" rIns="45720" bIns="27432" anchor="ctr">
            <a:noAutofit/>
          </a:bodyPr>
          <a:lstStyle/>
          <a:p>
            <a:pPr algn="ctr"/>
            <a:r>
              <a:rPr sz="1300" b="0" i="0">
                <a:solidFill>
                  <a:srgbClr val="1F1F1F"/>
                </a:solidFill>
                <a:latin typeface="Calibri"/>
                <a:cs typeface="Calibri"/>
              </a:rPr>
              <a:t>labelled replay scenarios</a:t>
            </a:r>
          </a:p>
        </p:txBody>
      </p:sp>
      <p:sp>
        <p:nvSpPr>
          <p:cNvPr id="31" name="Rounded Rectangle 30"/>
          <p:cNvSpPr/>
          <p:nvPr/>
        </p:nvSpPr>
        <p:spPr>
          <a:xfrm>
            <a:off x="365760" y="3063240"/>
            <a:ext cx="5669280" cy="3246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127248"/>
            <a:ext cx="5303520" cy="384048"/>
          </a:xfrm>
          <a:prstGeom prst="rect">
            <a:avLst/>
          </a:prstGeom>
          <a:noFill/>
        </p:spPr>
        <p:txBody>
          <a:bodyPr wrap="square" lIns="45720" tIns="27432" rIns="45720" bIns="27432" anchor="ctr">
            <a:noAutofit/>
          </a:bodyPr>
          <a:lstStyle/>
          <a:p>
            <a:pPr algn="l"/>
            <a:r>
              <a:rPr sz="1900" b="1" i="0">
                <a:solidFill>
                  <a:srgbClr val="820019"/>
                </a:solidFill>
                <a:latin typeface="Times New Roman"/>
                <a:cs typeface="Times New Roman"/>
              </a:rPr>
              <a:t>Systems compared</a:t>
            </a:r>
          </a:p>
        </p:txBody>
      </p:sp>
      <p:sp>
        <p:nvSpPr>
          <p:cNvPr id="33" name="Oval 32"/>
          <p:cNvSpPr/>
          <p:nvPr/>
        </p:nvSpPr>
        <p:spPr>
          <a:xfrm>
            <a:off x="566928" y="3639312"/>
            <a:ext cx="365760" cy="36576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00" b="1" i="0">
                <a:solidFill>
                  <a:srgbClr val="FFFFFF"/>
                </a:solidFill>
                <a:latin typeface="Times New Roman"/>
                <a:cs typeface="Times New Roman"/>
              </a:rPr>
              <a:t>1</a:t>
            </a:r>
          </a:p>
        </p:txBody>
      </p:sp>
      <p:sp>
        <p:nvSpPr>
          <p:cNvPr id="34" name="TextBox 33"/>
          <p:cNvSpPr txBox="1"/>
          <p:nvPr/>
        </p:nvSpPr>
        <p:spPr>
          <a:xfrm>
            <a:off x="1051560" y="3584448"/>
            <a:ext cx="4846320" cy="566928"/>
          </a:xfrm>
          <a:prstGeom prst="rect">
            <a:avLst/>
          </a:prstGeom>
          <a:noFill/>
        </p:spPr>
        <p:txBody>
          <a:bodyPr wrap="square" lIns="18288" tIns="0" rIns="18288" bIns="0" anchor="ctr">
            <a:noAutofit/>
          </a:bodyPr>
          <a:lstStyle/>
          <a:p>
            <a:pPr algn="l">
              <a:spcAft>
                <a:spcPts val="0"/>
              </a:spcAft>
            </a:pPr>
            <a:r>
              <a:rPr sz="1550" b="1" i="0">
                <a:solidFill>
                  <a:srgbClr val="1F1F1F"/>
                </a:solidFill>
                <a:latin typeface="Calibri"/>
                <a:cs typeface="Calibri"/>
              </a:rPr>
              <a:t>Manual rules</a:t>
            </a:r>
          </a:p>
          <a:p>
            <a:pPr algn="l"/>
            <a:r>
              <a:rPr sz="1300" b="0" i="0">
                <a:solidFill>
                  <a:srgbClr val="595959"/>
                </a:solidFill>
                <a:latin typeface="Calibri"/>
                <a:cs typeface="Calibri"/>
              </a:rPr>
              <a:t>5 hand-written Scala rules (the fair baseline)</a:t>
            </a:r>
          </a:p>
        </p:txBody>
      </p:sp>
      <p:sp>
        <p:nvSpPr>
          <p:cNvPr id="35" name="Oval 34"/>
          <p:cNvSpPr/>
          <p:nvPr/>
        </p:nvSpPr>
        <p:spPr>
          <a:xfrm>
            <a:off x="566928" y="4297679"/>
            <a:ext cx="365760" cy="36576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00" b="1" i="0">
                <a:solidFill>
                  <a:srgbClr val="FFFFFF"/>
                </a:solidFill>
                <a:latin typeface="Times New Roman"/>
                <a:cs typeface="Times New Roman"/>
              </a:rPr>
              <a:t>2</a:t>
            </a:r>
          </a:p>
        </p:txBody>
      </p:sp>
      <p:sp>
        <p:nvSpPr>
          <p:cNvPr id="36" name="TextBox 35"/>
          <p:cNvSpPr txBox="1"/>
          <p:nvPr/>
        </p:nvSpPr>
        <p:spPr>
          <a:xfrm>
            <a:off x="1051560" y="4242816"/>
            <a:ext cx="4846320" cy="566928"/>
          </a:xfrm>
          <a:prstGeom prst="rect">
            <a:avLst/>
          </a:prstGeom>
          <a:noFill/>
        </p:spPr>
        <p:txBody>
          <a:bodyPr wrap="square" lIns="18288" tIns="0" rIns="18288" bIns="0" anchor="ctr">
            <a:noAutofit/>
          </a:bodyPr>
          <a:lstStyle/>
          <a:p>
            <a:pPr algn="l">
              <a:spcAft>
                <a:spcPts val="0"/>
              </a:spcAft>
            </a:pPr>
            <a:r>
              <a:rPr sz="1550" b="1" i="0">
                <a:solidFill>
                  <a:srgbClr val="1F1F1F"/>
                </a:solidFill>
                <a:latin typeface="Calibri"/>
                <a:cs typeface="Calibri"/>
              </a:rPr>
              <a:t>Direct LLM</a:t>
            </a:r>
          </a:p>
          <a:p>
            <a:pPr algn="l"/>
            <a:r>
              <a:rPr sz="1300" b="0" i="0">
                <a:solidFill>
                  <a:srgbClr val="595959"/>
                </a:solidFill>
                <a:latin typeface="Calibri"/>
                <a:cs typeface="Calibri"/>
              </a:rPr>
              <a:t>report → Scala rule in one shot</a:t>
            </a:r>
          </a:p>
        </p:txBody>
      </p:sp>
      <p:sp>
        <p:nvSpPr>
          <p:cNvPr id="37" name="Oval 36"/>
          <p:cNvSpPr/>
          <p:nvPr/>
        </p:nvSpPr>
        <p:spPr>
          <a:xfrm>
            <a:off x="566928" y="4956047"/>
            <a:ext cx="365760" cy="36576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00" b="1" i="0">
                <a:solidFill>
                  <a:srgbClr val="FFFFFF"/>
                </a:solidFill>
                <a:latin typeface="Times New Roman"/>
                <a:cs typeface="Times New Roman"/>
              </a:rPr>
              <a:t>3</a:t>
            </a:r>
          </a:p>
        </p:txBody>
      </p:sp>
      <p:sp>
        <p:nvSpPr>
          <p:cNvPr id="38" name="TextBox 37"/>
          <p:cNvSpPr txBox="1"/>
          <p:nvPr/>
        </p:nvSpPr>
        <p:spPr>
          <a:xfrm>
            <a:off x="1051560" y="4901183"/>
            <a:ext cx="4846320" cy="566928"/>
          </a:xfrm>
          <a:prstGeom prst="rect">
            <a:avLst/>
          </a:prstGeom>
          <a:noFill/>
        </p:spPr>
        <p:txBody>
          <a:bodyPr wrap="square" lIns="18288" tIns="0" rIns="18288" bIns="0" anchor="ctr">
            <a:noAutofit/>
          </a:bodyPr>
          <a:lstStyle/>
          <a:p>
            <a:pPr algn="l">
              <a:spcAft>
                <a:spcPts val="0"/>
              </a:spcAft>
            </a:pPr>
            <a:r>
              <a:rPr sz="1550" b="1" i="0">
                <a:solidFill>
                  <a:srgbClr val="1F1F1F"/>
                </a:solidFill>
                <a:latin typeface="Calibri"/>
                <a:cs typeface="Calibri"/>
              </a:rPr>
              <a:t>Schema-constrained LLM</a:t>
            </a:r>
          </a:p>
          <a:p>
            <a:pPr algn="l"/>
            <a:r>
              <a:rPr sz="1300" b="0" i="0">
                <a:solidFill>
                  <a:srgbClr val="595959"/>
                </a:solidFill>
                <a:latin typeface="Calibri"/>
                <a:cs typeface="Calibri"/>
              </a:rPr>
              <a:t>same, limited to schema fields; may reject</a:t>
            </a:r>
          </a:p>
        </p:txBody>
      </p:sp>
      <p:sp>
        <p:nvSpPr>
          <p:cNvPr id="39" name="Oval 38"/>
          <p:cNvSpPr/>
          <p:nvPr/>
        </p:nvSpPr>
        <p:spPr>
          <a:xfrm>
            <a:off x="566928" y="5614416"/>
            <a:ext cx="365760" cy="365760"/>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00" b="1" i="0">
                <a:solidFill>
                  <a:srgbClr val="FFFFFF"/>
                </a:solidFill>
                <a:latin typeface="Times New Roman"/>
                <a:cs typeface="Times New Roman"/>
              </a:rPr>
              <a:t>4</a:t>
            </a:r>
          </a:p>
        </p:txBody>
      </p:sp>
      <p:sp>
        <p:nvSpPr>
          <p:cNvPr id="40" name="TextBox 39"/>
          <p:cNvSpPr txBox="1"/>
          <p:nvPr/>
        </p:nvSpPr>
        <p:spPr>
          <a:xfrm>
            <a:off x="1051560" y="5559552"/>
            <a:ext cx="4846320" cy="566928"/>
          </a:xfrm>
          <a:prstGeom prst="rect">
            <a:avLst/>
          </a:prstGeom>
          <a:noFill/>
        </p:spPr>
        <p:txBody>
          <a:bodyPr wrap="square" lIns="18288" tIns="0" rIns="18288" bIns="0" anchor="ctr">
            <a:noAutofit/>
          </a:bodyPr>
          <a:lstStyle/>
          <a:p>
            <a:pPr algn="l">
              <a:spcAft>
                <a:spcPts val="0"/>
              </a:spcAft>
            </a:pPr>
            <a:r>
              <a:rPr sz="1550" b="1" i="0">
                <a:solidFill>
                  <a:srgbClr val="1F1F1F"/>
                </a:solidFill>
                <a:latin typeface="Calibri"/>
                <a:cs typeface="Calibri"/>
              </a:rPr>
              <a:t>SENTINEL Forge</a:t>
            </a:r>
          </a:p>
          <a:p>
            <a:pPr algn="l"/>
            <a:r>
              <a:rPr sz="1300" b="0" i="0">
                <a:solidFill>
                  <a:srgbClr val="595959"/>
                </a:solidFill>
                <a:latin typeface="Calibri"/>
                <a:cs typeface="Calibri"/>
              </a:rPr>
              <a:t>NLP → Stage 3 → compiler → Spark, plus a gate-off ablation</a:t>
            </a:r>
          </a:p>
        </p:txBody>
      </p:sp>
      <p:sp>
        <p:nvSpPr>
          <p:cNvPr id="41" name="Rounded Rectangle 40"/>
          <p:cNvSpPr/>
          <p:nvPr/>
        </p:nvSpPr>
        <p:spPr>
          <a:xfrm>
            <a:off x="6217920" y="3063240"/>
            <a:ext cx="5605272" cy="3246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3127248"/>
            <a:ext cx="5303520" cy="384048"/>
          </a:xfrm>
          <a:prstGeom prst="rect">
            <a:avLst/>
          </a:prstGeom>
          <a:noFill/>
        </p:spPr>
        <p:txBody>
          <a:bodyPr wrap="square" lIns="45720" tIns="27432" rIns="45720" bIns="27432" anchor="ctr">
            <a:noAutofit/>
          </a:bodyPr>
          <a:lstStyle/>
          <a:p>
            <a:pPr algn="l"/>
            <a:r>
              <a:rPr sz="1900" b="1" i="0">
                <a:solidFill>
                  <a:srgbClr val="820019"/>
                </a:solidFill>
                <a:latin typeface="Times New Roman"/>
                <a:cs typeface="Times New Roman"/>
              </a:rPr>
              <a:t>What is measured, and how it stays fair</a:t>
            </a:r>
          </a:p>
        </p:txBody>
      </p:sp>
      <p:sp>
        <p:nvSpPr>
          <p:cNvPr id="43" name="TextBox 42"/>
          <p:cNvSpPr txBox="1"/>
          <p:nvPr/>
        </p:nvSpPr>
        <p:spPr>
          <a:xfrm>
            <a:off x="6400800" y="3566160"/>
            <a:ext cx="5303520" cy="2743200"/>
          </a:xfrm>
          <a:prstGeom prst="rect">
            <a:avLst/>
          </a:prstGeom>
          <a:noFill/>
        </p:spPr>
        <p:txBody>
          <a:bodyPr wrap="square" lIns="45720" tIns="27432" rIns="45720" bIns="27432" anchor="t">
            <a:noAutofit/>
          </a:bodyPr>
          <a:lstStyle/>
          <a:p>
            <a:pPr algn="l" marL="182880" indent="-182880">
              <a:spcAft>
                <a:spcPts val="900"/>
              </a:spcAft>
              <a:buClr>
                <a:srgbClr val="820019"/>
              </a:buClr>
              <a:buFont typeface="Arial"/>
              <a:buChar char="•"/>
            </a:pPr>
            <a:r>
              <a:rPr sz="1550" b="1" i="0">
                <a:solidFill>
                  <a:srgbClr val="002060"/>
                </a:solidFill>
                <a:latin typeface="Calibri"/>
                <a:cs typeface="Calibri"/>
              </a:rPr>
              <a:t>Extraction:</a:t>
            </a:r>
            <a:r>
              <a:rPr sz="1550" b="0" i="0">
                <a:solidFill>
                  <a:srgbClr val="1F1F1F"/>
                </a:solidFill>
                <a:latin typeface="Calibri"/>
                <a:cs typeface="Calibri"/>
              </a:rPr>
              <a:t> precision, recall, F1, behaviour accuracy, provenance rate</a:t>
            </a:r>
          </a:p>
          <a:p>
            <a:pPr algn="l" marL="182880" indent="-182880">
              <a:spcAft>
                <a:spcPts val="900"/>
              </a:spcAft>
              <a:buClr>
                <a:srgbClr val="820019"/>
              </a:buClr>
              <a:buFont typeface="Arial"/>
              <a:buChar char="•"/>
            </a:pPr>
            <a:r>
              <a:rPr sz="1550" b="1" i="0">
                <a:solidFill>
                  <a:srgbClr val="002060"/>
                </a:solidFill>
                <a:latin typeface="Calibri"/>
                <a:cs typeface="Calibri"/>
              </a:rPr>
              <a:t>Detection:</a:t>
            </a:r>
            <a:r>
              <a:rPr sz="1550" b="0" i="0">
                <a:solidFill>
                  <a:srgbClr val="1F1F1F"/>
                </a:solidFill>
                <a:latin typeface="Calibri"/>
                <a:cs typeface="Calibri"/>
              </a:rPr>
              <a:t> replay verdicts vs independent labels, incl. window-boundary negatives</a:t>
            </a:r>
          </a:p>
          <a:p>
            <a:pPr algn="l" marL="182880" indent="-182880">
              <a:spcAft>
                <a:spcPts val="900"/>
              </a:spcAft>
              <a:buClr>
                <a:srgbClr val="820019"/>
              </a:buClr>
              <a:buFont typeface="Arial"/>
              <a:buChar char="•"/>
            </a:pPr>
            <a:r>
              <a:rPr sz="1550" b="1" i="0">
                <a:solidFill>
                  <a:srgbClr val="002060"/>
                </a:solidFill>
                <a:latin typeface="Calibri"/>
                <a:cs typeface="Calibri"/>
              </a:rPr>
              <a:t>Robustness:</a:t>
            </a:r>
            <a:r>
              <a:rPr sz="1550" b="0" i="0">
                <a:solidFill>
                  <a:srgbClr val="1F1F1F"/>
                </a:solidFill>
                <a:latin typeface="Calibri"/>
                <a:cs typeface="Calibri"/>
              </a:rPr>
              <a:t> policy outage, missing field, 6 adversarial fixtures</a:t>
            </a:r>
          </a:p>
          <a:p>
            <a:pPr algn="l" marL="182880" indent="-182880">
              <a:spcAft>
                <a:spcPts val="900"/>
              </a:spcAft>
              <a:buClr>
                <a:srgbClr val="820019"/>
              </a:buClr>
              <a:buFont typeface="Arial"/>
              <a:buChar char="•"/>
            </a:pPr>
            <a:r>
              <a:rPr sz="1550" b="1" i="0">
                <a:solidFill>
                  <a:srgbClr val="002060"/>
                </a:solidFill>
                <a:latin typeface="Calibri"/>
                <a:cs typeface="Calibri"/>
              </a:rPr>
              <a:t>Performance:</a:t>
            </a:r>
            <a:r>
              <a:rPr sz="1550" b="0" i="0">
                <a:solidFill>
                  <a:srgbClr val="1F1F1F"/>
                </a:solidFill>
                <a:latin typeface="Calibri"/>
                <a:cs typeface="Calibri"/>
              </a:rPr>
              <a:t> 10 runs per behaviour: mean, p50, p95, events/s</a:t>
            </a:r>
          </a:p>
          <a:p>
            <a:pPr algn="l" marL="182880" indent="-182880">
              <a:spcAft>
                <a:spcPts val="900"/>
              </a:spcAft>
              <a:buClr>
                <a:srgbClr val="820019"/>
              </a:buClr>
              <a:buFont typeface="Arial"/>
              <a:buChar char="•"/>
            </a:pPr>
            <a:r>
              <a:rPr sz="1550" b="1" i="0">
                <a:solidFill>
                  <a:srgbClr val="002060"/>
                </a:solidFill>
                <a:latin typeface="Calibri"/>
                <a:cs typeface="Calibri"/>
              </a:rPr>
              <a:t>Leakage control:</a:t>
            </a:r>
            <a:r>
              <a:rPr sz="1550" b="0" i="0">
                <a:solidFill>
                  <a:srgbClr val="1F1F1F"/>
                </a:solidFill>
                <a:latin typeface="Calibri"/>
                <a:cs typeface="Calibri"/>
              </a:rPr>
              <a:t> paraphrases stay in train; held-out = a different incident</a:t>
            </a:r>
          </a:p>
        </p:txBody>
      </p:sp>
    </p:spTree>
    <p:extLst>
      <p:ext uri="{BB962C8B-B14F-4D97-AF65-F5344CB8AC3E}">
        <p14:creationId xmlns:p14="http://schemas.microsoft.com/office/powerpoint/2010/main" val="1177270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52C41-1074-2883-4738-AE97FEAA74E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F6ACC2-694B-82B6-8632-3C8FD51D076C}"/>
              </a:ext>
            </a:extLst>
          </p:cNvPr>
          <p:cNvSpPr>
            <a:spLocks noGrp="1"/>
          </p:cNvSpPr>
          <p:nvPr>
            <p:ph type="sldNum" sz="quarter" idx="12"/>
          </p:nvPr>
        </p:nvSpPr>
        <p:spPr/>
        <p:txBody>
          <a:bodyPr/>
          <a:lstStyle/>
          <a:p>
            <a:fld id="{C56FAF6A-4925-4D1E-8078-ECEA64474517}" type="slidenum">
              <a:rPr lang="en-IN" smtClean="0"/>
              <a:t>9</a:t>
            </a:fld>
            <a:endParaRPr lang="en-IN"/>
          </a:p>
        </p:txBody>
      </p:sp>
      <p:sp>
        <p:nvSpPr>
          <p:cNvPr id="8" name="TextBox 7">
            <a:extLst>
              <a:ext uri="{FF2B5EF4-FFF2-40B4-BE49-F238E27FC236}">
                <a16:creationId xmlns:a16="http://schemas.microsoft.com/office/drawing/2014/main" id="{A5FD0367-A764-D9DF-5CE9-41A65E18A3C3}"/>
              </a:ext>
            </a:extLst>
          </p:cNvPr>
          <p:cNvSpPr txBox="1"/>
          <p:nvPr/>
        </p:nvSpPr>
        <p:spPr>
          <a:xfrm>
            <a:off x="1235232" y="430960"/>
            <a:ext cx="10607040" cy="584775"/>
          </a:xfrm>
          <a:prstGeom prst="rect">
            <a:avLst/>
          </a:prstGeom>
          <a:noFill/>
        </p:spPr>
        <p:txBody>
          <a:bodyPr wrap="square">
            <a:spAutoFit/>
          </a:bodyPr>
          <a:lstStyle/>
          <a:p>
            <a:pPr>
              <a:defRPr/>
            </a:pPr>
            <a:r>
              <a:rPr lang="en-US" sz="3200" b="1" dirty="0">
                <a:latin typeface="Times New Roman"/>
                <a:cs typeface="Times New Roman"/>
              </a:rPr>
              <a:t>Results (1/2): Detection Correctness</a:t>
            </a: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r>
              <a:rPr lang="en-IN" sz="3200" b="1" dirty="0">
                <a:latin typeface="Times New Roman" panose="02020603050405020304" pitchFamily="18" charset="0"/>
                <a:cs typeface="Times New Roman" panose="02020603050405020304" pitchFamily="18" charset="0"/>
              </a:rPr>
              <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61C24C13-9C5F-CA04-4016-D898B23360EE}"/>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3A7DAF47-B0A8-4001-C2EA-4D7096EF3F02}"/>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6DEDF8-2BE2-FEC2-30BC-D26661D2221D}"/>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67DF8C31-B7B8-432B-0659-9C8B32CA0080}"/>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3CA801F8-68C8-B0B6-E87A-DC523D364B8E}"/>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1" i="0">
                <a:solidFill>
                  <a:srgbClr val="820019"/>
                </a:solidFill>
                <a:latin typeface="Calibri"/>
                <a:cs typeface="Calibri"/>
              </a:rPr>
              <a:t>SENTINEL Forge is correct on every replayed scenario</a:t>
            </a:r>
            <a:r>
              <a:rPr sz="2400" b="0" i="0">
                <a:solidFill>
                  <a:srgbClr val="1F1F1F"/>
                </a:solidFill>
                <a:latin typeface="Calibri"/>
                <a:cs typeface="Calibri"/>
              </a:rPr>
              <a:t>; LLM-only baselines are not.</a:t>
            </a:r>
          </a:p>
        </p:txBody>
      </p:sp>
      <p:sp>
        <p:nvSpPr>
          <p:cNvPr id="16" name="Rounded Rectangle 15"/>
          <p:cNvSpPr/>
          <p:nvPr/>
        </p:nvSpPr>
        <p:spPr>
          <a:xfrm>
            <a:off x="365760" y="1783080"/>
            <a:ext cx="7223759" cy="658368"/>
          </a:xfrm>
          <a:prstGeom prst="roundRect">
            <a:avLst>
              <a:gd name="adj" fmla="val 4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783080"/>
            <a:ext cx="2194560" cy="658368"/>
          </a:xfrm>
          <a:prstGeom prst="rect">
            <a:avLst/>
          </a:prstGeom>
          <a:noFill/>
        </p:spPr>
        <p:txBody>
          <a:bodyPr wrap="square" lIns="45720" tIns="27432" rIns="45720" bIns="27432" anchor="ctr">
            <a:noAutofit/>
          </a:bodyPr>
          <a:lstStyle/>
          <a:p>
            <a:pPr algn="l"/>
            <a:r>
              <a:rPr sz="1500" b="1" i="0">
                <a:solidFill>
                  <a:srgbClr val="FFFFFF"/>
                </a:solidFill>
                <a:latin typeface="Times New Roman"/>
                <a:cs typeface="Times New Roman"/>
              </a:rPr>
              <a:t>System</a:t>
            </a:r>
          </a:p>
        </p:txBody>
      </p:sp>
      <p:sp>
        <p:nvSpPr>
          <p:cNvPr id="18" name="TextBox 17"/>
          <p:cNvSpPr txBox="1"/>
          <p:nvPr/>
        </p:nvSpPr>
        <p:spPr>
          <a:xfrm>
            <a:off x="2560320" y="1783080"/>
            <a:ext cx="768096" cy="658368"/>
          </a:xfrm>
          <a:prstGeom prst="rect">
            <a:avLst/>
          </a:prstGeom>
          <a:noFill/>
        </p:spPr>
        <p:txBody>
          <a:bodyPr wrap="square" lIns="0" tIns="0" rIns="0" bIns="0" anchor="ctr">
            <a:noAutofit/>
          </a:bodyPr>
          <a:lstStyle/>
          <a:p>
            <a:pPr algn="ctr"/>
            <a:r>
              <a:rPr sz="1350" b="1" i="0">
                <a:solidFill>
                  <a:srgbClr val="FFFFFF"/>
                </a:solidFill>
                <a:latin typeface="Calibri"/>
                <a:cs typeface="Calibri"/>
              </a:rPr>
              <a:t>B1</a:t>
            </a:r>
          </a:p>
          <a:p>
            <a:pPr algn="ctr"/>
            <a:r>
              <a:rPr sz="1050" b="0" i="0">
                <a:solidFill>
                  <a:srgbClr val="FFFFFF"/>
                </a:solidFill>
                <a:latin typeface="Calibri"/>
                <a:cs typeface="Calibri"/>
              </a:rPr>
              <a:t>brute force</a:t>
            </a:r>
          </a:p>
        </p:txBody>
      </p:sp>
      <p:sp>
        <p:nvSpPr>
          <p:cNvPr id="19" name="TextBox 18"/>
          <p:cNvSpPr txBox="1"/>
          <p:nvPr/>
        </p:nvSpPr>
        <p:spPr>
          <a:xfrm>
            <a:off x="3328415" y="1783080"/>
            <a:ext cx="768096" cy="658368"/>
          </a:xfrm>
          <a:prstGeom prst="rect">
            <a:avLst/>
          </a:prstGeom>
          <a:noFill/>
        </p:spPr>
        <p:txBody>
          <a:bodyPr wrap="square" lIns="0" tIns="0" rIns="0" bIns="0" anchor="ctr">
            <a:noAutofit/>
          </a:bodyPr>
          <a:lstStyle/>
          <a:p>
            <a:pPr algn="ctr"/>
            <a:r>
              <a:rPr sz="1350" b="1" i="0">
                <a:solidFill>
                  <a:srgbClr val="FFFFFF"/>
                </a:solidFill>
                <a:latin typeface="Calibri"/>
                <a:cs typeface="Calibri"/>
              </a:rPr>
              <a:t>B2</a:t>
            </a:r>
          </a:p>
          <a:p>
            <a:pPr algn="ctr"/>
            <a:r>
              <a:rPr sz="1050" b="0" i="0">
                <a:solidFill>
                  <a:srgbClr val="FFFFFF"/>
                </a:solidFill>
                <a:latin typeface="Calibri"/>
                <a:cs typeface="Calibri"/>
              </a:rPr>
              <a:t>spray</a:t>
            </a:r>
          </a:p>
        </p:txBody>
      </p:sp>
      <p:sp>
        <p:nvSpPr>
          <p:cNvPr id="20" name="TextBox 19"/>
          <p:cNvSpPr txBox="1"/>
          <p:nvPr/>
        </p:nvSpPr>
        <p:spPr>
          <a:xfrm>
            <a:off x="4096511" y="1783080"/>
            <a:ext cx="768096" cy="658368"/>
          </a:xfrm>
          <a:prstGeom prst="rect">
            <a:avLst/>
          </a:prstGeom>
          <a:noFill/>
        </p:spPr>
        <p:txBody>
          <a:bodyPr wrap="square" lIns="0" tIns="0" rIns="0" bIns="0" anchor="ctr">
            <a:noAutofit/>
          </a:bodyPr>
          <a:lstStyle/>
          <a:p>
            <a:pPr algn="ctr"/>
            <a:r>
              <a:rPr sz="1350" b="1" i="0">
                <a:solidFill>
                  <a:srgbClr val="FFFFFF"/>
                </a:solidFill>
                <a:latin typeface="Calibri"/>
                <a:cs typeface="Calibri"/>
              </a:rPr>
              <a:t>B3</a:t>
            </a:r>
          </a:p>
          <a:p>
            <a:pPr algn="ctr"/>
            <a:r>
              <a:rPr sz="1050" b="0" i="0">
                <a:solidFill>
                  <a:srgbClr val="FFFFFF"/>
                </a:solidFill>
                <a:latin typeface="Calibri"/>
                <a:cs typeface="Calibri"/>
              </a:rPr>
              <a:t>sessions</a:t>
            </a:r>
          </a:p>
        </p:txBody>
      </p:sp>
      <p:sp>
        <p:nvSpPr>
          <p:cNvPr id="21" name="TextBox 20"/>
          <p:cNvSpPr txBox="1"/>
          <p:nvPr/>
        </p:nvSpPr>
        <p:spPr>
          <a:xfrm>
            <a:off x="4864608" y="1783080"/>
            <a:ext cx="768096" cy="658368"/>
          </a:xfrm>
          <a:prstGeom prst="rect">
            <a:avLst/>
          </a:prstGeom>
          <a:noFill/>
        </p:spPr>
        <p:txBody>
          <a:bodyPr wrap="square" lIns="0" tIns="0" rIns="0" bIns="0" anchor="ctr">
            <a:noAutofit/>
          </a:bodyPr>
          <a:lstStyle/>
          <a:p>
            <a:pPr algn="ctr"/>
            <a:r>
              <a:rPr sz="1350" b="1" i="0">
                <a:solidFill>
                  <a:srgbClr val="FFFFFF"/>
                </a:solidFill>
                <a:latin typeface="Calibri"/>
                <a:cs typeface="Calibri"/>
              </a:rPr>
              <a:t>B4</a:t>
            </a:r>
          </a:p>
          <a:p>
            <a:pPr algn="ctr"/>
            <a:r>
              <a:rPr sz="1050" b="0" i="0">
                <a:solidFill>
                  <a:srgbClr val="FFFFFF"/>
                </a:solidFill>
                <a:latin typeface="Calibri"/>
                <a:cs typeface="Calibri"/>
              </a:rPr>
              <a:t>svc acct</a:t>
            </a:r>
          </a:p>
        </p:txBody>
      </p:sp>
      <p:sp>
        <p:nvSpPr>
          <p:cNvPr id="22" name="TextBox 21"/>
          <p:cNvSpPr txBox="1"/>
          <p:nvPr/>
        </p:nvSpPr>
        <p:spPr>
          <a:xfrm>
            <a:off x="5632704" y="1783080"/>
            <a:ext cx="768096" cy="658368"/>
          </a:xfrm>
          <a:prstGeom prst="rect">
            <a:avLst/>
          </a:prstGeom>
          <a:noFill/>
        </p:spPr>
        <p:txBody>
          <a:bodyPr wrap="square" lIns="0" tIns="0" rIns="0" bIns="0" anchor="ctr">
            <a:noAutofit/>
          </a:bodyPr>
          <a:lstStyle/>
          <a:p>
            <a:pPr algn="ctr"/>
            <a:r>
              <a:rPr sz="1350" b="1" i="0">
                <a:solidFill>
                  <a:srgbClr val="FFFFFF"/>
                </a:solidFill>
                <a:latin typeface="Calibri"/>
                <a:cs typeface="Calibri"/>
              </a:rPr>
              <a:t>B5</a:t>
            </a:r>
          </a:p>
          <a:p>
            <a:pPr algn="ctr"/>
            <a:r>
              <a:rPr sz="1050" b="0" i="0">
                <a:solidFill>
                  <a:srgbClr val="FFFFFF"/>
                </a:solidFill>
                <a:latin typeface="Calibri"/>
                <a:cs typeface="Calibri"/>
              </a:rPr>
              <a:t>MFA</a:t>
            </a:r>
          </a:p>
        </p:txBody>
      </p:sp>
      <p:sp>
        <p:nvSpPr>
          <p:cNvPr id="23" name="TextBox 22"/>
          <p:cNvSpPr txBox="1"/>
          <p:nvPr/>
        </p:nvSpPr>
        <p:spPr>
          <a:xfrm>
            <a:off x="6400800" y="1783080"/>
            <a:ext cx="1188720" cy="658368"/>
          </a:xfrm>
          <a:prstGeom prst="rect">
            <a:avLst/>
          </a:prstGeom>
          <a:noFill/>
        </p:spPr>
        <p:txBody>
          <a:bodyPr wrap="square" lIns="45720" tIns="27432" rIns="45720" bIns="27432" anchor="ctr">
            <a:noAutofit/>
          </a:bodyPr>
          <a:lstStyle/>
          <a:p>
            <a:pPr algn="ctr"/>
            <a:r>
              <a:rPr sz="1500" b="1" i="0">
                <a:solidFill>
                  <a:srgbClr val="FFFFFF"/>
                </a:solidFill>
                <a:latin typeface="Times New Roman"/>
                <a:cs typeface="Times New Roman"/>
              </a:rPr>
              <a:t>Result</a:t>
            </a:r>
          </a:p>
        </p:txBody>
      </p:sp>
      <p:sp>
        <p:nvSpPr>
          <p:cNvPr id="24" name="Rounded Rectangle 23"/>
          <p:cNvSpPr/>
          <p:nvPr/>
        </p:nvSpPr>
        <p:spPr>
          <a:xfrm>
            <a:off x="365760" y="2487168"/>
            <a:ext cx="7223759" cy="694944"/>
          </a:xfrm>
          <a:prstGeom prst="roundRect">
            <a:avLst>
              <a:gd name="adj" fmla="val 5000"/>
            </a:avLst>
          </a:prstGeom>
          <a:solidFill>
            <a:srgbClr val="F7F8FB"/>
          </a:solidFill>
          <a:ln w="6350">
            <a:solidFill>
              <a:srgbClr val="D9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487168"/>
            <a:ext cx="2194560" cy="694944"/>
          </a:xfrm>
          <a:prstGeom prst="rect">
            <a:avLst/>
          </a:prstGeom>
          <a:noFill/>
        </p:spPr>
        <p:txBody>
          <a:bodyPr wrap="square" lIns="45720" tIns="27432" rIns="45720" bIns="27432" anchor="ctr">
            <a:noAutofit/>
          </a:bodyPr>
          <a:lstStyle/>
          <a:p>
            <a:pPr algn="l"/>
            <a:r>
              <a:rPr sz="1600" b="1" i="0">
                <a:solidFill>
                  <a:srgbClr val="1F1F1F"/>
                </a:solidFill>
                <a:latin typeface="Times New Roman"/>
                <a:cs typeface="Times New Roman"/>
              </a:rPr>
              <a:t>Manual rules</a:t>
            </a:r>
          </a:p>
        </p:txBody>
      </p:sp>
      <p:sp>
        <p:nvSpPr>
          <p:cNvPr id="26" name="Oval 25"/>
          <p:cNvSpPr/>
          <p:nvPr/>
        </p:nvSpPr>
        <p:spPr>
          <a:xfrm>
            <a:off x="2761487" y="2651760"/>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aCheck_white.png"/>
          <p:cNvPicPr>
            <a:picLocks noChangeAspect="1"/>
          </p:cNvPicPr>
          <p:nvPr/>
        </p:nvPicPr>
        <p:blipFill>
          <a:blip r:embed="rId3"/>
          <a:stretch>
            <a:fillRect/>
          </a:stretch>
        </p:blipFill>
        <p:spPr>
          <a:xfrm>
            <a:off x="2849270" y="2739542"/>
            <a:ext cx="190195" cy="190195"/>
          </a:xfrm>
          <a:prstGeom prst="rect">
            <a:avLst/>
          </a:prstGeom>
        </p:spPr>
      </p:pic>
      <p:sp>
        <p:nvSpPr>
          <p:cNvPr id="28" name="Oval 27"/>
          <p:cNvSpPr/>
          <p:nvPr/>
        </p:nvSpPr>
        <p:spPr>
          <a:xfrm>
            <a:off x="3529583" y="2651760"/>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aCheck_white.png"/>
          <p:cNvPicPr>
            <a:picLocks noChangeAspect="1"/>
          </p:cNvPicPr>
          <p:nvPr/>
        </p:nvPicPr>
        <p:blipFill>
          <a:blip r:embed="rId3"/>
          <a:stretch>
            <a:fillRect/>
          </a:stretch>
        </p:blipFill>
        <p:spPr>
          <a:xfrm>
            <a:off x="3617366" y="2739542"/>
            <a:ext cx="190195" cy="190195"/>
          </a:xfrm>
          <a:prstGeom prst="rect">
            <a:avLst/>
          </a:prstGeom>
        </p:spPr>
      </p:pic>
      <p:sp>
        <p:nvSpPr>
          <p:cNvPr id="30" name="Oval 29"/>
          <p:cNvSpPr/>
          <p:nvPr/>
        </p:nvSpPr>
        <p:spPr>
          <a:xfrm>
            <a:off x="4297679" y="2651760"/>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FaCheck_white.png"/>
          <p:cNvPicPr>
            <a:picLocks noChangeAspect="1"/>
          </p:cNvPicPr>
          <p:nvPr/>
        </p:nvPicPr>
        <p:blipFill>
          <a:blip r:embed="rId3"/>
          <a:stretch>
            <a:fillRect/>
          </a:stretch>
        </p:blipFill>
        <p:spPr>
          <a:xfrm>
            <a:off x="4385462" y="2739542"/>
            <a:ext cx="190195" cy="190195"/>
          </a:xfrm>
          <a:prstGeom prst="rect">
            <a:avLst/>
          </a:prstGeom>
        </p:spPr>
      </p:pic>
      <p:sp>
        <p:nvSpPr>
          <p:cNvPr id="32" name="Oval 31"/>
          <p:cNvSpPr/>
          <p:nvPr/>
        </p:nvSpPr>
        <p:spPr>
          <a:xfrm>
            <a:off x="5065776" y="2651760"/>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aCheck_white.png"/>
          <p:cNvPicPr>
            <a:picLocks noChangeAspect="1"/>
          </p:cNvPicPr>
          <p:nvPr/>
        </p:nvPicPr>
        <p:blipFill>
          <a:blip r:embed="rId3"/>
          <a:stretch>
            <a:fillRect/>
          </a:stretch>
        </p:blipFill>
        <p:spPr>
          <a:xfrm>
            <a:off x="5153558" y="2739542"/>
            <a:ext cx="190195" cy="190195"/>
          </a:xfrm>
          <a:prstGeom prst="rect">
            <a:avLst/>
          </a:prstGeom>
        </p:spPr>
      </p:pic>
      <p:sp>
        <p:nvSpPr>
          <p:cNvPr id="34" name="Oval 33"/>
          <p:cNvSpPr/>
          <p:nvPr/>
        </p:nvSpPr>
        <p:spPr>
          <a:xfrm>
            <a:off x="5833872" y="2651760"/>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FaCheck_white.png"/>
          <p:cNvPicPr>
            <a:picLocks noChangeAspect="1"/>
          </p:cNvPicPr>
          <p:nvPr/>
        </p:nvPicPr>
        <p:blipFill>
          <a:blip r:embed="rId3"/>
          <a:stretch>
            <a:fillRect/>
          </a:stretch>
        </p:blipFill>
        <p:spPr>
          <a:xfrm>
            <a:off x="5921654" y="2739542"/>
            <a:ext cx="190195" cy="190195"/>
          </a:xfrm>
          <a:prstGeom prst="rect">
            <a:avLst/>
          </a:prstGeom>
        </p:spPr>
      </p:pic>
      <p:sp>
        <p:nvSpPr>
          <p:cNvPr id="36" name="TextBox 35"/>
          <p:cNvSpPr txBox="1"/>
          <p:nvPr/>
        </p:nvSpPr>
        <p:spPr>
          <a:xfrm>
            <a:off x="6400800" y="2487168"/>
            <a:ext cx="1188720" cy="694944"/>
          </a:xfrm>
          <a:prstGeom prst="rect">
            <a:avLst/>
          </a:prstGeom>
          <a:noFill/>
        </p:spPr>
        <p:txBody>
          <a:bodyPr wrap="square" lIns="0" tIns="0" rIns="0" bIns="0" anchor="ctr">
            <a:noAutofit/>
          </a:bodyPr>
          <a:lstStyle/>
          <a:p>
            <a:pPr algn="ctr"/>
            <a:r>
              <a:rPr sz="1700" b="1" i="0">
                <a:solidFill>
                  <a:srgbClr val="1E8E4E"/>
                </a:solidFill>
                <a:latin typeface="Calibri"/>
                <a:cs typeface="Calibri"/>
              </a:rPr>
              <a:t>17/17</a:t>
            </a:r>
          </a:p>
          <a:p>
            <a:pPr algn="ctr"/>
            <a:r>
              <a:rPr sz="1050" b="0" i="0">
                <a:solidFill>
                  <a:srgbClr val="595959"/>
                </a:solidFill>
                <a:latin typeface="Calibri"/>
                <a:cs typeface="Calibri"/>
              </a:rPr>
              <a:t>scenarios</a:t>
            </a:r>
          </a:p>
        </p:txBody>
      </p:sp>
      <p:sp>
        <p:nvSpPr>
          <p:cNvPr id="37" name="Rounded Rectangle 36"/>
          <p:cNvSpPr/>
          <p:nvPr/>
        </p:nvSpPr>
        <p:spPr>
          <a:xfrm>
            <a:off x="365760" y="3236976"/>
            <a:ext cx="7223759" cy="694944"/>
          </a:xfrm>
          <a:prstGeom prst="roundRect">
            <a:avLst>
              <a:gd name="adj" fmla="val 5000"/>
            </a:avLst>
          </a:prstGeom>
          <a:solidFill>
            <a:srgbClr val="FFFFFF"/>
          </a:solidFill>
          <a:ln w="6350">
            <a:solidFill>
              <a:srgbClr val="D9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236976"/>
            <a:ext cx="2194560" cy="694944"/>
          </a:xfrm>
          <a:prstGeom prst="rect">
            <a:avLst/>
          </a:prstGeom>
          <a:noFill/>
        </p:spPr>
        <p:txBody>
          <a:bodyPr wrap="square" lIns="45720" tIns="27432" rIns="45720" bIns="27432" anchor="ctr">
            <a:noAutofit/>
          </a:bodyPr>
          <a:lstStyle/>
          <a:p>
            <a:pPr algn="l"/>
            <a:r>
              <a:rPr sz="1600" b="1" i="0">
                <a:solidFill>
                  <a:srgbClr val="1F1F1F"/>
                </a:solidFill>
                <a:latin typeface="Times New Roman"/>
                <a:cs typeface="Times New Roman"/>
              </a:rPr>
              <a:t>Direct LLM</a:t>
            </a:r>
          </a:p>
        </p:txBody>
      </p:sp>
      <p:sp>
        <p:nvSpPr>
          <p:cNvPr id="39" name="Oval 38"/>
          <p:cNvSpPr/>
          <p:nvPr/>
        </p:nvSpPr>
        <p:spPr>
          <a:xfrm>
            <a:off x="2761487" y="3401568"/>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FaCheck_white.png"/>
          <p:cNvPicPr>
            <a:picLocks noChangeAspect="1"/>
          </p:cNvPicPr>
          <p:nvPr/>
        </p:nvPicPr>
        <p:blipFill>
          <a:blip r:embed="rId3"/>
          <a:stretch>
            <a:fillRect/>
          </a:stretch>
        </p:blipFill>
        <p:spPr>
          <a:xfrm>
            <a:off x="2849270" y="3489350"/>
            <a:ext cx="190195" cy="190195"/>
          </a:xfrm>
          <a:prstGeom prst="rect">
            <a:avLst/>
          </a:prstGeom>
        </p:spPr>
      </p:pic>
      <p:sp>
        <p:nvSpPr>
          <p:cNvPr id="41" name="Oval 40"/>
          <p:cNvSpPr/>
          <p:nvPr/>
        </p:nvSpPr>
        <p:spPr>
          <a:xfrm>
            <a:off x="3529583" y="3401568"/>
            <a:ext cx="365760" cy="365760"/>
          </a:xfrm>
          <a:prstGeom prst="ellipse">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FaExclamation_white.png"/>
          <p:cNvPicPr>
            <a:picLocks noChangeAspect="1"/>
          </p:cNvPicPr>
          <p:nvPr/>
        </p:nvPicPr>
        <p:blipFill>
          <a:blip r:embed="rId4"/>
          <a:stretch>
            <a:fillRect/>
          </a:stretch>
        </p:blipFill>
        <p:spPr>
          <a:xfrm>
            <a:off x="3617366" y="3489350"/>
            <a:ext cx="190195" cy="190195"/>
          </a:xfrm>
          <a:prstGeom prst="rect">
            <a:avLst/>
          </a:prstGeom>
        </p:spPr>
      </p:pic>
      <p:sp>
        <p:nvSpPr>
          <p:cNvPr id="43" name="Oval 42"/>
          <p:cNvSpPr/>
          <p:nvPr/>
        </p:nvSpPr>
        <p:spPr>
          <a:xfrm>
            <a:off x="4297679" y="3401568"/>
            <a:ext cx="365760" cy="36576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aTimes_white.png"/>
          <p:cNvPicPr>
            <a:picLocks noChangeAspect="1"/>
          </p:cNvPicPr>
          <p:nvPr/>
        </p:nvPicPr>
        <p:blipFill>
          <a:blip r:embed="rId5"/>
          <a:stretch>
            <a:fillRect/>
          </a:stretch>
        </p:blipFill>
        <p:spPr>
          <a:xfrm>
            <a:off x="4385462" y="3489350"/>
            <a:ext cx="190195" cy="190195"/>
          </a:xfrm>
          <a:prstGeom prst="rect">
            <a:avLst/>
          </a:prstGeom>
        </p:spPr>
      </p:pic>
      <p:sp>
        <p:nvSpPr>
          <p:cNvPr id="45" name="Oval 44"/>
          <p:cNvSpPr/>
          <p:nvPr/>
        </p:nvSpPr>
        <p:spPr>
          <a:xfrm>
            <a:off x="5065776" y="3401568"/>
            <a:ext cx="365760" cy="36576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FaTimes_white.png"/>
          <p:cNvPicPr>
            <a:picLocks noChangeAspect="1"/>
          </p:cNvPicPr>
          <p:nvPr/>
        </p:nvPicPr>
        <p:blipFill>
          <a:blip r:embed="rId5"/>
          <a:stretch>
            <a:fillRect/>
          </a:stretch>
        </p:blipFill>
        <p:spPr>
          <a:xfrm>
            <a:off x="5153558" y="3489350"/>
            <a:ext cx="190195" cy="190195"/>
          </a:xfrm>
          <a:prstGeom prst="rect">
            <a:avLst/>
          </a:prstGeom>
        </p:spPr>
      </p:pic>
      <p:sp>
        <p:nvSpPr>
          <p:cNvPr id="47" name="Oval 46"/>
          <p:cNvSpPr/>
          <p:nvPr/>
        </p:nvSpPr>
        <p:spPr>
          <a:xfrm>
            <a:off x="5833872" y="3401568"/>
            <a:ext cx="365760" cy="36576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FaTimes_white.png"/>
          <p:cNvPicPr>
            <a:picLocks noChangeAspect="1"/>
          </p:cNvPicPr>
          <p:nvPr/>
        </p:nvPicPr>
        <p:blipFill>
          <a:blip r:embed="rId5"/>
          <a:stretch>
            <a:fillRect/>
          </a:stretch>
        </p:blipFill>
        <p:spPr>
          <a:xfrm>
            <a:off x="5921654" y="3489350"/>
            <a:ext cx="190195" cy="190195"/>
          </a:xfrm>
          <a:prstGeom prst="rect">
            <a:avLst/>
          </a:prstGeom>
        </p:spPr>
      </p:pic>
      <p:sp>
        <p:nvSpPr>
          <p:cNvPr id="49" name="TextBox 48"/>
          <p:cNvSpPr txBox="1"/>
          <p:nvPr/>
        </p:nvSpPr>
        <p:spPr>
          <a:xfrm>
            <a:off x="6400800" y="3236976"/>
            <a:ext cx="1188720" cy="694944"/>
          </a:xfrm>
          <a:prstGeom prst="rect">
            <a:avLst/>
          </a:prstGeom>
          <a:noFill/>
        </p:spPr>
        <p:txBody>
          <a:bodyPr wrap="square" lIns="0" tIns="0" rIns="0" bIns="0" anchor="ctr">
            <a:noAutofit/>
          </a:bodyPr>
          <a:lstStyle/>
          <a:p>
            <a:pPr algn="ctr"/>
            <a:r>
              <a:rPr sz="1700" b="1" i="0">
                <a:solidFill>
                  <a:srgbClr val="C62828"/>
                </a:solidFill>
                <a:latin typeface="Calibri"/>
                <a:cs typeface="Calibri"/>
              </a:rPr>
              <a:t>1/5</a:t>
            </a:r>
          </a:p>
          <a:p>
            <a:pPr algn="ctr"/>
            <a:r>
              <a:rPr sz="1050" b="0" i="0">
                <a:solidFill>
                  <a:srgbClr val="595959"/>
                </a:solidFill>
                <a:latin typeface="Calibri"/>
                <a:cs typeface="Calibri"/>
              </a:rPr>
              <a:t>behaviours</a:t>
            </a:r>
          </a:p>
        </p:txBody>
      </p:sp>
      <p:sp>
        <p:nvSpPr>
          <p:cNvPr id="50" name="Rounded Rectangle 49"/>
          <p:cNvSpPr/>
          <p:nvPr/>
        </p:nvSpPr>
        <p:spPr>
          <a:xfrm>
            <a:off x="365760" y="3986784"/>
            <a:ext cx="7223759" cy="694944"/>
          </a:xfrm>
          <a:prstGeom prst="roundRect">
            <a:avLst>
              <a:gd name="adj" fmla="val 5000"/>
            </a:avLst>
          </a:prstGeom>
          <a:solidFill>
            <a:srgbClr val="F7F8FB"/>
          </a:solidFill>
          <a:ln w="6350">
            <a:solidFill>
              <a:srgbClr val="D9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3986784"/>
            <a:ext cx="2194560" cy="694944"/>
          </a:xfrm>
          <a:prstGeom prst="rect">
            <a:avLst/>
          </a:prstGeom>
          <a:noFill/>
        </p:spPr>
        <p:txBody>
          <a:bodyPr wrap="square" lIns="45720" tIns="27432" rIns="45720" bIns="27432" anchor="ctr">
            <a:noAutofit/>
          </a:bodyPr>
          <a:lstStyle/>
          <a:p>
            <a:pPr algn="l"/>
            <a:r>
              <a:rPr sz="1600" b="1" i="0">
                <a:solidFill>
                  <a:srgbClr val="1F1F1F"/>
                </a:solidFill>
                <a:latin typeface="Times New Roman"/>
                <a:cs typeface="Times New Roman"/>
              </a:rPr>
              <a:t>Schema-constrained</a:t>
            </a:r>
          </a:p>
        </p:txBody>
      </p:sp>
      <p:sp>
        <p:nvSpPr>
          <p:cNvPr id="52" name="Oval 51"/>
          <p:cNvSpPr/>
          <p:nvPr/>
        </p:nvSpPr>
        <p:spPr>
          <a:xfrm>
            <a:off x="2761487" y="4151376"/>
            <a:ext cx="365760" cy="36576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FaTimes_white.png"/>
          <p:cNvPicPr>
            <a:picLocks noChangeAspect="1"/>
          </p:cNvPicPr>
          <p:nvPr/>
        </p:nvPicPr>
        <p:blipFill>
          <a:blip r:embed="rId5"/>
          <a:stretch>
            <a:fillRect/>
          </a:stretch>
        </p:blipFill>
        <p:spPr>
          <a:xfrm>
            <a:off x="2849270" y="4239158"/>
            <a:ext cx="190195" cy="190195"/>
          </a:xfrm>
          <a:prstGeom prst="rect">
            <a:avLst/>
          </a:prstGeom>
        </p:spPr>
      </p:pic>
      <p:sp>
        <p:nvSpPr>
          <p:cNvPr id="54" name="Oval 53"/>
          <p:cNvSpPr/>
          <p:nvPr/>
        </p:nvSpPr>
        <p:spPr>
          <a:xfrm>
            <a:off x="3529583" y="4151376"/>
            <a:ext cx="365760" cy="36576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FaTimes_white.png"/>
          <p:cNvPicPr>
            <a:picLocks noChangeAspect="1"/>
          </p:cNvPicPr>
          <p:nvPr/>
        </p:nvPicPr>
        <p:blipFill>
          <a:blip r:embed="rId5"/>
          <a:stretch>
            <a:fillRect/>
          </a:stretch>
        </p:blipFill>
        <p:spPr>
          <a:xfrm>
            <a:off x="3617366" y="4239158"/>
            <a:ext cx="190195" cy="190195"/>
          </a:xfrm>
          <a:prstGeom prst="rect">
            <a:avLst/>
          </a:prstGeom>
        </p:spPr>
      </p:pic>
      <p:sp>
        <p:nvSpPr>
          <p:cNvPr id="56" name="Oval 55"/>
          <p:cNvSpPr/>
          <p:nvPr/>
        </p:nvSpPr>
        <p:spPr>
          <a:xfrm>
            <a:off x="4297679" y="4151376"/>
            <a:ext cx="365760" cy="36576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FaTimes_white.png"/>
          <p:cNvPicPr>
            <a:picLocks noChangeAspect="1"/>
          </p:cNvPicPr>
          <p:nvPr/>
        </p:nvPicPr>
        <p:blipFill>
          <a:blip r:embed="rId5"/>
          <a:stretch>
            <a:fillRect/>
          </a:stretch>
        </p:blipFill>
        <p:spPr>
          <a:xfrm>
            <a:off x="4385462" y="4239158"/>
            <a:ext cx="190195" cy="190195"/>
          </a:xfrm>
          <a:prstGeom prst="rect">
            <a:avLst/>
          </a:prstGeom>
        </p:spPr>
      </p:pic>
      <p:sp>
        <p:nvSpPr>
          <p:cNvPr id="58" name="Oval 57"/>
          <p:cNvSpPr/>
          <p:nvPr/>
        </p:nvSpPr>
        <p:spPr>
          <a:xfrm>
            <a:off x="5065776" y="4151376"/>
            <a:ext cx="365760" cy="36576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FaTimes_white.png"/>
          <p:cNvPicPr>
            <a:picLocks noChangeAspect="1"/>
          </p:cNvPicPr>
          <p:nvPr/>
        </p:nvPicPr>
        <p:blipFill>
          <a:blip r:embed="rId5"/>
          <a:stretch>
            <a:fillRect/>
          </a:stretch>
        </p:blipFill>
        <p:spPr>
          <a:xfrm>
            <a:off x="5153558" y="4239158"/>
            <a:ext cx="190195" cy="190195"/>
          </a:xfrm>
          <a:prstGeom prst="rect">
            <a:avLst/>
          </a:prstGeom>
        </p:spPr>
      </p:pic>
      <p:sp>
        <p:nvSpPr>
          <p:cNvPr id="60" name="Oval 59"/>
          <p:cNvSpPr/>
          <p:nvPr/>
        </p:nvSpPr>
        <p:spPr>
          <a:xfrm>
            <a:off x="5833872" y="4151376"/>
            <a:ext cx="365760" cy="365760"/>
          </a:xfrm>
          <a:prstGeom prst="ellipse">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FaExclamation_white.png"/>
          <p:cNvPicPr>
            <a:picLocks noChangeAspect="1"/>
          </p:cNvPicPr>
          <p:nvPr/>
        </p:nvPicPr>
        <p:blipFill>
          <a:blip r:embed="rId4"/>
          <a:stretch>
            <a:fillRect/>
          </a:stretch>
        </p:blipFill>
        <p:spPr>
          <a:xfrm>
            <a:off x="5921654" y="4239158"/>
            <a:ext cx="190195" cy="190195"/>
          </a:xfrm>
          <a:prstGeom prst="rect">
            <a:avLst/>
          </a:prstGeom>
        </p:spPr>
      </p:pic>
      <p:sp>
        <p:nvSpPr>
          <p:cNvPr id="62" name="TextBox 61"/>
          <p:cNvSpPr txBox="1"/>
          <p:nvPr/>
        </p:nvSpPr>
        <p:spPr>
          <a:xfrm>
            <a:off x="6400800" y="3986784"/>
            <a:ext cx="1188720" cy="694944"/>
          </a:xfrm>
          <a:prstGeom prst="rect">
            <a:avLst/>
          </a:prstGeom>
          <a:noFill/>
        </p:spPr>
        <p:txBody>
          <a:bodyPr wrap="square" lIns="0" tIns="0" rIns="0" bIns="0" anchor="ctr">
            <a:noAutofit/>
          </a:bodyPr>
          <a:lstStyle/>
          <a:p>
            <a:pPr algn="ctr"/>
            <a:r>
              <a:rPr sz="1700" b="1" i="0">
                <a:solidFill>
                  <a:srgbClr val="C62828"/>
                </a:solidFill>
                <a:latin typeface="Calibri"/>
                <a:cs typeface="Calibri"/>
              </a:rPr>
              <a:t>0/5</a:t>
            </a:r>
          </a:p>
          <a:p>
            <a:pPr algn="ctr"/>
            <a:r>
              <a:rPr sz="1050" b="0" i="0">
                <a:solidFill>
                  <a:srgbClr val="595959"/>
                </a:solidFill>
                <a:latin typeface="Calibri"/>
                <a:cs typeface="Calibri"/>
              </a:rPr>
              <a:t>behaviours</a:t>
            </a:r>
          </a:p>
        </p:txBody>
      </p:sp>
      <p:sp>
        <p:nvSpPr>
          <p:cNvPr id="63" name="Rounded Rectangle 62"/>
          <p:cNvSpPr/>
          <p:nvPr/>
        </p:nvSpPr>
        <p:spPr>
          <a:xfrm>
            <a:off x="365760" y="4736592"/>
            <a:ext cx="7223759" cy="694944"/>
          </a:xfrm>
          <a:prstGeom prst="roundRect">
            <a:avLst>
              <a:gd name="adj" fmla="val 5000"/>
            </a:avLst>
          </a:prstGeom>
          <a:solidFill>
            <a:srgbClr val="E8F5EC"/>
          </a:solidFill>
          <a:ln w="19050">
            <a:solidFill>
              <a:srgbClr val="1E8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736592"/>
            <a:ext cx="2194560" cy="694944"/>
          </a:xfrm>
          <a:prstGeom prst="rect">
            <a:avLst/>
          </a:prstGeom>
          <a:noFill/>
        </p:spPr>
        <p:txBody>
          <a:bodyPr wrap="square" lIns="45720" tIns="27432" rIns="45720" bIns="27432" anchor="ctr">
            <a:noAutofit/>
          </a:bodyPr>
          <a:lstStyle/>
          <a:p>
            <a:pPr algn="l"/>
            <a:r>
              <a:rPr sz="1600" b="1" i="0">
                <a:solidFill>
                  <a:srgbClr val="1E8E4E"/>
                </a:solidFill>
                <a:latin typeface="Times New Roman"/>
                <a:cs typeface="Times New Roman"/>
              </a:rPr>
              <a:t>SENTINEL Forge</a:t>
            </a:r>
          </a:p>
        </p:txBody>
      </p:sp>
      <p:sp>
        <p:nvSpPr>
          <p:cNvPr id="65" name="Oval 64"/>
          <p:cNvSpPr/>
          <p:nvPr/>
        </p:nvSpPr>
        <p:spPr>
          <a:xfrm>
            <a:off x="2761487" y="4901183"/>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FaCheck_white.png"/>
          <p:cNvPicPr>
            <a:picLocks noChangeAspect="1"/>
          </p:cNvPicPr>
          <p:nvPr/>
        </p:nvPicPr>
        <p:blipFill>
          <a:blip r:embed="rId3"/>
          <a:stretch>
            <a:fillRect/>
          </a:stretch>
        </p:blipFill>
        <p:spPr>
          <a:xfrm>
            <a:off x="2849270" y="4988966"/>
            <a:ext cx="190195" cy="190195"/>
          </a:xfrm>
          <a:prstGeom prst="rect">
            <a:avLst/>
          </a:prstGeom>
        </p:spPr>
      </p:pic>
      <p:sp>
        <p:nvSpPr>
          <p:cNvPr id="67" name="Oval 66"/>
          <p:cNvSpPr/>
          <p:nvPr/>
        </p:nvSpPr>
        <p:spPr>
          <a:xfrm>
            <a:off x="3529583" y="4901183"/>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FaCheck_white.png"/>
          <p:cNvPicPr>
            <a:picLocks noChangeAspect="1"/>
          </p:cNvPicPr>
          <p:nvPr/>
        </p:nvPicPr>
        <p:blipFill>
          <a:blip r:embed="rId3"/>
          <a:stretch>
            <a:fillRect/>
          </a:stretch>
        </p:blipFill>
        <p:spPr>
          <a:xfrm>
            <a:off x="3617366" y="4988966"/>
            <a:ext cx="190195" cy="190195"/>
          </a:xfrm>
          <a:prstGeom prst="rect">
            <a:avLst/>
          </a:prstGeom>
        </p:spPr>
      </p:pic>
      <p:sp>
        <p:nvSpPr>
          <p:cNvPr id="69" name="Oval 68"/>
          <p:cNvSpPr/>
          <p:nvPr/>
        </p:nvSpPr>
        <p:spPr>
          <a:xfrm>
            <a:off x="4297679" y="4901183"/>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FaCheck_white.png"/>
          <p:cNvPicPr>
            <a:picLocks noChangeAspect="1"/>
          </p:cNvPicPr>
          <p:nvPr/>
        </p:nvPicPr>
        <p:blipFill>
          <a:blip r:embed="rId3"/>
          <a:stretch>
            <a:fillRect/>
          </a:stretch>
        </p:blipFill>
        <p:spPr>
          <a:xfrm>
            <a:off x="4385462" y="4988966"/>
            <a:ext cx="190195" cy="190195"/>
          </a:xfrm>
          <a:prstGeom prst="rect">
            <a:avLst/>
          </a:prstGeom>
        </p:spPr>
      </p:pic>
      <p:sp>
        <p:nvSpPr>
          <p:cNvPr id="71" name="Oval 70"/>
          <p:cNvSpPr/>
          <p:nvPr/>
        </p:nvSpPr>
        <p:spPr>
          <a:xfrm>
            <a:off x="5065776" y="4901183"/>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FaCheck_white.png"/>
          <p:cNvPicPr>
            <a:picLocks noChangeAspect="1"/>
          </p:cNvPicPr>
          <p:nvPr/>
        </p:nvPicPr>
        <p:blipFill>
          <a:blip r:embed="rId3"/>
          <a:stretch>
            <a:fillRect/>
          </a:stretch>
        </p:blipFill>
        <p:spPr>
          <a:xfrm>
            <a:off x="5153558" y="4988966"/>
            <a:ext cx="190195" cy="190195"/>
          </a:xfrm>
          <a:prstGeom prst="rect">
            <a:avLst/>
          </a:prstGeom>
        </p:spPr>
      </p:pic>
      <p:sp>
        <p:nvSpPr>
          <p:cNvPr id="73" name="Oval 72"/>
          <p:cNvSpPr/>
          <p:nvPr/>
        </p:nvSpPr>
        <p:spPr>
          <a:xfrm>
            <a:off x="5833872" y="4901183"/>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FaCheck_white.png"/>
          <p:cNvPicPr>
            <a:picLocks noChangeAspect="1"/>
          </p:cNvPicPr>
          <p:nvPr/>
        </p:nvPicPr>
        <p:blipFill>
          <a:blip r:embed="rId3"/>
          <a:stretch>
            <a:fillRect/>
          </a:stretch>
        </p:blipFill>
        <p:spPr>
          <a:xfrm>
            <a:off x="5921654" y="4988966"/>
            <a:ext cx="190195" cy="190195"/>
          </a:xfrm>
          <a:prstGeom prst="rect">
            <a:avLst/>
          </a:prstGeom>
        </p:spPr>
      </p:pic>
      <p:sp>
        <p:nvSpPr>
          <p:cNvPr id="75" name="TextBox 74"/>
          <p:cNvSpPr txBox="1"/>
          <p:nvPr/>
        </p:nvSpPr>
        <p:spPr>
          <a:xfrm>
            <a:off x="6400800" y="4736592"/>
            <a:ext cx="1188720" cy="694944"/>
          </a:xfrm>
          <a:prstGeom prst="rect">
            <a:avLst/>
          </a:prstGeom>
          <a:noFill/>
        </p:spPr>
        <p:txBody>
          <a:bodyPr wrap="square" lIns="0" tIns="0" rIns="0" bIns="0" anchor="ctr">
            <a:noAutofit/>
          </a:bodyPr>
          <a:lstStyle/>
          <a:p>
            <a:pPr algn="ctr"/>
            <a:r>
              <a:rPr sz="1700" b="1" i="0">
                <a:solidFill>
                  <a:srgbClr val="1E8E4E"/>
                </a:solidFill>
                <a:latin typeface="Calibri"/>
                <a:cs typeface="Calibri"/>
              </a:rPr>
              <a:t>17/17</a:t>
            </a:r>
          </a:p>
          <a:p>
            <a:pPr algn="ctr"/>
            <a:r>
              <a:rPr sz="1050" b="0" i="0">
                <a:solidFill>
                  <a:srgbClr val="595959"/>
                </a:solidFill>
                <a:latin typeface="Calibri"/>
                <a:cs typeface="Calibri"/>
              </a:rPr>
              <a:t>scenarios</a:t>
            </a:r>
          </a:p>
        </p:txBody>
      </p:sp>
      <p:sp>
        <p:nvSpPr>
          <p:cNvPr id="76" name="Oval 75"/>
          <p:cNvSpPr/>
          <p:nvPr/>
        </p:nvSpPr>
        <p:spPr>
          <a:xfrm>
            <a:off x="457200" y="5596128"/>
            <a:ext cx="237744" cy="237744"/>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descr="FaCheck_white.png"/>
          <p:cNvPicPr>
            <a:picLocks noChangeAspect="1"/>
          </p:cNvPicPr>
          <p:nvPr/>
        </p:nvPicPr>
        <p:blipFill>
          <a:blip r:embed="rId3"/>
          <a:stretch>
            <a:fillRect/>
          </a:stretch>
        </p:blipFill>
        <p:spPr>
          <a:xfrm>
            <a:off x="510692" y="5649620"/>
            <a:ext cx="130759" cy="130759"/>
          </a:xfrm>
          <a:prstGeom prst="rect">
            <a:avLst/>
          </a:prstGeom>
        </p:spPr>
      </p:pic>
      <p:sp>
        <p:nvSpPr>
          <p:cNvPr id="78" name="TextBox 77"/>
          <p:cNvSpPr txBox="1"/>
          <p:nvPr/>
        </p:nvSpPr>
        <p:spPr>
          <a:xfrm>
            <a:off x="749808" y="5550408"/>
            <a:ext cx="1074420" cy="329184"/>
          </a:xfrm>
          <a:prstGeom prst="rect">
            <a:avLst/>
          </a:prstGeom>
          <a:noFill/>
        </p:spPr>
        <p:txBody>
          <a:bodyPr wrap="square" lIns="45720" tIns="27432" rIns="45720" bIns="27432" anchor="ctr">
            <a:noAutofit/>
          </a:bodyPr>
          <a:lstStyle/>
          <a:p>
            <a:pPr algn="l"/>
            <a:r>
              <a:rPr sz="1200" b="0" i="0">
                <a:solidFill>
                  <a:srgbClr val="595959"/>
                </a:solidFill>
                <a:latin typeface="Calibri"/>
                <a:cs typeface="Calibri"/>
              </a:rPr>
              <a:t>fully correct</a:t>
            </a:r>
          </a:p>
        </p:txBody>
      </p:sp>
      <p:sp>
        <p:nvSpPr>
          <p:cNvPr id="79" name="Oval 78"/>
          <p:cNvSpPr/>
          <p:nvPr/>
        </p:nvSpPr>
        <p:spPr>
          <a:xfrm>
            <a:off x="1961388" y="5596128"/>
            <a:ext cx="237744" cy="237744"/>
          </a:xfrm>
          <a:prstGeom prst="ellipse">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0" name="Picture 79" descr="FaExclamation_white.png"/>
          <p:cNvPicPr>
            <a:picLocks noChangeAspect="1"/>
          </p:cNvPicPr>
          <p:nvPr/>
        </p:nvPicPr>
        <p:blipFill>
          <a:blip r:embed="rId4"/>
          <a:stretch>
            <a:fillRect/>
          </a:stretch>
        </p:blipFill>
        <p:spPr>
          <a:xfrm>
            <a:off x="2014880" y="5649620"/>
            <a:ext cx="130759" cy="130759"/>
          </a:xfrm>
          <a:prstGeom prst="rect">
            <a:avLst/>
          </a:prstGeom>
        </p:spPr>
      </p:pic>
      <p:sp>
        <p:nvSpPr>
          <p:cNvPr id="81" name="TextBox 80"/>
          <p:cNvSpPr txBox="1"/>
          <p:nvPr/>
        </p:nvSpPr>
        <p:spPr>
          <a:xfrm>
            <a:off x="2253996" y="5550408"/>
            <a:ext cx="3063240" cy="329184"/>
          </a:xfrm>
          <a:prstGeom prst="rect">
            <a:avLst/>
          </a:prstGeom>
          <a:noFill/>
        </p:spPr>
        <p:txBody>
          <a:bodyPr wrap="square" lIns="45720" tIns="27432" rIns="45720" bIns="27432" anchor="ctr">
            <a:noAutofit/>
          </a:bodyPr>
          <a:lstStyle/>
          <a:p>
            <a:pPr algn="l"/>
            <a:r>
              <a:rPr sz="1200" b="0" i="0">
                <a:solidFill>
                  <a:srgbClr val="595959"/>
                </a:solidFill>
                <a:latin typeface="Calibri"/>
                <a:cs typeface="Calibri"/>
              </a:rPr>
              <a:t>partly correct (duplicates / wrong extras)</a:t>
            </a:r>
          </a:p>
        </p:txBody>
      </p:sp>
      <p:sp>
        <p:nvSpPr>
          <p:cNvPr id="82" name="Oval 81"/>
          <p:cNvSpPr/>
          <p:nvPr/>
        </p:nvSpPr>
        <p:spPr>
          <a:xfrm>
            <a:off x="5454396" y="5596128"/>
            <a:ext cx="237744" cy="237744"/>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FaTimes_white.png"/>
          <p:cNvPicPr>
            <a:picLocks noChangeAspect="1"/>
          </p:cNvPicPr>
          <p:nvPr/>
        </p:nvPicPr>
        <p:blipFill>
          <a:blip r:embed="rId5"/>
          <a:stretch>
            <a:fillRect/>
          </a:stretch>
        </p:blipFill>
        <p:spPr>
          <a:xfrm>
            <a:off x="5507888" y="5649620"/>
            <a:ext cx="130759" cy="130759"/>
          </a:xfrm>
          <a:prstGeom prst="rect">
            <a:avLst/>
          </a:prstGeom>
        </p:spPr>
      </p:pic>
      <p:sp>
        <p:nvSpPr>
          <p:cNvPr id="84" name="TextBox 83"/>
          <p:cNvSpPr txBox="1"/>
          <p:nvPr/>
        </p:nvSpPr>
        <p:spPr>
          <a:xfrm>
            <a:off x="5747004" y="5550408"/>
            <a:ext cx="1211580" cy="329184"/>
          </a:xfrm>
          <a:prstGeom prst="rect">
            <a:avLst/>
          </a:prstGeom>
          <a:noFill/>
        </p:spPr>
        <p:txBody>
          <a:bodyPr wrap="square" lIns="45720" tIns="27432" rIns="45720" bIns="27432" anchor="ctr">
            <a:noAutofit/>
          </a:bodyPr>
          <a:lstStyle/>
          <a:p>
            <a:pPr algn="l"/>
            <a:r>
              <a:rPr sz="1200" b="0" i="0">
                <a:solidFill>
                  <a:srgbClr val="595959"/>
                </a:solidFill>
                <a:latin typeface="Calibri"/>
                <a:cs typeface="Calibri"/>
              </a:rPr>
              <a:t>missed or wrong</a:t>
            </a:r>
          </a:p>
        </p:txBody>
      </p:sp>
      <p:sp>
        <p:nvSpPr>
          <p:cNvPr id="85" name="TextBox 84"/>
          <p:cNvSpPr txBox="1"/>
          <p:nvPr/>
        </p:nvSpPr>
        <p:spPr>
          <a:xfrm>
            <a:off x="365760" y="5925312"/>
            <a:ext cx="7223760" cy="411480"/>
          </a:xfrm>
          <a:prstGeom prst="rect">
            <a:avLst/>
          </a:prstGeom>
          <a:noFill/>
        </p:spPr>
        <p:txBody>
          <a:bodyPr wrap="square" lIns="45720" tIns="27432" rIns="45720" bIns="27432" anchor="ctr">
            <a:noAutofit/>
          </a:bodyPr>
          <a:lstStyle/>
          <a:p>
            <a:pPr algn="l"/>
            <a:r>
              <a:rPr sz="1200" b="0" i="1">
                <a:solidFill>
                  <a:srgbClr val="595959"/>
                </a:solidFill>
                <a:latin typeface="Calibri"/>
                <a:cs typeface="Calibri"/>
              </a:rPr>
              <a:t>Executed for real on the same Parquet store and independent labels. Manual rules first scored 15/17 until a timestamp bug was fixed.</a:t>
            </a:r>
          </a:p>
        </p:txBody>
      </p:sp>
      <p:sp>
        <p:nvSpPr>
          <p:cNvPr id="86" name="Rounded Rectangle 85"/>
          <p:cNvSpPr/>
          <p:nvPr/>
        </p:nvSpPr>
        <p:spPr>
          <a:xfrm>
            <a:off x="7863840" y="1783080"/>
            <a:ext cx="3959352" cy="758952"/>
          </a:xfrm>
          <a:prstGeom prst="roundRect">
            <a:avLst>
              <a:gd name="adj" fmla="val 10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936992" y="1783080"/>
            <a:ext cx="1325880" cy="758952"/>
          </a:xfrm>
          <a:prstGeom prst="rect">
            <a:avLst/>
          </a:prstGeom>
          <a:noFill/>
        </p:spPr>
        <p:txBody>
          <a:bodyPr wrap="square" lIns="45720" tIns="27432" rIns="45720" bIns="27432" anchor="ctr">
            <a:noAutofit/>
          </a:bodyPr>
          <a:lstStyle/>
          <a:p>
            <a:pPr algn="ctr"/>
            <a:r>
              <a:rPr sz="2800" b="1" i="0">
                <a:solidFill>
                  <a:srgbClr val="1E8E4E"/>
                </a:solidFill>
                <a:latin typeface="Calibri"/>
                <a:cs typeface="Calibri"/>
              </a:rPr>
              <a:t>17/17</a:t>
            </a:r>
          </a:p>
        </p:txBody>
      </p:sp>
      <p:sp>
        <p:nvSpPr>
          <p:cNvPr id="88" name="TextBox 87"/>
          <p:cNvSpPr txBox="1"/>
          <p:nvPr/>
        </p:nvSpPr>
        <p:spPr>
          <a:xfrm>
            <a:off x="9281160" y="1783080"/>
            <a:ext cx="2450592" cy="758952"/>
          </a:xfrm>
          <a:prstGeom prst="rect">
            <a:avLst/>
          </a:prstGeom>
          <a:noFill/>
        </p:spPr>
        <p:txBody>
          <a:bodyPr wrap="square" lIns="18288" tIns="0" rIns="18288" bIns="0" anchor="ctr">
            <a:noAutofit/>
          </a:bodyPr>
          <a:lstStyle/>
          <a:p>
            <a:pPr algn="l"/>
            <a:r>
              <a:rPr sz="1300" b="0" i="0">
                <a:solidFill>
                  <a:srgbClr val="1F1F1F"/>
                </a:solidFill>
                <a:latin typeface="Calibri"/>
                <a:cs typeface="Calibri"/>
              </a:rPr>
              <a:t>replay scenarios (compiler proven on all 5 behaviours)</a:t>
            </a:r>
          </a:p>
        </p:txBody>
      </p:sp>
      <p:sp>
        <p:nvSpPr>
          <p:cNvPr id="89" name="Rounded Rectangle 88"/>
          <p:cNvSpPr/>
          <p:nvPr/>
        </p:nvSpPr>
        <p:spPr>
          <a:xfrm>
            <a:off x="7863840" y="2633472"/>
            <a:ext cx="3959352" cy="758952"/>
          </a:xfrm>
          <a:prstGeom prst="roundRect">
            <a:avLst>
              <a:gd name="adj" fmla="val 10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936992" y="2633472"/>
            <a:ext cx="1325880" cy="758952"/>
          </a:xfrm>
          <a:prstGeom prst="rect">
            <a:avLst/>
          </a:prstGeom>
          <a:noFill/>
        </p:spPr>
        <p:txBody>
          <a:bodyPr wrap="square" lIns="45720" tIns="27432" rIns="45720" bIns="27432" anchor="ctr">
            <a:noAutofit/>
          </a:bodyPr>
          <a:lstStyle/>
          <a:p>
            <a:pPr algn="ctr"/>
            <a:r>
              <a:rPr sz="2800" b="1" i="0">
                <a:solidFill>
                  <a:srgbClr val="1E8E4E"/>
                </a:solidFill>
                <a:latin typeface="Calibri"/>
                <a:cs typeface="Calibri"/>
              </a:rPr>
              <a:t>11/11</a:t>
            </a:r>
          </a:p>
        </p:txBody>
      </p:sp>
      <p:sp>
        <p:nvSpPr>
          <p:cNvPr id="91" name="TextBox 90"/>
          <p:cNvSpPr txBox="1"/>
          <p:nvPr/>
        </p:nvSpPr>
        <p:spPr>
          <a:xfrm>
            <a:off x="9281160" y="2633472"/>
            <a:ext cx="2450592" cy="758952"/>
          </a:xfrm>
          <a:prstGeom prst="rect">
            <a:avLst/>
          </a:prstGeom>
          <a:noFill/>
        </p:spPr>
        <p:txBody>
          <a:bodyPr wrap="square" lIns="18288" tIns="0" rIns="18288" bIns="0" anchor="ctr">
            <a:noAutofit/>
          </a:bodyPr>
          <a:lstStyle/>
          <a:p>
            <a:pPr algn="l"/>
            <a:r>
              <a:rPr sz="1300" b="0" i="0">
                <a:solidFill>
                  <a:srgbClr val="1F1F1F"/>
                </a:solidFill>
                <a:latin typeface="Calibri"/>
                <a:cs typeface="Calibri"/>
              </a:rPr>
              <a:t>end-to-end: extraction-derived specs, 3 reports</a:t>
            </a:r>
          </a:p>
        </p:txBody>
      </p:sp>
      <p:sp>
        <p:nvSpPr>
          <p:cNvPr id="92" name="Rounded Rectangle 91"/>
          <p:cNvSpPr/>
          <p:nvPr/>
        </p:nvSpPr>
        <p:spPr>
          <a:xfrm>
            <a:off x="7863840" y="3483864"/>
            <a:ext cx="3959352" cy="758952"/>
          </a:xfrm>
          <a:prstGeom prst="roundRect">
            <a:avLst>
              <a:gd name="adj" fmla="val 10000"/>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936992" y="3483864"/>
            <a:ext cx="1325880" cy="758952"/>
          </a:xfrm>
          <a:prstGeom prst="rect">
            <a:avLst/>
          </a:prstGeom>
          <a:noFill/>
        </p:spPr>
        <p:txBody>
          <a:bodyPr wrap="square" lIns="45720" tIns="27432" rIns="45720" bIns="27432" anchor="ctr">
            <a:noAutofit/>
          </a:bodyPr>
          <a:lstStyle/>
          <a:p>
            <a:pPr algn="ctr"/>
            <a:r>
              <a:rPr sz="2800" b="1" i="0">
                <a:solidFill>
                  <a:srgbClr val="1E8E4E"/>
                </a:solidFill>
                <a:latin typeface="Calibri"/>
                <a:cs typeface="Calibri"/>
              </a:rPr>
              <a:t>2/2</a:t>
            </a:r>
          </a:p>
        </p:txBody>
      </p:sp>
      <p:sp>
        <p:nvSpPr>
          <p:cNvPr id="94" name="TextBox 93"/>
          <p:cNvSpPr txBox="1"/>
          <p:nvPr/>
        </p:nvSpPr>
        <p:spPr>
          <a:xfrm>
            <a:off x="9281160" y="3483864"/>
            <a:ext cx="2450592" cy="758952"/>
          </a:xfrm>
          <a:prstGeom prst="rect">
            <a:avLst/>
          </a:prstGeom>
          <a:noFill/>
        </p:spPr>
        <p:txBody>
          <a:bodyPr wrap="square" lIns="18288" tIns="0" rIns="18288" bIns="0" anchor="ctr">
            <a:noAutofit/>
          </a:bodyPr>
          <a:lstStyle/>
          <a:p>
            <a:pPr algn="l"/>
            <a:r>
              <a:rPr sz="1300" b="0" i="0">
                <a:solidFill>
                  <a:srgbClr val="1F1F1F"/>
                </a:solidFill>
                <a:latin typeface="Calibri"/>
                <a:cs typeface="Calibri"/>
              </a:rPr>
              <a:t>robustness: policy outage and missing field handled safely</a:t>
            </a:r>
          </a:p>
        </p:txBody>
      </p:sp>
      <p:sp>
        <p:nvSpPr>
          <p:cNvPr id="95" name="Rounded Rectangle 94"/>
          <p:cNvSpPr/>
          <p:nvPr/>
        </p:nvSpPr>
        <p:spPr>
          <a:xfrm>
            <a:off x="7863840" y="4389120"/>
            <a:ext cx="3959352" cy="1920240"/>
          </a:xfrm>
          <a:prstGeom prst="roundRect">
            <a:avLst>
              <a:gd name="adj" fmla="val 5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01000" y="4416552"/>
            <a:ext cx="3685032" cy="310896"/>
          </a:xfrm>
          <a:prstGeom prst="rect">
            <a:avLst/>
          </a:prstGeom>
          <a:noFill/>
        </p:spPr>
        <p:txBody>
          <a:bodyPr wrap="square" lIns="45720" tIns="27432" rIns="45720" bIns="27432" anchor="ctr">
            <a:noAutofit/>
          </a:bodyPr>
          <a:lstStyle/>
          <a:p>
            <a:pPr algn="l"/>
            <a:r>
              <a:rPr sz="1200" b="1" i="0">
                <a:solidFill>
                  <a:srgbClr val="C62828"/>
                </a:solidFill>
                <a:latin typeface="Calibri"/>
                <a:cs typeface="Calibri"/>
              </a:rPr>
              <a:t>WHY THE BASELINES FAILED</a:t>
            </a:r>
          </a:p>
        </p:txBody>
      </p:sp>
      <p:sp>
        <p:nvSpPr>
          <p:cNvPr id="97" name="TextBox 96"/>
          <p:cNvSpPr txBox="1"/>
          <p:nvPr/>
        </p:nvSpPr>
        <p:spPr>
          <a:xfrm>
            <a:off x="8001000" y="4727448"/>
            <a:ext cx="3685032" cy="1554480"/>
          </a:xfrm>
          <a:prstGeom prst="rect">
            <a:avLst/>
          </a:prstGeom>
          <a:noFill/>
        </p:spPr>
        <p:txBody>
          <a:bodyPr wrap="square" lIns="45720" tIns="27432" rIns="45720" bIns="27432" anchor="t">
            <a:noAutofit/>
          </a:bodyPr>
          <a:lstStyle/>
          <a:p>
            <a:pPr algn="l" marL="182880" indent="-182880">
              <a:spcAft>
                <a:spcPts val="200"/>
              </a:spcAft>
              <a:buClr>
                <a:srgbClr val="C62828"/>
              </a:buClr>
              <a:buFont typeface="Arial"/>
              <a:buChar char="•"/>
            </a:pPr>
            <a:r>
              <a:rPr sz="1250" b="0" i="0">
                <a:solidFill>
                  <a:srgbClr val="1F1F1F"/>
                </a:solidFill>
                <a:latin typeface="Calibri"/>
                <a:cs typeface="Calibri"/>
              </a:rPr>
              <a:t>Hard-coded the one account from the source report (B4, B5)</a:t>
            </a:r>
          </a:p>
          <a:p>
            <a:pPr algn="l" marL="182880" indent="-182880">
              <a:spcAft>
                <a:spcPts val="200"/>
              </a:spcAft>
              <a:buClr>
                <a:srgbClr val="C62828"/>
              </a:buClr>
              <a:buFont typeface="Arial"/>
              <a:buChar char="•"/>
            </a:pPr>
            <a:r>
              <a:rPr sz="1250" b="0" i="0">
                <a:solidFill>
                  <a:srgbClr val="1F1F1F"/>
                </a:solidFill>
                <a:latin typeface="Calibri"/>
                <a:cs typeface="Calibri"/>
              </a:rPr>
              <a:t>Wrong enum: “failure” instead of login_failure</a:t>
            </a:r>
          </a:p>
          <a:p>
            <a:pPr algn="l" marL="182880" indent="-182880">
              <a:spcAft>
                <a:spcPts val="200"/>
              </a:spcAft>
              <a:buClr>
                <a:srgbClr val="C62828"/>
              </a:buClr>
              <a:buFont typeface="Arial"/>
              <a:buChar char="•"/>
            </a:pPr>
            <a:r>
              <a:rPr sz="1250" b="0" i="0">
                <a:solidFill>
                  <a:srgbClr val="1F1F1F"/>
                </a:solidFill>
                <a:latin typeface="Calibri"/>
                <a:cs typeface="Calibri"/>
              </a:rPr>
              <a:t>7 duplicate alerts for a single incident (B2)</a:t>
            </a:r>
          </a:p>
          <a:p>
            <a:pPr algn="l" marL="182880" indent="-182880">
              <a:spcAft>
                <a:spcPts val="200"/>
              </a:spcAft>
              <a:buClr>
                <a:srgbClr val="C62828"/>
              </a:buClr>
              <a:buFont typeface="Arial"/>
              <a:buChar char="•"/>
            </a:pPr>
            <a:r>
              <a:rPr sz="1250" b="0" i="0">
                <a:solidFill>
                  <a:srgbClr val="1F1F1F"/>
                </a:solidFill>
                <a:latin typeface="Calibri"/>
                <a:cs typeface="Calibri"/>
              </a:rPr>
              <a:t>Gate off: a rule that compiles and never fires</a:t>
            </a:r>
          </a:p>
        </p:txBody>
      </p:sp>
    </p:spTree>
    <p:extLst>
      <p:ext uri="{BB962C8B-B14F-4D97-AF65-F5344CB8AC3E}">
        <p14:creationId xmlns:p14="http://schemas.microsoft.com/office/powerpoint/2010/main" val="209097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7FEE9-347A-6032-ECC8-EDE6DA94167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51C5848-B248-2351-7CC9-2DC5F5873A01}"/>
              </a:ext>
            </a:extLst>
          </p:cNvPr>
          <p:cNvSpPr>
            <a:spLocks noGrp="1"/>
          </p:cNvSpPr>
          <p:nvPr>
            <p:ph type="sldNum" sz="quarter" idx="12"/>
          </p:nvPr>
        </p:nvSpPr>
        <p:spPr/>
        <p:txBody>
          <a:bodyPr/>
          <a:lstStyle/>
          <a:p>
            <a:fld id="{C56FAF6A-4925-4D1E-8078-ECEA64474517}" type="slidenum">
              <a:rPr lang="en-IN" smtClean="0"/>
              <a:t>10</a:t>
            </a:fld>
            <a:endParaRPr lang="en-IN"/>
          </a:p>
        </p:txBody>
      </p:sp>
      <p:sp>
        <p:nvSpPr>
          <p:cNvPr id="8" name="TextBox 7">
            <a:extLst>
              <a:ext uri="{FF2B5EF4-FFF2-40B4-BE49-F238E27FC236}">
                <a16:creationId xmlns:a16="http://schemas.microsoft.com/office/drawing/2014/main" id="{FEC41C26-379A-C842-986F-F02F07FE7DF9}"/>
              </a:ext>
            </a:extLst>
          </p:cNvPr>
          <p:cNvSpPr txBox="1"/>
          <p:nvPr/>
        </p:nvSpPr>
        <p:spPr>
          <a:xfrm>
            <a:off x="1235232" y="430960"/>
            <a:ext cx="10607040" cy="584775"/>
          </a:xfrm>
          <a:prstGeom prst="rect">
            <a:avLst/>
          </a:prstGeom>
          <a:noFill/>
        </p:spPr>
        <p:txBody>
          <a:bodyPr wrap="square">
            <a:spAutoFit/>
          </a:bodyPr>
          <a:lstStyle/>
          <a:p>
            <a:pPr>
              <a:defRPr/>
            </a:pPr>
            <a:r>
              <a:rPr lang="en-US" sz="3200" b="1" dirty="0">
                <a:latin typeface="Times New Roman"/>
                <a:cs typeface="Times New Roman"/>
              </a:rPr>
              <a:t>Challenges</a:t>
            </a: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r>
              <a:rPr lang="en-IN" sz="3200" b="1" dirty="0">
                <a:latin typeface="Times New Roman" panose="02020603050405020304" pitchFamily="18" charset="0"/>
                <a:cs typeface="Times New Roman" panose="02020603050405020304" pitchFamily="18" charset="0"/>
              </a:rPr>
              <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40B41292-1277-61EF-0626-12780F5B9709}"/>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D90C3F6E-8C05-4311-C706-DB31B9254C50}"/>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EF88D09-53BF-3D11-185B-6D2C9542A36F}"/>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F46057C9-8D30-E9BC-3339-4EA0C5B0463B}"/>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2D6C487E-EA10-0DC5-748B-3D19CF0B4C83}"/>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Every hard problem here was found by </a:t>
            </a:r>
            <a:r>
              <a:rPr sz="2400" b="1" i="0">
                <a:solidFill>
                  <a:srgbClr val="820019"/>
                </a:solidFill>
                <a:latin typeface="Calibri"/>
                <a:cs typeface="Calibri"/>
              </a:rPr>
              <a:t>running</a:t>
            </a:r>
            <a:r>
              <a:rPr sz="2400" b="0" i="0">
                <a:solidFill>
                  <a:srgbClr val="1F1F1F"/>
                </a:solidFill>
                <a:latin typeface="Calibri"/>
                <a:cs typeface="Calibri"/>
              </a:rPr>
              <a:t> the system, not by reading code.</a:t>
            </a:r>
          </a:p>
        </p:txBody>
      </p:sp>
      <p:sp>
        <p:nvSpPr>
          <p:cNvPr id="16" name="Rounded Rectangle 15"/>
          <p:cNvSpPr/>
          <p:nvPr/>
        </p:nvSpPr>
        <p:spPr>
          <a:xfrm>
            <a:off x="365760" y="1783080"/>
            <a:ext cx="3666744"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0352" y="1929384"/>
            <a:ext cx="493776" cy="49377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Clock_white.png"/>
          <p:cNvPicPr>
            <a:picLocks noChangeAspect="1"/>
          </p:cNvPicPr>
          <p:nvPr/>
        </p:nvPicPr>
        <p:blipFill>
          <a:blip r:embed="rId3"/>
          <a:stretch>
            <a:fillRect/>
          </a:stretch>
        </p:blipFill>
        <p:spPr>
          <a:xfrm>
            <a:off x="653796" y="2052828"/>
            <a:ext cx="246888" cy="246888"/>
          </a:xfrm>
          <a:prstGeom prst="rect">
            <a:avLst/>
          </a:prstGeom>
        </p:spPr>
      </p:pic>
      <p:sp>
        <p:nvSpPr>
          <p:cNvPr id="19" name="TextBox 18"/>
          <p:cNvSpPr txBox="1"/>
          <p:nvPr/>
        </p:nvSpPr>
        <p:spPr>
          <a:xfrm>
            <a:off x="1115568" y="1911095"/>
            <a:ext cx="1929384" cy="548640"/>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Silent timestamp bug</a:t>
            </a:r>
          </a:p>
        </p:txBody>
      </p:sp>
      <p:sp>
        <p:nvSpPr>
          <p:cNvPr id="20" name="Rounded Rectangle 19"/>
          <p:cNvSpPr/>
          <p:nvPr/>
        </p:nvSpPr>
        <p:spPr>
          <a:xfrm>
            <a:off x="3163824" y="2029967"/>
            <a:ext cx="713232" cy="274320"/>
          </a:xfrm>
          <a:prstGeom prst="roundRect">
            <a:avLst>
              <a:gd name="adj" fmla="val 50000"/>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Fixed</a:t>
            </a:r>
          </a:p>
        </p:txBody>
      </p:sp>
      <p:sp>
        <p:nvSpPr>
          <p:cNvPr id="21" name="TextBox 20"/>
          <p:cNvSpPr txBox="1"/>
          <p:nvPr/>
        </p:nvSpPr>
        <p:spPr>
          <a:xfrm>
            <a:off x="530352" y="2560320"/>
            <a:ext cx="3337560" cy="12801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Casting an ISO string to long returned null, so time windows became unbounded. Manual rules scored 15/17, then 17/17 after the fix.</a:t>
            </a:r>
          </a:p>
        </p:txBody>
      </p:sp>
      <p:sp>
        <p:nvSpPr>
          <p:cNvPr id="22" name="Rounded Rectangle 21"/>
          <p:cNvSpPr/>
          <p:nvPr/>
        </p:nvSpPr>
        <p:spPr>
          <a:xfrm>
            <a:off x="4256532" y="1783080"/>
            <a:ext cx="3666744"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21124" y="1929384"/>
            <a:ext cx="493776" cy="49377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aRedo_white.png"/>
          <p:cNvPicPr>
            <a:picLocks noChangeAspect="1"/>
          </p:cNvPicPr>
          <p:nvPr/>
        </p:nvPicPr>
        <p:blipFill>
          <a:blip r:embed="rId4"/>
          <a:stretch>
            <a:fillRect/>
          </a:stretch>
        </p:blipFill>
        <p:spPr>
          <a:xfrm>
            <a:off x="4544568" y="2052828"/>
            <a:ext cx="246888" cy="246888"/>
          </a:xfrm>
          <a:prstGeom prst="rect">
            <a:avLst/>
          </a:prstGeom>
        </p:spPr>
      </p:pic>
      <p:sp>
        <p:nvSpPr>
          <p:cNvPr id="25" name="TextBox 24"/>
          <p:cNvSpPr txBox="1"/>
          <p:nvPr/>
        </p:nvSpPr>
        <p:spPr>
          <a:xfrm>
            <a:off x="5006340" y="1911095"/>
            <a:ext cx="1929384" cy="548640"/>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Extractor variance</a:t>
            </a:r>
          </a:p>
        </p:txBody>
      </p:sp>
      <p:sp>
        <p:nvSpPr>
          <p:cNvPr id="26" name="Rounded Rectangle 25"/>
          <p:cNvSpPr/>
          <p:nvPr/>
        </p:nvSpPr>
        <p:spPr>
          <a:xfrm>
            <a:off x="7054595" y="2029967"/>
            <a:ext cx="713232" cy="274320"/>
          </a:xfrm>
          <a:prstGeom prst="roundRect">
            <a:avLst>
              <a:gd name="adj" fmla="val 50000"/>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Open</a:t>
            </a:r>
          </a:p>
        </p:txBody>
      </p:sp>
      <p:sp>
        <p:nvSpPr>
          <p:cNvPr id="27" name="TextBox 26"/>
          <p:cNvSpPr txBox="1"/>
          <p:nvPr/>
        </p:nvSpPr>
        <p:spPr>
          <a:xfrm>
            <a:off x="4421124" y="2560320"/>
            <a:ext cx="3337560" cy="12801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Transformer output differs run to run even at temperature 0; some policy fields get dropped, so a clean 5/5 first try is not guaranteed.</a:t>
            </a:r>
          </a:p>
        </p:txBody>
      </p:sp>
      <p:sp>
        <p:nvSpPr>
          <p:cNvPr id="28" name="Rounded Rectangle 27"/>
          <p:cNvSpPr/>
          <p:nvPr/>
        </p:nvSpPr>
        <p:spPr>
          <a:xfrm>
            <a:off x="8147304" y="1783080"/>
            <a:ext cx="3666744"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311896" y="1929384"/>
            <a:ext cx="493776" cy="49377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aUserCheck_white.png"/>
          <p:cNvPicPr>
            <a:picLocks noChangeAspect="1"/>
          </p:cNvPicPr>
          <p:nvPr/>
        </p:nvPicPr>
        <p:blipFill>
          <a:blip r:embed="rId5"/>
          <a:stretch>
            <a:fillRect/>
          </a:stretch>
        </p:blipFill>
        <p:spPr>
          <a:xfrm>
            <a:off x="8435340" y="2052828"/>
            <a:ext cx="246888" cy="246888"/>
          </a:xfrm>
          <a:prstGeom prst="rect">
            <a:avLst/>
          </a:prstGeom>
        </p:spPr>
      </p:pic>
      <p:sp>
        <p:nvSpPr>
          <p:cNvPr id="31" name="TextBox 30"/>
          <p:cNvSpPr txBox="1"/>
          <p:nvPr/>
        </p:nvSpPr>
        <p:spPr>
          <a:xfrm>
            <a:off x="8897112" y="1911095"/>
            <a:ext cx="1929384" cy="548640"/>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Independent audit findings</a:t>
            </a:r>
          </a:p>
        </p:txBody>
      </p:sp>
      <p:sp>
        <p:nvSpPr>
          <p:cNvPr id="32" name="Rounded Rectangle 31"/>
          <p:cNvSpPr/>
          <p:nvPr/>
        </p:nvSpPr>
        <p:spPr>
          <a:xfrm>
            <a:off x="10945368" y="2029967"/>
            <a:ext cx="713232" cy="274320"/>
          </a:xfrm>
          <a:prstGeom prst="roundRect">
            <a:avLst>
              <a:gd name="adj" fmla="val 50000"/>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Fixed</a:t>
            </a:r>
          </a:p>
        </p:txBody>
      </p:sp>
      <p:sp>
        <p:nvSpPr>
          <p:cNvPr id="33" name="TextBox 32"/>
          <p:cNvSpPr txBox="1"/>
          <p:nvPr/>
        </p:nvSpPr>
        <p:spPr>
          <a:xfrm>
            <a:off x="8311896" y="2560320"/>
            <a:ext cx="3337560" cy="12801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Results ran on hand-authored specs; the validator accepted empty or invalid specs. Bridge built, validator hardened, 25 regression tests.</a:t>
            </a:r>
          </a:p>
        </p:txBody>
      </p:sp>
      <p:sp>
        <p:nvSpPr>
          <p:cNvPr id="34" name="Rounded Rectangle 33"/>
          <p:cNvSpPr/>
          <p:nvPr/>
        </p:nvSpPr>
        <p:spPr>
          <a:xfrm>
            <a:off x="365760" y="4069080"/>
            <a:ext cx="3666744"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0352" y="4215384"/>
            <a:ext cx="493776" cy="49377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FaStream_white.png"/>
          <p:cNvPicPr>
            <a:picLocks noChangeAspect="1"/>
          </p:cNvPicPr>
          <p:nvPr/>
        </p:nvPicPr>
        <p:blipFill>
          <a:blip r:embed="rId6"/>
          <a:stretch>
            <a:fillRect/>
          </a:stretch>
        </p:blipFill>
        <p:spPr>
          <a:xfrm>
            <a:off x="653796" y="4338828"/>
            <a:ext cx="246888" cy="246888"/>
          </a:xfrm>
          <a:prstGeom prst="rect">
            <a:avLst/>
          </a:prstGeom>
        </p:spPr>
      </p:pic>
      <p:sp>
        <p:nvSpPr>
          <p:cNvPr id="37" name="TextBox 36"/>
          <p:cNvSpPr txBox="1"/>
          <p:nvPr/>
        </p:nvSpPr>
        <p:spPr>
          <a:xfrm>
            <a:off x="1115568" y="4197096"/>
            <a:ext cx="1929384" cy="548640"/>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Streaming limits</a:t>
            </a:r>
          </a:p>
        </p:txBody>
      </p:sp>
      <p:sp>
        <p:nvSpPr>
          <p:cNvPr id="38" name="Rounded Rectangle 37"/>
          <p:cNvSpPr/>
          <p:nvPr/>
        </p:nvSpPr>
        <p:spPr>
          <a:xfrm>
            <a:off x="3163824" y="4315968"/>
            <a:ext cx="713232" cy="274320"/>
          </a:xfrm>
          <a:prstGeom prst="roundRect">
            <a:avLst>
              <a:gd name="adj" fmla="val 50000"/>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Open</a:t>
            </a:r>
          </a:p>
        </p:txBody>
      </p:sp>
      <p:sp>
        <p:nvSpPr>
          <p:cNvPr id="39" name="TextBox 38"/>
          <p:cNvSpPr txBox="1"/>
          <p:nvPr/>
        </p:nvSpPr>
        <p:spPr>
          <a:xfrm>
            <a:off x="530352" y="4846320"/>
            <a:ext cx="3337560" cy="12801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Spark cannot run these window functions on streams: only PolicyCompare streams. Others need a watermark-based rewrite.</a:t>
            </a:r>
          </a:p>
        </p:txBody>
      </p:sp>
      <p:sp>
        <p:nvSpPr>
          <p:cNvPr id="40" name="Rounded Rectangle 39"/>
          <p:cNvSpPr/>
          <p:nvPr/>
        </p:nvSpPr>
        <p:spPr>
          <a:xfrm>
            <a:off x="4256532" y="4069080"/>
            <a:ext cx="3666744"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421124" y="4215384"/>
            <a:ext cx="493776" cy="49377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FaBalanceScale_white.png"/>
          <p:cNvPicPr>
            <a:picLocks noChangeAspect="1"/>
          </p:cNvPicPr>
          <p:nvPr/>
        </p:nvPicPr>
        <p:blipFill>
          <a:blip r:embed="rId7"/>
          <a:stretch>
            <a:fillRect/>
          </a:stretch>
        </p:blipFill>
        <p:spPr>
          <a:xfrm>
            <a:off x="4544568" y="4338828"/>
            <a:ext cx="246888" cy="246888"/>
          </a:xfrm>
          <a:prstGeom prst="rect">
            <a:avLst/>
          </a:prstGeom>
        </p:spPr>
      </p:pic>
      <p:sp>
        <p:nvSpPr>
          <p:cNvPr id="43" name="TextBox 42"/>
          <p:cNvSpPr txBox="1"/>
          <p:nvPr/>
        </p:nvSpPr>
        <p:spPr>
          <a:xfrm>
            <a:off x="5006340" y="4197096"/>
            <a:ext cx="1929384" cy="548640"/>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Semantic edge cases</a:t>
            </a:r>
          </a:p>
        </p:txBody>
      </p:sp>
      <p:sp>
        <p:nvSpPr>
          <p:cNvPr id="44" name="Rounded Rectangle 43"/>
          <p:cNvSpPr/>
          <p:nvPr/>
        </p:nvSpPr>
        <p:spPr>
          <a:xfrm>
            <a:off x="7054595" y="4315968"/>
            <a:ext cx="713232" cy="274320"/>
          </a:xfrm>
          <a:prstGeom prst="roundRect">
            <a:avLst>
              <a:gd name="adj" fmla="val 50000"/>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Open</a:t>
            </a:r>
          </a:p>
        </p:txBody>
      </p:sp>
      <p:sp>
        <p:nvSpPr>
          <p:cNvPr id="45" name="TextBox 44"/>
          <p:cNvSpPr txBox="1"/>
          <p:nvPr/>
        </p:nvSpPr>
        <p:spPr>
          <a:xfrm>
            <a:off x="4421124" y="4846320"/>
            <a:ext cx="3337560" cy="12801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Repeated incidents collapse into one alert for a host; a NULL log value is read as compliant instead of insufficient context.</a:t>
            </a:r>
          </a:p>
        </p:txBody>
      </p:sp>
      <p:sp>
        <p:nvSpPr>
          <p:cNvPr id="46" name="Rounded Rectangle 45"/>
          <p:cNvSpPr/>
          <p:nvPr/>
        </p:nvSpPr>
        <p:spPr>
          <a:xfrm>
            <a:off x="8147304" y="4069080"/>
            <a:ext cx="3666744"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311896" y="4215384"/>
            <a:ext cx="493776" cy="49377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FaDatabase_white.png"/>
          <p:cNvPicPr>
            <a:picLocks noChangeAspect="1"/>
          </p:cNvPicPr>
          <p:nvPr/>
        </p:nvPicPr>
        <p:blipFill>
          <a:blip r:embed="rId8"/>
          <a:stretch>
            <a:fillRect/>
          </a:stretch>
        </p:blipFill>
        <p:spPr>
          <a:xfrm>
            <a:off x="8435340" y="4338828"/>
            <a:ext cx="246888" cy="246888"/>
          </a:xfrm>
          <a:prstGeom prst="rect">
            <a:avLst/>
          </a:prstGeom>
        </p:spPr>
      </p:pic>
      <p:sp>
        <p:nvSpPr>
          <p:cNvPr id="49" name="TextBox 48"/>
          <p:cNvSpPr txBox="1"/>
          <p:nvPr/>
        </p:nvSpPr>
        <p:spPr>
          <a:xfrm>
            <a:off x="8897112" y="4197096"/>
            <a:ext cx="1929384" cy="548640"/>
          </a:xfrm>
          <a:prstGeom prst="rect">
            <a:avLst/>
          </a:prstGeom>
          <a:noFill/>
        </p:spPr>
        <p:txBody>
          <a:bodyPr wrap="square" lIns="45720" tIns="27432" rIns="45720" bIns="27432" anchor="ctr">
            <a:noAutofit/>
          </a:bodyPr>
          <a:lstStyle/>
          <a:p>
            <a:pPr algn="l"/>
            <a:r>
              <a:rPr sz="1650" b="1" i="0">
                <a:solidFill>
                  <a:srgbClr val="820019"/>
                </a:solidFill>
                <a:latin typeface="Times New Roman"/>
                <a:cs typeface="Times New Roman"/>
              </a:rPr>
              <a:t>Data and scale limits</a:t>
            </a:r>
          </a:p>
        </p:txBody>
      </p:sp>
      <p:sp>
        <p:nvSpPr>
          <p:cNvPr id="50" name="Rounded Rectangle 49"/>
          <p:cNvSpPr/>
          <p:nvPr/>
        </p:nvSpPr>
        <p:spPr>
          <a:xfrm>
            <a:off x="10945368" y="4315968"/>
            <a:ext cx="713232" cy="274320"/>
          </a:xfrm>
          <a:prstGeom prst="roundRect">
            <a:avLst>
              <a:gd name="adj" fmla="val 50000"/>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Open</a:t>
            </a:r>
          </a:p>
        </p:txBody>
      </p:sp>
      <p:sp>
        <p:nvSpPr>
          <p:cNvPr id="51" name="TextBox 50"/>
          <p:cNvSpPr txBox="1"/>
          <p:nvPr/>
        </p:nvSpPr>
        <p:spPr>
          <a:xfrm>
            <a:off x="8311896" y="4846320"/>
            <a:ext cx="3337560" cy="12801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15 reports, 48 events, one machine: F1 and latency are small-sample numbers, and failure recovery at scale is untested.</a:t>
            </a:r>
          </a:p>
        </p:txBody>
      </p:sp>
    </p:spTree>
    <p:extLst>
      <p:ext uri="{BB962C8B-B14F-4D97-AF65-F5344CB8AC3E}">
        <p14:creationId xmlns:p14="http://schemas.microsoft.com/office/powerpoint/2010/main" val="306451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6FAF6A-4925-4D1E-8078-ECEA64474517}" type="slidenum">
              <a:rPr lang="en-IN" smtClean="0"/>
              <a:t>11</a:t>
            </a:fld>
            <a:endParaRPr lang="en-IN"/>
          </a:p>
        </p:txBody>
      </p:sp>
      <p:sp>
        <p:nvSpPr>
          <p:cNvPr id="8" name="TextBox 7">
            <a:extLst>
              <a:ext uri="{FF2B5EF4-FFF2-40B4-BE49-F238E27FC236}">
                <a16:creationId xmlns:a16="http://schemas.microsoft.com/office/drawing/2014/main" id="{CDEB24E1-EFE8-4D6C-A0BF-6C337B6CDBE1}"/>
              </a:ext>
            </a:extLst>
          </p:cNvPr>
          <p:cNvSpPr txBox="1"/>
          <p:nvPr/>
        </p:nvSpPr>
        <p:spPr>
          <a:xfrm>
            <a:off x="1180444" y="430960"/>
            <a:ext cx="10607040" cy="1077218"/>
          </a:xfrm>
          <a:prstGeom prst="rect">
            <a:avLst/>
          </a:prstGeom>
          <a:noFill/>
        </p:spPr>
        <p:txBody>
          <a:bodyPr wrap="square">
            <a:spAutoFit/>
          </a:bodyPr>
          <a:lstStyle/>
          <a:p>
            <a:pPr>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a:rPr>
              <a:t>Conclusions</a:t>
            </a:r>
            <a:r>
              <a:rPr lang="en-IN" sz="3200" dirty="0">
                <a:latin typeface="Times New Roman" panose="02020603050405020304" pitchFamily="18" charset="0"/>
                <a:cs typeface="Times New Roman" panose="02020603050405020304" pitchFamily="18" charset="0"/>
              </a:rP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172D857B-6114-487D-901F-3BE3414CF24C}"/>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24BCFDA0-1B03-47DF-AE91-84DA533C967E}"/>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FF5372F-8F94-452E-A69C-686724A91017}"/>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F489F61D-C92D-4CFA-BCB0-7AC343B2CB66}"/>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51DE6EB8-B0AB-4FE0-A649-00E345ACC767}"/>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A working, tested report-to-detection path, </a:t>
            </a:r>
            <a:r>
              <a:rPr sz="2400" b="1" i="0">
                <a:solidFill>
                  <a:srgbClr val="820019"/>
                </a:solidFill>
                <a:latin typeface="Calibri"/>
                <a:cs typeface="Calibri"/>
              </a:rPr>
              <a:t>with its limits stated openly</a:t>
            </a:r>
            <a:r>
              <a:rPr sz="2400" b="0" i="0">
                <a:solidFill>
                  <a:srgbClr val="1F1F1F"/>
                </a:solidFill>
                <a:latin typeface="Calibri"/>
                <a:cs typeface="Calibri"/>
              </a:rPr>
              <a:t>.</a:t>
            </a:r>
          </a:p>
        </p:txBody>
      </p:sp>
      <p:sp>
        <p:nvSpPr>
          <p:cNvPr id="16" name="Rounded Rectangle 15"/>
          <p:cNvSpPr/>
          <p:nvPr/>
        </p:nvSpPr>
        <p:spPr>
          <a:xfrm>
            <a:off x="365760" y="1783080"/>
            <a:ext cx="5623560"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1947672"/>
            <a:ext cx="548640" cy="548640"/>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FlagCheckered_white.png"/>
          <p:cNvPicPr>
            <a:picLocks noChangeAspect="1"/>
          </p:cNvPicPr>
          <p:nvPr/>
        </p:nvPicPr>
        <p:blipFill>
          <a:blip r:embed="rId3"/>
          <a:stretch>
            <a:fillRect/>
          </a:stretch>
        </p:blipFill>
        <p:spPr>
          <a:xfrm>
            <a:off x="685800" y="2084831"/>
            <a:ext cx="274320" cy="274320"/>
          </a:xfrm>
          <a:prstGeom prst="rect">
            <a:avLst/>
          </a:prstGeom>
        </p:spPr>
      </p:pic>
      <p:sp>
        <p:nvSpPr>
          <p:cNvPr id="19" name="TextBox 18"/>
          <p:cNvSpPr txBox="1"/>
          <p:nvPr/>
        </p:nvSpPr>
        <p:spPr>
          <a:xfrm>
            <a:off x="1261872" y="1947672"/>
            <a:ext cx="4572000" cy="548640"/>
          </a:xfrm>
          <a:prstGeom prst="rect">
            <a:avLst/>
          </a:prstGeom>
          <a:noFill/>
        </p:spPr>
        <p:txBody>
          <a:bodyPr wrap="square" lIns="45720" tIns="27432" rIns="45720" bIns="27432" anchor="ctr">
            <a:noAutofit/>
          </a:bodyPr>
          <a:lstStyle/>
          <a:p>
            <a:pPr algn="l"/>
            <a:r>
              <a:rPr sz="1900" b="1" i="0">
                <a:solidFill>
                  <a:srgbClr val="820019"/>
                </a:solidFill>
                <a:latin typeface="Times New Roman"/>
                <a:cs typeface="Times New Roman"/>
              </a:rPr>
              <a:t>Work completed</a:t>
            </a:r>
          </a:p>
        </p:txBody>
      </p:sp>
      <p:sp>
        <p:nvSpPr>
          <p:cNvPr id="20" name="TextBox 19"/>
          <p:cNvSpPr txBox="1"/>
          <p:nvPr/>
        </p:nvSpPr>
        <p:spPr>
          <a:xfrm>
            <a:off x="594360" y="2624328"/>
            <a:ext cx="5212080" cy="1234440"/>
          </a:xfrm>
          <a:prstGeom prst="rect">
            <a:avLst/>
          </a:prstGeom>
          <a:noFill/>
        </p:spPr>
        <p:txBody>
          <a:bodyPr wrap="square" lIns="45720" tIns="27432" rIns="45720" bIns="27432" anchor="t">
            <a:noAutofit/>
          </a:bodyPr>
          <a:lstStyle/>
          <a:p>
            <a:pPr algn="l" marL="182880" indent="-182880">
              <a:spcAft>
                <a:spcPts val="300"/>
              </a:spcAft>
              <a:buClr>
                <a:srgbClr val="820019"/>
              </a:buClr>
              <a:buFont typeface="Arial"/>
              <a:buChar char="•"/>
            </a:pPr>
            <a:r>
              <a:rPr sz="1650" b="0" i="0">
                <a:solidFill>
                  <a:srgbClr val="1F1F1F"/>
                </a:solidFill>
                <a:latin typeface="Calibri"/>
                <a:cs typeface="Calibri"/>
              </a:rPr>
              <a:t>All 7 phases built; 5 behaviours run end to end</a:t>
            </a:r>
          </a:p>
          <a:p>
            <a:pPr algn="l" marL="182880" indent="-182880">
              <a:spcAft>
                <a:spcPts val="300"/>
              </a:spcAft>
              <a:buClr>
                <a:srgbClr val="820019"/>
              </a:buClr>
              <a:buFont typeface="Arial"/>
              <a:buChar char="•"/>
            </a:pPr>
            <a:r>
              <a:rPr sz="1650" b="0" i="0">
                <a:solidFill>
                  <a:srgbClr val="1F1F1F"/>
                </a:solidFill>
                <a:latin typeface="Calibri"/>
                <a:cs typeface="Calibri"/>
              </a:rPr>
              <a:t>17/17 replay scenarios; 11/11 on extraction-derived specs</a:t>
            </a:r>
          </a:p>
          <a:p>
            <a:pPr algn="l" marL="182880" indent="-182880">
              <a:spcAft>
                <a:spcPts val="300"/>
              </a:spcAft>
              <a:buClr>
                <a:srgbClr val="820019"/>
              </a:buClr>
              <a:buFont typeface="Arial"/>
              <a:buChar char="•"/>
            </a:pPr>
            <a:r>
              <a:rPr sz="1650" b="0" i="0">
                <a:solidFill>
                  <a:srgbClr val="1F1F1F"/>
                </a:solidFill>
                <a:latin typeface="Calibri"/>
                <a:cs typeface="Calibri"/>
              </a:rPr>
              <a:t>25 regression tests; live analyst dashboard</a:t>
            </a:r>
          </a:p>
        </p:txBody>
      </p:sp>
      <p:sp>
        <p:nvSpPr>
          <p:cNvPr id="21" name="Rounded Rectangle 20"/>
          <p:cNvSpPr/>
          <p:nvPr/>
        </p:nvSpPr>
        <p:spPr>
          <a:xfrm>
            <a:off x="6199632" y="1783080"/>
            <a:ext cx="5623560"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82512" y="1947672"/>
            <a:ext cx="548640" cy="54864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Rocket_white.png"/>
          <p:cNvPicPr>
            <a:picLocks noChangeAspect="1"/>
          </p:cNvPicPr>
          <p:nvPr/>
        </p:nvPicPr>
        <p:blipFill>
          <a:blip r:embed="rId4"/>
          <a:stretch>
            <a:fillRect/>
          </a:stretch>
        </p:blipFill>
        <p:spPr>
          <a:xfrm>
            <a:off x="6519672" y="2084831"/>
            <a:ext cx="274320" cy="274320"/>
          </a:xfrm>
          <a:prstGeom prst="rect">
            <a:avLst/>
          </a:prstGeom>
        </p:spPr>
      </p:pic>
      <p:sp>
        <p:nvSpPr>
          <p:cNvPr id="24" name="TextBox 23"/>
          <p:cNvSpPr txBox="1"/>
          <p:nvPr/>
        </p:nvSpPr>
        <p:spPr>
          <a:xfrm>
            <a:off x="7095744" y="1947672"/>
            <a:ext cx="4572000" cy="548640"/>
          </a:xfrm>
          <a:prstGeom prst="rect">
            <a:avLst/>
          </a:prstGeom>
          <a:noFill/>
        </p:spPr>
        <p:txBody>
          <a:bodyPr wrap="square" lIns="45720" tIns="27432" rIns="45720" bIns="27432" anchor="ctr">
            <a:noAutofit/>
          </a:bodyPr>
          <a:lstStyle/>
          <a:p>
            <a:pPr algn="l"/>
            <a:r>
              <a:rPr sz="1900" b="1" i="0">
                <a:solidFill>
                  <a:srgbClr val="002060"/>
                </a:solidFill>
                <a:latin typeface="Times New Roman"/>
                <a:cs typeface="Times New Roman"/>
              </a:rPr>
              <a:t>Expected outcome and impact</a:t>
            </a:r>
          </a:p>
        </p:txBody>
      </p:sp>
      <p:sp>
        <p:nvSpPr>
          <p:cNvPr id="25" name="TextBox 24"/>
          <p:cNvSpPr txBox="1"/>
          <p:nvPr/>
        </p:nvSpPr>
        <p:spPr>
          <a:xfrm>
            <a:off x="6428232" y="2624328"/>
            <a:ext cx="5212080" cy="1234440"/>
          </a:xfrm>
          <a:prstGeom prst="rect">
            <a:avLst/>
          </a:prstGeom>
          <a:noFill/>
        </p:spPr>
        <p:txBody>
          <a:bodyPr wrap="square" lIns="45720" tIns="27432" rIns="45720" bIns="27432" anchor="t">
            <a:noAutofit/>
          </a:bodyPr>
          <a:lstStyle/>
          <a:p>
            <a:pPr algn="l" marL="182880" indent="-182880">
              <a:spcAft>
                <a:spcPts val="300"/>
              </a:spcAft>
              <a:buClr>
                <a:srgbClr val="002060"/>
              </a:buClr>
              <a:buFont typeface="Arial"/>
              <a:buChar char="•"/>
            </a:pPr>
            <a:r>
              <a:rPr sz="1650" b="0" i="0">
                <a:solidFill>
                  <a:srgbClr val="1F1F1F"/>
                </a:solidFill>
                <a:latin typeface="Calibri"/>
                <a:cs typeface="Calibri"/>
              </a:rPr>
              <a:t>Analysts get evidence-linked, reviewable, refusable rules</a:t>
            </a:r>
          </a:p>
          <a:p>
            <a:pPr algn="l" marL="182880" indent="-182880">
              <a:spcAft>
                <a:spcPts val="300"/>
              </a:spcAft>
              <a:buClr>
                <a:srgbClr val="002060"/>
              </a:buClr>
              <a:buFont typeface="Arial"/>
              <a:buChar char="•"/>
            </a:pPr>
            <a:r>
              <a:rPr sz="1650" b="0" i="0">
                <a:solidFill>
                  <a:srgbClr val="1F1F1F"/>
                </a:solidFill>
                <a:latin typeface="Calibri"/>
                <a:cs typeface="Calibri"/>
              </a:rPr>
              <a:t>Beats direct LLM generation on the tested set</a:t>
            </a:r>
          </a:p>
          <a:p>
            <a:pPr algn="l" marL="182880" indent="-182880">
              <a:spcAft>
                <a:spcPts val="300"/>
              </a:spcAft>
              <a:buClr>
                <a:srgbClr val="002060"/>
              </a:buClr>
              <a:buFont typeface="Arial"/>
              <a:buChar char="•"/>
            </a:pPr>
            <a:r>
              <a:rPr sz="1650" b="0" i="0">
                <a:solidFill>
                  <a:srgbClr val="1F1F1F"/>
                </a:solidFill>
                <a:latin typeface="Calibri"/>
                <a:cs typeface="Calibri"/>
              </a:rPr>
              <a:t>Not a guarantee against every real attack</a:t>
            </a:r>
          </a:p>
        </p:txBody>
      </p:sp>
      <p:sp>
        <p:nvSpPr>
          <p:cNvPr id="26" name="Rounded Rectangle 25"/>
          <p:cNvSpPr/>
          <p:nvPr/>
        </p:nvSpPr>
        <p:spPr>
          <a:xfrm>
            <a:off x="365760" y="4069080"/>
            <a:ext cx="5623560"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48640" y="4233672"/>
            <a:ext cx="548640" cy="548640"/>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aTasks_white.png"/>
          <p:cNvPicPr>
            <a:picLocks noChangeAspect="1"/>
          </p:cNvPicPr>
          <p:nvPr/>
        </p:nvPicPr>
        <p:blipFill>
          <a:blip r:embed="rId5"/>
          <a:stretch>
            <a:fillRect/>
          </a:stretch>
        </p:blipFill>
        <p:spPr>
          <a:xfrm>
            <a:off x="685800" y="4370832"/>
            <a:ext cx="274320" cy="274320"/>
          </a:xfrm>
          <a:prstGeom prst="rect">
            <a:avLst/>
          </a:prstGeom>
        </p:spPr>
      </p:pic>
      <p:sp>
        <p:nvSpPr>
          <p:cNvPr id="29" name="TextBox 28"/>
          <p:cNvSpPr txBox="1"/>
          <p:nvPr/>
        </p:nvSpPr>
        <p:spPr>
          <a:xfrm>
            <a:off x="1261872" y="4233672"/>
            <a:ext cx="4572000" cy="548640"/>
          </a:xfrm>
          <a:prstGeom prst="rect">
            <a:avLst/>
          </a:prstGeom>
          <a:noFill/>
        </p:spPr>
        <p:txBody>
          <a:bodyPr wrap="square" lIns="45720" tIns="27432" rIns="45720" bIns="27432" anchor="ctr">
            <a:noAutofit/>
          </a:bodyPr>
          <a:lstStyle/>
          <a:p>
            <a:pPr algn="l"/>
            <a:r>
              <a:rPr sz="1900" b="1" i="0">
                <a:solidFill>
                  <a:srgbClr val="8A6A00"/>
                </a:solidFill>
                <a:latin typeface="Times New Roman"/>
                <a:cs typeface="Times New Roman"/>
              </a:rPr>
              <a:t>Remaining before final evaluation</a:t>
            </a:r>
          </a:p>
        </p:txBody>
      </p:sp>
      <p:sp>
        <p:nvSpPr>
          <p:cNvPr id="30" name="TextBox 29"/>
          <p:cNvSpPr txBox="1"/>
          <p:nvPr/>
        </p:nvSpPr>
        <p:spPr>
          <a:xfrm>
            <a:off x="594360" y="4910328"/>
            <a:ext cx="5212080" cy="1234440"/>
          </a:xfrm>
          <a:prstGeom prst="rect">
            <a:avLst/>
          </a:prstGeom>
          <a:noFill/>
        </p:spPr>
        <p:txBody>
          <a:bodyPr wrap="square" lIns="45720" tIns="27432" rIns="45720" bIns="27432" anchor="t">
            <a:noAutofit/>
          </a:bodyPr>
          <a:lstStyle/>
          <a:p>
            <a:pPr algn="l" marL="182880" indent="-182880">
              <a:spcAft>
                <a:spcPts val="300"/>
              </a:spcAft>
              <a:buClr>
                <a:srgbClr val="8A6A00"/>
              </a:buClr>
              <a:buFont typeface="Arial"/>
              <a:buChar char="•"/>
            </a:pPr>
            <a:r>
              <a:rPr sz="1650" b="0" i="0">
                <a:solidFill>
                  <a:srgbClr val="1F1F1F"/>
                </a:solidFill>
                <a:latin typeface="Calibri"/>
                <a:cs typeface="Calibri"/>
              </a:rPr>
              <a:t>Stabilise transformer extraction (multi-run voting)</a:t>
            </a:r>
          </a:p>
          <a:p>
            <a:pPr algn="l" marL="182880" indent="-182880">
              <a:spcAft>
                <a:spcPts val="300"/>
              </a:spcAft>
              <a:buClr>
                <a:srgbClr val="8A6A00"/>
              </a:buClr>
              <a:buFont typeface="Arial"/>
              <a:buChar char="•"/>
            </a:pPr>
            <a:r>
              <a:rPr sz="1650" b="0" i="0">
                <a:solidFill>
                  <a:srgbClr val="1F1F1F"/>
                </a:solidFill>
                <a:latin typeface="Calibri"/>
                <a:cs typeface="Calibri"/>
              </a:rPr>
              <a:t>Re-run all 5 reports cleanly, end to end</a:t>
            </a:r>
          </a:p>
          <a:p>
            <a:pPr algn="l" marL="182880" indent="-182880">
              <a:spcAft>
                <a:spcPts val="300"/>
              </a:spcAft>
              <a:buClr>
                <a:srgbClr val="8A6A00"/>
              </a:buClr>
              <a:buFont typeface="Arial"/>
              <a:buChar char="•"/>
            </a:pPr>
            <a:r>
              <a:rPr sz="1650" b="0" i="0">
                <a:solidFill>
                  <a:srgbClr val="1F1F1F"/>
                </a:solidFill>
                <a:latin typeface="Calibri"/>
                <a:cs typeface="Calibri"/>
              </a:rPr>
              <a:t>Close the two semantic gaps</a:t>
            </a:r>
          </a:p>
        </p:txBody>
      </p:sp>
      <p:sp>
        <p:nvSpPr>
          <p:cNvPr id="31" name="Rounded Rectangle 30"/>
          <p:cNvSpPr/>
          <p:nvPr/>
        </p:nvSpPr>
        <p:spPr>
          <a:xfrm>
            <a:off x="6199632" y="4069080"/>
            <a:ext cx="5623560" cy="210312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382512" y="4233672"/>
            <a:ext cx="548640" cy="54864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aLightbulb_white.png"/>
          <p:cNvPicPr>
            <a:picLocks noChangeAspect="1"/>
          </p:cNvPicPr>
          <p:nvPr/>
        </p:nvPicPr>
        <p:blipFill>
          <a:blip r:embed="rId6"/>
          <a:stretch>
            <a:fillRect/>
          </a:stretch>
        </p:blipFill>
        <p:spPr>
          <a:xfrm>
            <a:off x="6519672" y="4370832"/>
            <a:ext cx="274320" cy="274320"/>
          </a:xfrm>
          <a:prstGeom prst="rect">
            <a:avLst/>
          </a:prstGeom>
        </p:spPr>
      </p:pic>
      <p:sp>
        <p:nvSpPr>
          <p:cNvPr id="34" name="TextBox 33"/>
          <p:cNvSpPr txBox="1"/>
          <p:nvPr/>
        </p:nvSpPr>
        <p:spPr>
          <a:xfrm>
            <a:off x="7095744" y="4233672"/>
            <a:ext cx="4572000" cy="548640"/>
          </a:xfrm>
          <a:prstGeom prst="rect">
            <a:avLst/>
          </a:prstGeom>
          <a:noFill/>
        </p:spPr>
        <p:txBody>
          <a:bodyPr wrap="square" lIns="45720" tIns="27432" rIns="45720" bIns="27432" anchor="ctr">
            <a:noAutofit/>
          </a:bodyPr>
          <a:lstStyle/>
          <a:p>
            <a:pPr algn="l"/>
            <a:r>
              <a:rPr sz="1900" b="1" i="0">
                <a:solidFill>
                  <a:srgbClr val="1E8E4E"/>
                </a:solidFill>
                <a:latin typeface="Times New Roman"/>
                <a:cs typeface="Times New Roman"/>
              </a:rPr>
              <a:t>Improvements planned</a:t>
            </a:r>
          </a:p>
        </p:txBody>
      </p:sp>
      <p:sp>
        <p:nvSpPr>
          <p:cNvPr id="35" name="TextBox 34"/>
          <p:cNvSpPr txBox="1"/>
          <p:nvPr/>
        </p:nvSpPr>
        <p:spPr>
          <a:xfrm>
            <a:off x="6428232" y="4910328"/>
            <a:ext cx="5212080" cy="1234440"/>
          </a:xfrm>
          <a:prstGeom prst="rect">
            <a:avLst/>
          </a:prstGeom>
          <a:noFill/>
        </p:spPr>
        <p:txBody>
          <a:bodyPr wrap="square" lIns="45720" tIns="27432" rIns="45720" bIns="27432" anchor="t">
            <a:noAutofit/>
          </a:bodyPr>
          <a:lstStyle/>
          <a:p>
            <a:pPr algn="l" marL="182880" indent="-182880">
              <a:spcAft>
                <a:spcPts val="300"/>
              </a:spcAft>
              <a:buClr>
                <a:srgbClr val="1E8E4E"/>
              </a:buClr>
              <a:buFont typeface="Arial"/>
              <a:buChar char="•"/>
            </a:pPr>
            <a:r>
              <a:rPr sz="1650" b="0" i="0">
                <a:solidFill>
                  <a:srgbClr val="1F1F1F"/>
                </a:solidFill>
                <a:latin typeface="Calibri"/>
                <a:cs typeface="Calibri"/>
              </a:rPr>
              <a:t>Larger corpus and a fine-tuned domain model</a:t>
            </a:r>
          </a:p>
          <a:p>
            <a:pPr algn="l" marL="182880" indent="-182880">
              <a:spcAft>
                <a:spcPts val="300"/>
              </a:spcAft>
              <a:buClr>
                <a:srgbClr val="1E8E4E"/>
              </a:buClr>
              <a:buFont typeface="Arial"/>
              <a:buChar char="•"/>
            </a:pPr>
            <a:r>
              <a:rPr sz="1650" b="0" i="0">
                <a:solidFill>
                  <a:srgbClr val="1F1F1F"/>
                </a:solidFill>
                <a:latin typeface="Calibri"/>
                <a:cs typeface="Calibri"/>
              </a:rPr>
              <a:t>Streaming for every recipe</a:t>
            </a:r>
          </a:p>
          <a:p>
            <a:pPr algn="l" marL="182880" indent="-182880">
              <a:spcAft>
                <a:spcPts val="300"/>
              </a:spcAft>
              <a:buClr>
                <a:srgbClr val="1E8E4E"/>
              </a:buClr>
              <a:buFont typeface="Arial"/>
              <a:buChar char="•"/>
            </a:pPr>
            <a:r>
              <a:rPr sz="1650" b="0" i="0">
                <a:solidFill>
                  <a:srgbClr val="1F1F1F"/>
                </a:solidFill>
                <a:latin typeface="Calibri"/>
                <a:cs typeface="Calibri"/>
              </a:rPr>
              <a:t>Multi-node Spark cluster runs</a:t>
            </a:r>
          </a:p>
        </p:txBody>
      </p:sp>
    </p:spTree>
    <p:extLst>
      <p:ext uri="{BB962C8B-B14F-4D97-AF65-F5344CB8AC3E}">
        <p14:creationId xmlns:p14="http://schemas.microsoft.com/office/powerpoint/2010/main" val="4008074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6FAF6A-4925-4D1E-8078-ECEA64474517}" type="slidenum">
              <a:rPr lang="en-IN" smtClean="0"/>
              <a:t>12</a:t>
            </a:fld>
            <a:endParaRPr lang="en-IN"/>
          </a:p>
        </p:txBody>
      </p:sp>
      <p:sp>
        <p:nvSpPr>
          <p:cNvPr id="6" name="Rectangle 5"/>
          <p:cNvSpPr/>
          <p:nvPr/>
        </p:nvSpPr>
        <p:spPr>
          <a:xfrm>
            <a:off x="365760" y="1280160"/>
            <a:ext cx="11430000" cy="2031325"/>
          </a:xfrm>
          <a:prstGeom prst="rect">
            <a:avLst/>
          </a:prstGeom>
        </p:spPr>
        <p:txBody>
          <a:bodyPr wrap="square">
            <a:spAutoFit/>
          </a:bodyPr>
          <a:lstStyle/>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G. Husari, E. Al-Shaer, M. Ahmed, B. Chu, and X. Niu, “TTPDrill: Automatic and accurate extraction of threat actions from unstructured text of CTI sources,” in </a:t>
            </a:r>
            <a:r>
              <a:rPr lang="en-US" sz="1500" dirty="0" i="1">
                <a:solidFill>
                  <a:srgbClr val="000000"/>
                </a:solidFill>
                <a:effectLst/>
                <a:latin typeface="Times New Roman" panose="02020603050405020304" pitchFamily="18" charset="0"/>
                <a:ea typeface="Calibri" panose="020F0502020204030204" pitchFamily="34" charset="0"/>
              </a:rPr>
              <a:t>Proc. 33rd Annu. Comput. Security Appl. Conf. (ACSAC)</a:t>
            </a:r>
            <a:r>
              <a:rPr lang="en-US" sz="1500" dirty="0">
                <a:solidFill>
                  <a:srgbClr val="000000"/>
                </a:solidFill>
                <a:effectLst/>
                <a:latin typeface="Times New Roman" panose="02020603050405020304" pitchFamily="18" charset="0"/>
                <a:ea typeface="Calibri" panose="020F0502020204030204" pitchFamily="34" charset="0"/>
              </a:rPr>
              <a:t>, 2017, pp. 103–115.</a:t>
            </a:r>
            <a:endParaRPr lang="en-US" sz="1500" dirty="0">
              <a:effectLst/>
              <a:latin typeface="Times New Roman" panose="02020603050405020304" pitchFamily="18" charset="0"/>
              <a:ea typeface="Times New Roman" panose="02020603050405020304" pitchFamily="18" charset="0"/>
            </a:endParaRPr>
          </a:p>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K. Satvat, R. Gjomemo, and V. N. Venkatakrishnan, “EXTRACTOR: Extracting attack behavior from threat reports,” in </a:t>
            </a:r>
            <a:r>
              <a:rPr lang="en-US" sz="1500" dirty="0" i="1">
                <a:solidFill>
                  <a:srgbClr val="000000"/>
                </a:solidFill>
                <a:effectLst/>
                <a:latin typeface="Times New Roman" panose="02020603050405020304" pitchFamily="18" charset="0"/>
                <a:ea typeface="Calibri" panose="020F0502020204030204" pitchFamily="34" charset="0"/>
              </a:rPr>
              <a:t>Proc. IEEE Eur. Symp. Security Privacy (EuroS&amp;P)</a:t>
            </a:r>
            <a:r>
              <a:rPr lang="en-US" sz="1500" dirty="0">
                <a:solidFill>
                  <a:srgbClr val="000000"/>
                </a:solidFill>
                <a:effectLst/>
                <a:latin typeface="Times New Roman" panose="02020603050405020304" pitchFamily="18" charset="0"/>
                <a:ea typeface="Calibri" panose="020F0502020204030204" pitchFamily="34" charset="0"/>
              </a:rPr>
              <a:t>, 2021.</a:t>
            </a:r>
            <a:endParaRPr lang="en-US" sz="1500" dirty="0">
              <a:effectLst/>
              <a:latin typeface="Times New Roman" panose="02020603050405020304" pitchFamily="18" charset="0"/>
              <a:ea typeface="Times New Roman" panose="02020603050405020304" pitchFamily="18" charset="0"/>
            </a:endParaRPr>
          </a:p>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Z. Li, J. Zeng, Y. Chen, and Z. Liang, “AttacKG: Constructing technique knowledge graph from cyber threat intelligence reports,” in </a:t>
            </a:r>
            <a:r>
              <a:rPr lang="en-US" sz="1500" dirty="0" i="1">
                <a:solidFill>
                  <a:srgbClr val="000000"/>
                </a:solidFill>
                <a:effectLst/>
                <a:latin typeface="Times New Roman" panose="02020603050405020304" pitchFamily="18" charset="0"/>
                <a:ea typeface="Calibri" panose="020F0502020204030204" pitchFamily="34" charset="0"/>
              </a:rPr>
              <a:t>Computer Security – ESORICS 2022</a:t>
            </a:r>
            <a:r>
              <a:rPr lang="en-US" sz="1500" dirty="0">
                <a:solidFill>
                  <a:srgbClr val="000000"/>
                </a:solidFill>
                <a:effectLst/>
                <a:latin typeface="Times New Roman" panose="02020603050405020304" pitchFamily="18" charset="0"/>
                <a:ea typeface="Calibri" panose="020F0502020204030204" pitchFamily="34" charset="0"/>
              </a:rPr>
              <a:t>. Cham, Switzerland: Springer, 2022, doi: 10.1007/978-3-031-17140-6_29.</a:t>
            </a:r>
            <a:endParaRPr lang="en-US" sz="1500" dirty="0">
              <a:effectLst/>
              <a:latin typeface="Times New Roman" panose="02020603050405020304" pitchFamily="18" charset="0"/>
              <a:ea typeface="Times New Roman" panose="02020603050405020304" pitchFamily="18" charset="0"/>
            </a:endParaRPr>
          </a:p>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E. Aghaei, X. Niu, W. Shadid, and E. Al-Shaer, “SecureBERT: A domain-specific language model for cybersecurity,” in </a:t>
            </a:r>
            <a:r>
              <a:rPr lang="en-US" sz="1500" dirty="0" i="1">
                <a:solidFill>
                  <a:srgbClr val="000000"/>
                </a:solidFill>
                <a:effectLst/>
                <a:latin typeface="Times New Roman" panose="02020603050405020304" pitchFamily="18" charset="0"/>
                <a:ea typeface="Calibri" panose="020F0502020204030204" pitchFamily="34" charset="0"/>
              </a:rPr>
              <a:t>Security and Privacy in Communication Networks (SecureComm 2022)</a:t>
            </a:r>
            <a:r>
              <a:rPr lang="en-US" sz="1500" dirty="0">
                <a:solidFill>
                  <a:srgbClr val="000000"/>
                </a:solidFill>
                <a:effectLst/>
                <a:latin typeface="Times New Roman" panose="02020603050405020304" pitchFamily="18" charset="0"/>
                <a:ea typeface="Calibri" panose="020F0502020204030204" pitchFamily="34" charset="0"/>
              </a:rPr>
              <a:t>. Springer, 2023, pp. 39–56.</a:t>
            </a:r>
            <a:endParaRPr lang="en-US" sz="1500" dirty="0">
              <a:effectLst/>
              <a:latin typeface="Times New Roman" panose="02020603050405020304" pitchFamily="18" charset="0"/>
              <a:ea typeface="Times New Roman" panose="02020603050405020304" pitchFamily="18" charset="0"/>
            </a:endParaRPr>
          </a:p>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B. E. Strom </a:t>
            </a:r>
            <a:r>
              <a:rPr lang="en-US" sz="1500" dirty="0" i="1">
                <a:solidFill>
                  <a:srgbClr val="000000"/>
                </a:solidFill>
                <a:effectLst/>
                <a:latin typeface="Times New Roman" panose="02020603050405020304" pitchFamily="18" charset="0"/>
                <a:ea typeface="Calibri" panose="020F0502020204030204" pitchFamily="34" charset="0"/>
              </a:rPr>
              <a:t>et al.</a:t>
            </a:r>
            <a:r>
              <a:rPr lang="en-US" sz="1500" dirty="0">
                <a:solidFill>
                  <a:srgbClr val="000000"/>
                </a:solidFill>
                <a:effectLst/>
                <a:latin typeface="Times New Roman" panose="02020603050405020304" pitchFamily="18" charset="0"/>
                <a:ea typeface="Calibri" panose="020F0502020204030204" pitchFamily="34" charset="0"/>
              </a:rPr>
              <a:t>, “MITRE ATT&amp;CK: Design and philosophy,” The MITRE Corporation, Tech. Rep., 2018.</a:t>
            </a:r>
            <a:endParaRPr lang="en-US" sz="1500" dirty="0">
              <a:effectLst/>
              <a:latin typeface="Times New Roman" panose="02020603050405020304" pitchFamily="18" charset="0"/>
              <a:ea typeface="Times New Roman" panose="02020603050405020304" pitchFamily="18" charset="0"/>
            </a:endParaRPr>
          </a:p>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SigmaHQ, “Sigma: Generic signature format for SIEM systems.” GitHub. [Online]. Available: https://github.com/SigmaHQ/sigma</a:t>
            </a:r>
            <a:endParaRPr lang="en-US" sz="1500" dirty="0">
              <a:effectLst/>
              <a:latin typeface="Times New Roman" panose="02020603050405020304" pitchFamily="18" charset="0"/>
              <a:ea typeface="Times New Roman" panose="02020603050405020304" pitchFamily="18" charset="0"/>
            </a:endParaRPr>
          </a:p>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Z. Ji </a:t>
            </a:r>
            <a:r>
              <a:rPr lang="en-US" sz="1500" dirty="0" i="1">
                <a:solidFill>
                  <a:srgbClr val="000000"/>
                </a:solidFill>
                <a:effectLst/>
                <a:latin typeface="Times New Roman" panose="02020603050405020304" pitchFamily="18" charset="0"/>
                <a:ea typeface="Calibri" panose="020F0502020204030204" pitchFamily="34" charset="0"/>
              </a:rPr>
              <a:t>et al.</a:t>
            </a:r>
            <a:r>
              <a:rPr lang="en-US" sz="1500" dirty="0">
                <a:solidFill>
                  <a:srgbClr val="000000"/>
                </a:solidFill>
                <a:effectLst/>
                <a:latin typeface="Times New Roman" panose="02020603050405020304" pitchFamily="18" charset="0"/>
                <a:ea typeface="Calibri" panose="020F0502020204030204" pitchFamily="34" charset="0"/>
              </a:rPr>
              <a:t>, “Survey of hallucination in natural language generation,” </a:t>
            </a:r>
            <a:r>
              <a:rPr lang="en-US" sz="1500" dirty="0" i="1">
                <a:solidFill>
                  <a:srgbClr val="000000"/>
                </a:solidFill>
                <a:effectLst/>
                <a:latin typeface="Times New Roman" panose="02020603050405020304" pitchFamily="18" charset="0"/>
                <a:ea typeface="Calibri" panose="020F0502020204030204" pitchFamily="34" charset="0"/>
              </a:rPr>
              <a:t>ACM Comput. Surv.</a:t>
            </a:r>
            <a:r>
              <a:rPr lang="en-US" sz="1500" dirty="0">
                <a:solidFill>
                  <a:srgbClr val="000000"/>
                </a:solidFill>
                <a:effectLst/>
                <a:latin typeface="Times New Roman" panose="02020603050405020304" pitchFamily="18" charset="0"/>
                <a:ea typeface="Calibri" panose="020F0502020204030204" pitchFamily="34" charset="0"/>
              </a:rPr>
              <a:t>, vol. 55, no. 12, Art. 248, 2023.</a:t>
            </a:r>
            <a:endParaRPr lang="en-US" sz="1500" dirty="0">
              <a:effectLst/>
              <a:latin typeface="Times New Roman" panose="02020603050405020304" pitchFamily="18" charset="0"/>
              <a:ea typeface="Times New Roman" panose="02020603050405020304" pitchFamily="18" charset="0"/>
            </a:endParaRPr>
          </a:p>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K. Greshake </a:t>
            </a:r>
            <a:r>
              <a:rPr lang="en-US" sz="1500" dirty="0" i="1">
                <a:solidFill>
                  <a:srgbClr val="000000"/>
                </a:solidFill>
                <a:effectLst/>
                <a:latin typeface="Times New Roman" panose="02020603050405020304" pitchFamily="18" charset="0"/>
                <a:ea typeface="Calibri" panose="020F0502020204030204" pitchFamily="34" charset="0"/>
              </a:rPr>
              <a:t>et al.</a:t>
            </a:r>
            <a:r>
              <a:rPr lang="en-US" sz="1500" dirty="0">
                <a:solidFill>
                  <a:srgbClr val="000000"/>
                </a:solidFill>
                <a:effectLst/>
                <a:latin typeface="Times New Roman" panose="02020603050405020304" pitchFamily="18" charset="0"/>
                <a:ea typeface="Calibri" panose="020F0502020204030204" pitchFamily="34" charset="0"/>
              </a:rPr>
              <a:t>, “Not what you’ve signed up for: Compromising real-world LLM-integrated applications with indirect prompt injection,” in </a:t>
            </a:r>
            <a:r>
              <a:rPr lang="en-US" sz="1500" dirty="0" i="1">
                <a:solidFill>
                  <a:srgbClr val="000000"/>
                </a:solidFill>
                <a:effectLst/>
                <a:latin typeface="Times New Roman" panose="02020603050405020304" pitchFamily="18" charset="0"/>
                <a:ea typeface="Calibri" panose="020F0502020204030204" pitchFamily="34" charset="0"/>
              </a:rPr>
              <a:t>Proc. 16th ACM Workshop Artif. Intell. Security (AISec)</a:t>
            </a:r>
            <a:r>
              <a:rPr lang="en-US" sz="1500" dirty="0">
                <a:solidFill>
                  <a:srgbClr val="000000"/>
                </a:solidFill>
                <a:effectLst/>
                <a:latin typeface="Times New Roman" panose="02020603050405020304" pitchFamily="18" charset="0"/>
                <a:ea typeface="Calibri" panose="020F0502020204030204" pitchFamily="34" charset="0"/>
              </a:rPr>
              <a:t>, 2023, pp. 79–90.</a:t>
            </a:r>
            <a:endParaRPr lang="en-US" sz="1500" dirty="0">
              <a:effectLst/>
              <a:latin typeface="Times New Roman" panose="02020603050405020304" pitchFamily="18" charset="0"/>
              <a:ea typeface="Times New Roman" panose="02020603050405020304" pitchFamily="18" charset="0"/>
            </a:endParaRPr>
          </a:p>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M. Zaharia </a:t>
            </a:r>
            <a:r>
              <a:rPr lang="en-US" sz="1500" dirty="0" i="1">
                <a:solidFill>
                  <a:srgbClr val="000000"/>
                </a:solidFill>
                <a:effectLst/>
                <a:latin typeface="Times New Roman" panose="02020603050405020304" pitchFamily="18" charset="0"/>
                <a:ea typeface="Calibri" panose="020F0502020204030204" pitchFamily="34" charset="0"/>
              </a:rPr>
              <a:t>et al.</a:t>
            </a:r>
            <a:r>
              <a:rPr lang="en-US" sz="1500" dirty="0">
                <a:solidFill>
                  <a:srgbClr val="000000"/>
                </a:solidFill>
                <a:effectLst/>
                <a:latin typeface="Times New Roman" panose="02020603050405020304" pitchFamily="18" charset="0"/>
                <a:ea typeface="Calibri" panose="020F0502020204030204" pitchFamily="34" charset="0"/>
              </a:rPr>
              <a:t>, “Apache Spark: A unified engine for big data processing,” </a:t>
            </a:r>
            <a:r>
              <a:rPr lang="en-US" sz="1500" dirty="0" i="1">
                <a:solidFill>
                  <a:srgbClr val="000000"/>
                </a:solidFill>
                <a:effectLst/>
                <a:latin typeface="Times New Roman" panose="02020603050405020304" pitchFamily="18" charset="0"/>
                <a:ea typeface="Calibri" panose="020F0502020204030204" pitchFamily="34" charset="0"/>
              </a:rPr>
              <a:t>Commun. ACM</a:t>
            </a:r>
            <a:r>
              <a:rPr lang="en-US" sz="1500" dirty="0">
                <a:solidFill>
                  <a:srgbClr val="000000"/>
                </a:solidFill>
                <a:effectLst/>
                <a:latin typeface="Times New Roman" panose="02020603050405020304" pitchFamily="18" charset="0"/>
                <a:ea typeface="Calibri" panose="020F0502020204030204" pitchFamily="34" charset="0"/>
              </a:rPr>
              <a:t>, vol. 59, no. 11, pp. 56–65, 2016.</a:t>
            </a:r>
            <a:endParaRPr lang="en-US" sz="1500" dirty="0">
              <a:effectLst/>
              <a:latin typeface="Times New Roman" panose="02020603050405020304" pitchFamily="18" charset="0"/>
              <a:ea typeface="Times New Roman" panose="02020603050405020304" pitchFamily="18" charset="0"/>
            </a:endParaRPr>
          </a:p>
          <a:p>
            <a:pPr marL="342900" lvl="0" indent="-342900" algn="just">
              <a:spcBef>
                <a:spcPts val="300"/>
              </a:spcBef>
              <a:buFont typeface="+mj-lt"/>
              <a:buAutoNum type="arabicPeriod"/>
            </a:pPr>
            <a:r>
              <a:rPr lang="en-US" sz="1500" dirty="0">
                <a:solidFill>
                  <a:srgbClr val="000000"/>
                </a:solidFill>
                <a:effectLst/>
                <a:latin typeface="Times New Roman" panose="02020603050405020304" pitchFamily="18" charset="0"/>
                <a:ea typeface="Calibri" panose="020F0502020204030204" pitchFamily="34" charset="0"/>
              </a:rPr>
              <a:t>M. Armbrust </a:t>
            </a:r>
            <a:r>
              <a:rPr lang="en-US" sz="1500" dirty="0" i="1">
                <a:solidFill>
                  <a:srgbClr val="000000"/>
                </a:solidFill>
                <a:effectLst/>
                <a:latin typeface="Times New Roman" panose="02020603050405020304" pitchFamily="18" charset="0"/>
                <a:ea typeface="Calibri" panose="020F0502020204030204" pitchFamily="34" charset="0"/>
              </a:rPr>
              <a:t>et al.</a:t>
            </a:r>
            <a:r>
              <a:rPr lang="en-US" sz="1500" dirty="0">
                <a:solidFill>
                  <a:srgbClr val="000000"/>
                </a:solidFill>
                <a:effectLst/>
                <a:latin typeface="Times New Roman" panose="02020603050405020304" pitchFamily="18" charset="0"/>
                <a:ea typeface="Calibri" panose="020F0502020204030204" pitchFamily="34" charset="0"/>
              </a:rPr>
              <a:t>, “Structured Streaming: A declarative API for real-time applications in Apache Spark,” in </a:t>
            </a:r>
            <a:r>
              <a:rPr lang="en-US" sz="1500" dirty="0" i="1">
                <a:solidFill>
                  <a:srgbClr val="000000"/>
                </a:solidFill>
                <a:effectLst/>
                <a:latin typeface="Times New Roman" panose="02020603050405020304" pitchFamily="18" charset="0"/>
                <a:ea typeface="Calibri" panose="020F0502020204030204" pitchFamily="34" charset="0"/>
              </a:rPr>
              <a:t>Proc. ACM SIGMOD Int. Conf. Manage. Data</a:t>
            </a:r>
            <a:r>
              <a:rPr lang="en-US" sz="1500" dirty="0">
                <a:solidFill>
                  <a:srgbClr val="000000"/>
                </a:solidFill>
                <a:effectLst/>
                <a:latin typeface="Times New Roman" panose="02020603050405020304" pitchFamily="18" charset="0"/>
                <a:ea typeface="Calibri" panose="020F0502020204030204" pitchFamily="34" charset="0"/>
              </a:rPr>
              <a:t>, 2018, pp. 601–613.</a:t>
            </a:r>
            <a:endParaRPr lang="en-US" sz="15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C0C30923-775B-4C23-911A-F794CB817EC5}"/>
              </a:ext>
            </a:extLst>
          </p:cNvPr>
          <p:cNvSpPr txBox="1"/>
          <p:nvPr/>
        </p:nvSpPr>
        <p:spPr>
          <a:xfrm>
            <a:off x="1141941" y="172292"/>
            <a:ext cx="11159156" cy="954107"/>
          </a:xfrm>
          <a:prstGeom prst="rect">
            <a:avLst/>
          </a:prstGeom>
          <a:noFill/>
        </p:spPr>
        <p:txBody>
          <a:bodyPr wrap="square">
            <a:spAutoFit/>
          </a:bodyPr>
          <a:lstStyle/>
          <a:p>
            <a:pPr>
              <a:defRPr sz="2400">
                <a:solidFill>
                  <a:srgbClr val="000000"/>
                </a:solidFill>
              </a:defRPr>
            </a:pPr>
            <a:r>
              <a:rPr kumimoji="0" lang="en-US" sz="2800" b="1" i="1" u="none" strike="noStrike" kern="1200" cap="none" spc="0" normalizeH="0" baseline="0" noProof="0" dirty="0">
                <a:ln>
                  <a:noFill/>
                </a:ln>
                <a:solidFill>
                  <a:prstClr val="black"/>
                </a:solidFill>
                <a:effectLst/>
                <a:uLnTx/>
                <a:uFillTx/>
                <a:latin typeface="Times New Roman"/>
                <a:ea typeface="Times New Roman"/>
                <a:cs typeface="+mn-cs"/>
              </a:rPr>
              <a:t>References</a:t>
            </a:r>
            <a:r>
              <a:rPr kumimoji="0" lang="en-US" sz="2800" b="1" i="0" u="none" strike="noStrike" kern="1200" cap="none" spc="0" normalizeH="0" baseline="0" noProof="0" dirty="0">
                <a:ln>
                  <a:noFill/>
                </a:ln>
                <a:solidFill>
                  <a:prstClr val="black"/>
                </a:solidFill>
                <a:effectLst/>
                <a:uLnTx/>
                <a:uFillTx/>
                <a:latin typeface="Times New Roman"/>
                <a:ea typeface="Times New Roman"/>
                <a:cs typeface="+mn-cs"/>
              </a:rPr>
              <a:t>:</a:t>
            </a:r>
            <a:endParaRPr lang="en-US" sz="2800" dirty="0"/>
          </a:p>
          <a:p>
            <a:pPr marL="228600" marR="0" lvl="0" indent="-76200" algn="just" defTabSz="914400" rtl="0" eaLnBrk="1" fontAlgn="auto" latinLnBrk="0" hangingPunct="1">
              <a:lnSpc>
                <a:spcPct val="100000"/>
              </a:lnSpc>
              <a:spcBef>
                <a:spcPts val="0"/>
              </a:spcBef>
              <a:spcAft>
                <a:spcPts val="0"/>
              </a:spcAft>
              <a:buClrTx/>
              <a:buSzTx/>
              <a:buFontTx/>
              <a:buNone/>
              <a:tabLst>
                <a:tab pos="228600" algn="l"/>
                <a:tab pos="457200" algn="l"/>
              </a:tabLst>
              <a:defRPr/>
            </a:pPr>
            <a:endParaRPr kumimoji="0" lang="en-US" sz="2800" b="1" i="0" u="none" strike="noStrike" kern="1200" cap="none" spc="0" normalizeH="0" baseline="0" noProof="0" dirty="0">
              <a:ln>
                <a:noFill/>
              </a:ln>
              <a:solidFill>
                <a:prstClr val="black"/>
              </a:solidFill>
              <a:effectLst/>
              <a:uLnTx/>
              <a:uFillTx/>
              <a:latin typeface="Times New Roman"/>
              <a:ea typeface="Times New Roman"/>
              <a:cs typeface="+mn-cs"/>
            </a:endParaRPr>
          </a:p>
        </p:txBody>
      </p:sp>
      <p:pic>
        <p:nvPicPr>
          <p:cNvPr id="3" name="Picture 2">
            <a:extLst>
              <a:ext uri="{FF2B5EF4-FFF2-40B4-BE49-F238E27FC236}">
                <a16:creationId xmlns:a16="http://schemas.microsoft.com/office/drawing/2014/main" id="{56B13AAB-5FA3-4E7E-B8DD-DD0286BB530E}"/>
              </a:ext>
            </a:extLst>
          </p:cNvPr>
          <p:cNvPicPr>
            <a:picLocks noChangeAspect="1"/>
          </p:cNvPicPr>
          <p:nvPr/>
        </p:nvPicPr>
        <p:blipFill>
          <a:blip r:embed="rId2"/>
          <a:stretch>
            <a:fillRect/>
          </a:stretch>
        </p:blipFill>
        <p:spPr>
          <a:xfrm>
            <a:off x="454600" y="901232"/>
            <a:ext cx="11565114" cy="164606"/>
          </a:xfrm>
          <a:prstGeom prst="rect">
            <a:avLst/>
          </a:prstGeom>
        </p:spPr>
      </p:pic>
      <p:sp>
        <p:nvSpPr>
          <p:cNvPr id="10" name="Footer Placeholder 3">
            <a:extLst>
              <a:ext uri="{FF2B5EF4-FFF2-40B4-BE49-F238E27FC236}">
                <a16:creationId xmlns:a16="http://schemas.microsoft.com/office/drawing/2014/main" id="{3710AE7D-6F6B-481B-BAF2-186D0C303720}"/>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0396D429-9211-43C3-BFD1-63D7E703192E}"/>
              </a:ext>
            </a:extLst>
          </p:cNvPr>
          <p:cNvPicPr>
            <a:picLocks noChangeAspect="1"/>
          </p:cNvPicPr>
          <p:nvPr/>
        </p:nvPicPr>
        <p:blipFill>
          <a:blip r:embed="rId3"/>
          <a:stretch>
            <a:fillRect/>
          </a:stretch>
        </p:blipFill>
        <p:spPr>
          <a:xfrm>
            <a:off x="172286" y="-70039"/>
            <a:ext cx="971072" cy="971072"/>
          </a:xfrm>
          <a:prstGeom prst="rect">
            <a:avLst/>
          </a:prstGeom>
        </p:spPr>
      </p:pic>
    </p:spTree>
    <p:extLst>
      <p:ext uri="{BB962C8B-B14F-4D97-AF65-F5344CB8AC3E}">
        <p14:creationId xmlns:p14="http://schemas.microsoft.com/office/powerpoint/2010/main" val="605590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6FAF6A-4925-4D1E-8078-ECEA64474517}" type="slidenum">
              <a:rPr lang="en-IN" smtClean="0"/>
              <a:t>13</a:t>
            </a:fld>
            <a:endParaRPr lang="en-IN"/>
          </a:p>
        </p:txBody>
      </p:sp>
      <p:sp>
        <p:nvSpPr>
          <p:cNvPr id="6" name="Rectangle 5"/>
          <p:cNvSpPr/>
          <p:nvPr/>
        </p:nvSpPr>
        <p:spPr>
          <a:xfrm>
            <a:off x="4088859" y="1896636"/>
            <a:ext cx="3294434" cy="1938992"/>
          </a:xfrm>
          <a:prstGeom prst="rect">
            <a:avLst/>
          </a:prstGeom>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endParaRPr 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Times New Roman"/>
            </a:endParaRPr>
          </a:p>
          <a:p>
            <a:r>
              <a:rPr 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Times New Roman"/>
              </a:rPr>
              <a:t> Thank </a:t>
            </a:r>
          </a:p>
          <a:p>
            <a:r>
              <a:rPr 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Times New Roman"/>
              </a:rPr>
              <a:t>		You</a:t>
            </a:r>
            <a:endParaRPr 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8" name="Footer Placeholder 3">
            <a:extLst>
              <a:ext uri="{FF2B5EF4-FFF2-40B4-BE49-F238E27FC236}">
                <a16:creationId xmlns:a16="http://schemas.microsoft.com/office/drawing/2014/main" id="{74949C26-9139-44BC-96A0-A9F2DE340BD1}"/>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2743200" y="4572000"/>
            <a:ext cx="6702552" cy="548640"/>
          </a:xfrm>
          <a:prstGeom prst="rect">
            <a:avLst/>
          </a:prstGeom>
          <a:noFill/>
        </p:spPr>
        <p:txBody>
          <a:bodyPr wrap="square" lIns="45720" tIns="27432" rIns="45720" bIns="27432" anchor="ctr">
            <a:noAutofit/>
          </a:bodyPr>
          <a:lstStyle/>
          <a:p>
            <a:pPr algn="ctr"/>
            <a:r>
              <a:rPr sz="2800" b="1" i="1">
                <a:solidFill>
                  <a:srgbClr val="820019"/>
                </a:solidFill>
                <a:latin typeface="Times New Roman"/>
                <a:cs typeface="Times New Roman"/>
              </a:rPr>
              <a:t>Questions &amp; Discussion</a:t>
            </a:r>
          </a:p>
        </p:txBody>
      </p:sp>
      <p:sp>
        <p:nvSpPr>
          <p:cNvPr id="10" name="TextBox 9"/>
          <p:cNvSpPr txBox="1"/>
          <p:nvPr/>
        </p:nvSpPr>
        <p:spPr>
          <a:xfrm>
            <a:off x="1371600" y="5166360"/>
            <a:ext cx="9445752" cy="822960"/>
          </a:xfrm>
          <a:prstGeom prst="rect">
            <a:avLst/>
          </a:prstGeom>
          <a:noFill/>
        </p:spPr>
        <p:txBody>
          <a:bodyPr wrap="square" lIns="45720" tIns="27432" rIns="45720" bIns="27432" anchor="t">
            <a:noAutofit/>
          </a:bodyPr>
          <a:lstStyle/>
          <a:p>
            <a:pPr algn="ctr">
              <a:spcAft>
                <a:spcPts val="200"/>
              </a:spcAft>
            </a:pPr>
            <a:r>
              <a:rPr sz="1700" b="0" i="0">
                <a:solidFill>
                  <a:srgbClr val="1F1F1F"/>
                </a:solidFill>
                <a:latin typeface="Times New Roman"/>
                <a:cs typeface="Times New Roman"/>
              </a:rPr>
              <a:t>K. Karthikeya  ·  A. Karthik  ·  K. Likhith  ·  Y. Sandeep</a:t>
            </a:r>
          </a:p>
          <a:p>
            <a:pPr algn="ctr"/>
            <a:r>
              <a:rPr sz="1700" b="0" i="0">
                <a:solidFill>
                  <a:srgbClr val="595959"/>
                </a:solidFill>
                <a:latin typeface="Times New Roman"/>
                <a:cs typeface="Times New Roman"/>
              </a:rPr>
              <a:t>SENTINEL Forge  |  Text Analytics + Big Data Analytics</a:t>
            </a:r>
          </a:p>
        </p:txBody>
      </p:sp>
    </p:spTree>
    <p:extLst>
      <p:ext uri="{BB962C8B-B14F-4D97-AF65-F5344CB8AC3E}">
        <p14:creationId xmlns:p14="http://schemas.microsoft.com/office/powerpoint/2010/main" val="1979757366"/>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Slide Number Placeholder 4">
            <a:extLst>
              <a:ext uri="{FF2B5EF4-FFF2-40B4-BE49-F238E27FC236}">
                <a16:creationId xmlns:a16="http://schemas.microsoft.com/office/drawing/2014/main" id="{3BB1CF24-B971-CBFF-0568-D54310410AEF}"/>
              </a:ext>
            </a:extLst>
          </p:cNvPr>
          <p:cNvSpPr>
            <a:spLocks noGrp="1"/>
          </p:cNvSpPr>
          <p:nvPr>
            <p:ph type="sldNum" sz="quarter" idx="12"/>
          </p:nvPr>
        </p:nvSpPr>
        <p:spPr/>
        <p:txBody>
          <a:bodyPr/>
          <a:lstStyle/>
          <a:p>
            <a:fld id="{C56FAF6A-4925-4D1E-8078-ECEA64474517}" type="slidenum">
              <a:rPr lang="en-IN" smtClean="0"/>
              <a:t>3</a:t>
            </a:fld>
            <a:endParaRPr lang="en-IN"/>
          </a:p>
        </p:txBody>
      </p:sp>
      <p:sp>
        <p:nvSpPr>
          <p:cNvPr id="8" name="TextBox 7">
            <a:extLst>
              <a:ext uri="{FF2B5EF4-FFF2-40B4-BE49-F238E27FC236}">
                <a16:creationId xmlns:a16="http://schemas.microsoft.com/office/drawing/2014/main" id="{5B0729FB-B169-BF4E-15A2-C21E69787699}"/>
              </a:ext>
            </a:extLst>
          </p:cNvPr>
          <p:cNvSpPr txBox="1"/>
          <p:nvPr/>
        </p:nvSpPr>
        <p:spPr>
          <a:xfrm>
            <a:off x="1180444" y="420286"/>
            <a:ext cx="10607040" cy="584775"/>
          </a:xfrm>
          <a:prstGeom prst="rect">
            <a:avLst/>
          </a:prstGeom>
          <a:noFill/>
        </p:spPr>
        <p:txBody>
          <a:bodyPr wrap="square">
            <a:spAutoFit/>
          </a:bodyPr>
          <a:lstStyle/>
          <a:p>
            <a:pPr>
              <a:defRPr/>
            </a:pPr>
            <a:r>
              <a:rPr lang="en-US" sz="3200" b="1" dirty="0">
                <a:latin typeface="Times New Roman" panose="02020603050405020304" pitchFamily="18" charset="0"/>
                <a:cs typeface="Times New Roman"/>
              </a:rPr>
              <a:t>Project Idea</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71586D3F-CFEB-588C-6A57-E6CA6C04CBF4}"/>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7A79684F-D9BF-C1FC-9FB2-66E7E479F2E8}"/>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FD9A56E-4F97-9A5C-1C8F-74CFF507ADBC}"/>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7DC662D4-09F8-31FE-4DBC-9CCC617B34FA}"/>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C7B746D-9102-FAC7-78A0-449051F88265}"/>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Turn written threat reports into </a:t>
            </a:r>
            <a:r>
              <a:rPr sz="2400" b="1" i="0">
                <a:solidFill>
                  <a:srgbClr val="820019"/>
                </a:solidFill>
                <a:latin typeface="Calibri"/>
                <a:cs typeface="Calibri"/>
              </a:rPr>
              <a:t>tested, evidence-linked</a:t>
            </a:r>
            <a:r>
              <a:rPr sz="2400" b="0" i="0">
                <a:solidFill>
                  <a:srgbClr val="1F1F1F"/>
                </a:solidFill>
                <a:latin typeface="Calibri"/>
                <a:cs typeface="Calibri"/>
              </a:rPr>
              <a:t> detection rules.</a:t>
            </a:r>
          </a:p>
        </p:txBody>
      </p:sp>
      <p:sp>
        <p:nvSpPr>
          <p:cNvPr id="16" name="Rounded Rectangle 15"/>
          <p:cNvSpPr/>
          <p:nvPr/>
        </p:nvSpPr>
        <p:spPr>
          <a:xfrm>
            <a:off x="365760" y="1783080"/>
            <a:ext cx="3666744" cy="20574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66928" y="1965960"/>
            <a:ext cx="603504" cy="60350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Search_white.png"/>
          <p:cNvPicPr>
            <a:picLocks noChangeAspect="1"/>
          </p:cNvPicPr>
          <p:nvPr/>
        </p:nvPicPr>
        <p:blipFill>
          <a:blip r:embed="rId3"/>
          <a:stretch>
            <a:fillRect/>
          </a:stretch>
        </p:blipFill>
        <p:spPr>
          <a:xfrm>
            <a:off x="717804" y="2116836"/>
            <a:ext cx="301752" cy="301752"/>
          </a:xfrm>
          <a:prstGeom prst="rect">
            <a:avLst/>
          </a:prstGeom>
        </p:spPr>
      </p:pic>
      <p:sp>
        <p:nvSpPr>
          <p:cNvPr id="19" name="TextBox 18"/>
          <p:cNvSpPr txBox="1"/>
          <p:nvPr/>
        </p:nvSpPr>
        <p:spPr>
          <a:xfrm>
            <a:off x="1280160" y="1965960"/>
            <a:ext cx="2615184" cy="603504"/>
          </a:xfrm>
          <a:prstGeom prst="rect">
            <a:avLst/>
          </a:prstGeom>
          <a:noFill/>
        </p:spPr>
        <p:txBody>
          <a:bodyPr wrap="square" lIns="45720" tIns="27432" rIns="45720" bIns="27432" anchor="ctr">
            <a:noAutofit/>
          </a:bodyPr>
          <a:lstStyle/>
          <a:p>
            <a:pPr algn="l"/>
            <a:r>
              <a:rPr sz="2100" b="1" i="0">
                <a:solidFill>
                  <a:srgbClr val="820019"/>
                </a:solidFill>
                <a:latin typeface="Times New Roman"/>
                <a:cs typeface="Times New Roman"/>
              </a:rPr>
              <a:t>1  ·  Understand</a:t>
            </a:r>
          </a:p>
        </p:txBody>
      </p:sp>
      <p:sp>
        <p:nvSpPr>
          <p:cNvPr id="20" name="TextBox 19"/>
          <p:cNvSpPr txBox="1"/>
          <p:nvPr/>
        </p:nvSpPr>
        <p:spPr>
          <a:xfrm>
            <a:off x="566928" y="2743200"/>
            <a:ext cx="3264408" cy="10515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NLP extracts attacker actions, entities, thresholds and event sequences from a report, keeping the exact source sentence as evidence.</a:t>
            </a:r>
          </a:p>
        </p:txBody>
      </p:sp>
      <p:sp>
        <p:nvSpPr>
          <p:cNvPr id="21" name="Chevron 20"/>
          <p:cNvSpPr/>
          <p:nvPr/>
        </p:nvSpPr>
        <p:spPr>
          <a:xfrm>
            <a:off x="4014216" y="2679192"/>
            <a:ext cx="265176" cy="384048"/>
          </a:xfrm>
          <a:prstGeom prst="chevron">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56532" y="1783080"/>
            <a:ext cx="3666744" cy="20574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57700" y="1965960"/>
            <a:ext cx="603504" cy="60350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aCogs_white.png"/>
          <p:cNvPicPr>
            <a:picLocks noChangeAspect="1"/>
          </p:cNvPicPr>
          <p:nvPr/>
        </p:nvPicPr>
        <p:blipFill>
          <a:blip r:embed="rId4"/>
          <a:stretch>
            <a:fillRect/>
          </a:stretch>
        </p:blipFill>
        <p:spPr>
          <a:xfrm>
            <a:off x="4608576" y="2116836"/>
            <a:ext cx="301752" cy="301752"/>
          </a:xfrm>
          <a:prstGeom prst="rect">
            <a:avLst/>
          </a:prstGeom>
        </p:spPr>
      </p:pic>
      <p:sp>
        <p:nvSpPr>
          <p:cNvPr id="25" name="TextBox 24"/>
          <p:cNvSpPr txBox="1"/>
          <p:nvPr/>
        </p:nvSpPr>
        <p:spPr>
          <a:xfrm>
            <a:off x="5170932" y="1965960"/>
            <a:ext cx="2615184" cy="603504"/>
          </a:xfrm>
          <a:prstGeom prst="rect">
            <a:avLst/>
          </a:prstGeom>
          <a:noFill/>
        </p:spPr>
        <p:txBody>
          <a:bodyPr wrap="square" lIns="45720" tIns="27432" rIns="45720" bIns="27432" anchor="ctr">
            <a:noAutofit/>
          </a:bodyPr>
          <a:lstStyle/>
          <a:p>
            <a:pPr algn="l"/>
            <a:r>
              <a:rPr sz="2100" b="1" i="0">
                <a:solidFill>
                  <a:srgbClr val="820019"/>
                </a:solidFill>
                <a:latin typeface="Times New Roman"/>
                <a:cs typeface="Times New Roman"/>
              </a:rPr>
              <a:t>2  ·  Compile</a:t>
            </a:r>
          </a:p>
        </p:txBody>
      </p:sp>
      <p:sp>
        <p:nvSpPr>
          <p:cNvPr id="26" name="TextBox 25"/>
          <p:cNvSpPr txBox="1"/>
          <p:nvPr/>
        </p:nvSpPr>
        <p:spPr>
          <a:xfrm>
            <a:off x="4457700" y="2743200"/>
            <a:ext cx="3264408" cy="10515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Checks that the log schema can actually observe the behaviour, then emits a typed Scala/Spark rule from a closed set of recipes.</a:t>
            </a:r>
          </a:p>
        </p:txBody>
      </p:sp>
      <p:sp>
        <p:nvSpPr>
          <p:cNvPr id="27" name="Chevron 26"/>
          <p:cNvSpPr/>
          <p:nvPr/>
        </p:nvSpPr>
        <p:spPr>
          <a:xfrm>
            <a:off x="7904988" y="2679192"/>
            <a:ext cx="265176" cy="384048"/>
          </a:xfrm>
          <a:prstGeom prst="chevron">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147304" y="1783080"/>
            <a:ext cx="3666744" cy="205740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348472" y="1965960"/>
            <a:ext cx="603504" cy="603504"/>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aClipboardCheck_white.png"/>
          <p:cNvPicPr>
            <a:picLocks noChangeAspect="1"/>
          </p:cNvPicPr>
          <p:nvPr/>
        </p:nvPicPr>
        <p:blipFill>
          <a:blip r:embed="rId5"/>
          <a:stretch>
            <a:fillRect/>
          </a:stretch>
        </p:blipFill>
        <p:spPr>
          <a:xfrm>
            <a:off x="8499348" y="2116836"/>
            <a:ext cx="301752" cy="301752"/>
          </a:xfrm>
          <a:prstGeom prst="rect">
            <a:avLst/>
          </a:prstGeom>
        </p:spPr>
      </p:pic>
      <p:sp>
        <p:nvSpPr>
          <p:cNvPr id="31" name="TextBox 30"/>
          <p:cNvSpPr txBox="1"/>
          <p:nvPr/>
        </p:nvSpPr>
        <p:spPr>
          <a:xfrm>
            <a:off x="9061704" y="1965960"/>
            <a:ext cx="2615184" cy="603504"/>
          </a:xfrm>
          <a:prstGeom prst="rect">
            <a:avLst/>
          </a:prstGeom>
          <a:noFill/>
        </p:spPr>
        <p:txBody>
          <a:bodyPr wrap="square" lIns="45720" tIns="27432" rIns="45720" bIns="27432" anchor="ctr">
            <a:noAutofit/>
          </a:bodyPr>
          <a:lstStyle/>
          <a:p>
            <a:pPr algn="l"/>
            <a:r>
              <a:rPr sz="2100" b="1" i="0">
                <a:solidFill>
                  <a:srgbClr val="820019"/>
                </a:solidFill>
                <a:latin typeface="Times New Roman"/>
                <a:cs typeface="Times New Roman"/>
              </a:rPr>
              <a:t>3  ·  Validate</a:t>
            </a:r>
          </a:p>
        </p:txBody>
      </p:sp>
      <p:sp>
        <p:nvSpPr>
          <p:cNvPr id="32" name="TextBox 31"/>
          <p:cNvSpPr txBox="1"/>
          <p:nvPr/>
        </p:nvSpPr>
        <p:spPr>
          <a:xfrm>
            <a:off x="8348472" y="2743200"/>
            <a:ext cx="3264408" cy="1051560"/>
          </a:xfrm>
          <a:prstGeom prst="rect">
            <a:avLst/>
          </a:prstGeom>
          <a:noFill/>
        </p:spPr>
        <p:txBody>
          <a:bodyPr wrap="square" lIns="45720" tIns="27432" rIns="45720" bIns="27432" anchor="t">
            <a:noAutofit/>
          </a:bodyPr>
          <a:lstStyle/>
          <a:p>
            <a:pPr algn="l"/>
            <a:r>
              <a:rPr sz="1500" b="0" i="0">
                <a:solidFill>
                  <a:srgbClr val="1F1F1F"/>
                </a:solidFill>
                <a:latin typeface="Calibri"/>
                <a:cs typeface="Calibri"/>
              </a:rPr>
              <a:t>Replays independently labelled events, reports misses and false alarms, and asks an analyst to approve, or explains why no rule can be made.</a:t>
            </a:r>
          </a:p>
        </p:txBody>
      </p:sp>
      <p:sp>
        <p:nvSpPr>
          <p:cNvPr id="33" name="Rounded Rectangle 32"/>
          <p:cNvSpPr/>
          <p:nvPr/>
        </p:nvSpPr>
        <p:spPr>
          <a:xfrm>
            <a:off x="365760" y="4041648"/>
            <a:ext cx="11457432" cy="2267712"/>
          </a:xfrm>
          <a:prstGeom prst="roundRect">
            <a:avLst>
              <a:gd name="adj" fmla="val 5000"/>
            </a:avLst>
          </a:prstGeom>
          <a:solidFill>
            <a:srgbClr val="ED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114800"/>
            <a:ext cx="5486400" cy="329184"/>
          </a:xfrm>
          <a:prstGeom prst="rect">
            <a:avLst/>
          </a:prstGeom>
          <a:noFill/>
        </p:spPr>
        <p:txBody>
          <a:bodyPr wrap="square" lIns="45720" tIns="27432" rIns="45720" bIns="27432" anchor="ctr">
            <a:noAutofit/>
          </a:bodyPr>
          <a:lstStyle/>
          <a:p>
            <a:pPr algn="l"/>
            <a:r>
              <a:rPr sz="1300" b="1" i="0">
                <a:solidFill>
                  <a:srgbClr val="002060"/>
                </a:solidFill>
                <a:latin typeface="Calibri"/>
                <a:cs typeface="Calibri"/>
              </a:rPr>
              <a:t>WORKED EXAMPLE  ·  repeated failed sign-ins, then a success</a:t>
            </a:r>
          </a:p>
        </p:txBody>
      </p:sp>
      <p:sp>
        <p:nvSpPr>
          <p:cNvPr id="35" name="Rounded Rectangle 34"/>
          <p:cNvSpPr/>
          <p:nvPr/>
        </p:nvSpPr>
        <p:spPr>
          <a:xfrm>
            <a:off x="566928" y="4526280"/>
            <a:ext cx="2542032" cy="1645920"/>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4590288"/>
            <a:ext cx="2322576" cy="329184"/>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Report sentence</a:t>
            </a:r>
          </a:p>
        </p:txBody>
      </p:sp>
      <p:sp>
        <p:nvSpPr>
          <p:cNvPr id="37" name="TextBox 36"/>
          <p:cNvSpPr txBox="1"/>
          <p:nvPr/>
        </p:nvSpPr>
        <p:spPr>
          <a:xfrm>
            <a:off x="676656" y="4937760"/>
            <a:ext cx="2322576" cy="1188720"/>
          </a:xfrm>
          <a:prstGeom prst="rect">
            <a:avLst/>
          </a:prstGeom>
          <a:noFill/>
        </p:spPr>
        <p:txBody>
          <a:bodyPr wrap="square" lIns="45720" tIns="27432" rIns="45720" bIns="27432" anchor="t">
            <a:noAutofit/>
          </a:bodyPr>
          <a:lstStyle/>
          <a:p>
            <a:pPr algn="l"/>
            <a:r>
              <a:rPr sz="1350" b="0" i="1">
                <a:solidFill>
                  <a:srgbClr val="1F1F1F"/>
                </a:solidFill>
                <a:latin typeface="Calibri"/>
                <a:cs typeface="Calibri"/>
              </a:rPr>
              <a:t>“Five or more failed sign-ins within two minutes, then a successful sign-in for the same account.”</a:t>
            </a:r>
          </a:p>
        </p:txBody>
      </p:sp>
      <p:sp>
        <p:nvSpPr>
          <p:cNvPr id="38" name="Chevron 37"/>
          <p:cNvSpPr/>
          <p:nvPr/>
        </p:nvSpPr>
        <p:spPr>
          <a:xfrm>
            <a:off x="3137916" y="5193792"/>
            <a:ext cx="237744" cy="329184"/>
          </a:xfrm>
          <a:prstGeom prst="chevron">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404616" y="4526280"/>
            <a:ext cx="2542032" cy="1645920"/>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14344" y="4590288"/>
            <a:ext cx="2322576" cy="329184"/>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Typed spec</a:t>
            </a:r>
          </a:p>
        </p:txBody>
      </p:sp>
      <p:sp>
        <p:nvSpPr>
          <p:cNvPr id="41" name="TextBox 40"/>
          <p:cNvSpPr txBox="1"/>
          <p:nvPr/>
        </p:nvSpPr>
        <p:spPr>
          <a:xfrm>
            <a:off x="3514344" y="4937760"/>
            <a:ext cx="2322576" cy="1188720"/>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SequenceThenTrigger · group by account_id · ≥ 5 login_failure in 120 s · trigger on login_success</a:t>
            </a:r>
          </a:p>
        </p:txBody>
      </p:sp>
      <p:sp>
        <p:nvSpPr>
          <p:cNvPr id="42" name="Chevron 41"/>
          <p:cNvSpPr/>
          <p:nvPr/>
        </p:nvSpPr>
        <p:spPr>
          <a:xfrm>
            <a:off x="5975604" y="5193792"/>
            <a:ext cx="237744" cy="329184"/>
          </a:xfrm>
          <a:prstGeom prst="chevron">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242304" y="4526280"/>
            <a:ext cx="2542032" cy="1645920"/>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2032" y="4590288"/>
            <a:ext cx="2322576" cy="329184"/>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Spark rule</a:t>
            </a:r>
          </a:p>
        </p:txBody>
      </p:sp>
      <p:sp>
        <p:nvSpPr>
          <p:cNvPr id="45" name="TextBox 44"/>
          <p:cNvSpPr txBox="1"/>
          <p:nvPr/>
        </p:nvSpPr>
        <p:spPr>
          <a:xfrm>
            <a:off x="6352032" y="4937760"/>
            <a:ext cx="2322576" cy="1188720"/>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Trailing-window count of failures per account; alert on the next successful login.</a:t>
            </a:r>
          </a:p>
        </p:txBody>
      </p:sp>
      <p:sp>
        <p:nvSpPr>
          <p:cNvPr id="46" name="Chevron 45"/>
          <p:cNvSpPr/>
          <p:nvPr/>
        </p:nvSpPr>
        <p:spPr>
          <a:xfrm>
            <a:off x="8813292" y="5193792"/>
            <a:ext cx="237744" cy="329184"/>
          </a:xfrm>
          <a:prstGeom prst="chevron">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079992" y="4526280"/>
            <a:ext cx="2542032" cy="1645920"/>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89719" y="4590288"/>
            <a:ext cx="2322576" cy="329184"/>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Replay verdict</a:t>
            </a:r>
          </a:p>
        </p:txBody>
      </p:sp>
      <p:sp>
        <p:nvSpPr>
          <p:cNvPr id="49" name="TextBox 48"/>
          <p:cNvSpPr txBox="1"/>
          <p:nvPr/>
        </p:nvSpPr>
        <p:spPr>
          <a:xfrm>
            <a:off x="9189719" y="4937760"/>
            <a:ext cx="2322576" cy="1188720"/>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6 / 6 labelled scenarios correct, including exact window-boundary cases.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Slide Number Placeholder 4">
            <a:extLst>
              <a:ext uri="{FF2B5EF4-FFF2-40B4-BE49-F238E27FC236}">
                <a16:creationId xmlns:a16="http://schemas.microsoft.com/office/drawing/2014/main" id="{3BB1CF24-B971-CBFF-0568-D54310410AEF}"/>
              </a:ext>
            </a:extLst>
          </p:cNvPr>
          <p:cNvSpPr>
            <a:spLocks noGrp="1"/>
          </p:cNvSpPr>
          <p:nvPr>
            <p:ph type="sldNum" sz="quarter" idx="12"/>
          </p:nvPr>
        </p:nvSpPr>
        <p:spPr/>
        <p:txBody>
          <a:bodyPr/>
          <a:lstStyle/>
          <a:p>
            <a:fld id="{C56FAF6A-4925-4D1E-8078-ECEA64474517}" type="slidenum">
              <a:rPr lang="en-IN" smtClean="0"/>
              <a:t>3</a:t>
            </a:fld>
            <a:endParaRPr lang="en-IN"/>
          </a:p>
        </p:txBody>
      </p:sp>
      <p:sp>
        <p:nvSpPr>
          <p:cNvPr id="8" name="TextBox 7">
            <a:extLst>
              <a:ext uri="{FF2B5EF4-FFF2-40B4-BE49-F238E27FC236}">
                <a16:creationId xmlns:a16="http://schemas.microsoft.com/office/drawing/2014/main" id="{5B0729FB-B169-BF4E-15A2-C21E69787699}"/>
              </a:ext>
            </a:extLst>
          </p:cNvPr>
          <p:cNvSpPr txBox="1"/>
          <p:nvPr/>
        </p:nvSpPr>
        <p:spPr>
          <a:xfrm>
            <a:off x="1180444" y="420286"/>
            <a:ext cx="10607040" cy="584775"/>
          </a:xfrm>
          <a:prstGeom prst="rect">
            <a:avLst/>
          </a:prstGeom>
          <a:noFill/>
        </p:spPr>
        <p:txBody>
          <a:bodyPr wrap="square">
            <a:spAutoFit/>
          </a:bodyPr>
          <a:lstStyle/>
          <a:p>
            <a:pPr>
              <a:defRPr/>
            </a:pPr>
            <a:r>
              <a:rPr lang="en-US" sz="3200" b="1" dirty="0">
                <a:latin typeface="Times New Roman" panose="02020603050405020304" pitchFamily="18" charset="0"/>
                <a:cs typeface="Times New Roman"/>
              </a:rPr>
              <a:t>Novelty of the Project</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71586D3F-CFEB-588C-6A57-E6CA6C04CBF4}"/>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7A79684F-D9BF-C1FC-9FB2-66E7E479F2E8}"/>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FD9A56E-4F97-9A5C-1C8F-74CFF507ADBC}"/>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7DC662D4-09F8-31FE-4DBC-9CCC617B34FA}"/>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C7B746D-9102-FAC7-78A0-449051F88265}"/>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1" i="0">
                <a:solidFill>
                  <a:srgbClr val="820019"/>
                </a:solidFill>
                <a:latin typeface="Calibri"/>
                <a:cs typeface="Calibri"/>
              </a:rPr>
              <a:t>Telemetry-aware compilation</a:t>
            </a:r>
            <a:r>
              <a:rPr sz="2400" b="0" i="0">
                <a:solidFill>
                  <a:srgbClr val="1F1F1F"/>
                </a:solidFill>
                <a:latin typeface="Calibri"/>
                <a:cs typeface="Calibri"/>
              </a:rPr>
              <a:t> with evidence and honest refusal.</a:t>
            </a:r>
          </a:p>
        </p:txBody>
      </p:sp>
      <p:sp>
        <p:nvSpPr>
          <p:cNvPr id="16" name="Rounded Rectangle 15"/>
          <p:cNvSpPr/>
          <p:nvPr/>
        </p:nvSpPr>
        <p:spPr>
          <a:xfrm>
            <a:off x="365760" y="1783080"/>
            <a:ext cx="3182112" cy="1874519"/>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0352" y="1947672"/>
            <a:ext cx="502920" cy="502920"/>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Eye_white.png"/>
          <p:cNvPicPr>
            <a:picLocks noChangeAspect="1"/>
          </p:cNvPicPr>
          <p:nvPr/>
        </p:nvPicPr>
        <p:blipFill>
          <a:blip r:embed="rId3"/>
          <a:stretch>
            <a:fillRect/>
          </a:stretch>
        </p:blipFill>
        <p:spPr>
          <a:xfrm>
            <a:off x="656082" y="2073402"/>
            <a:ext cx="251460" cy="251460"/>
          </a:xfrm>
          <a:prstGeom prst="rect">
            <a:avLst/>
          </a:prstGeom>
        </p:spPr>
      </p:pic>
      <p:sp>
        <p:nvSpPr>
          <p:cNvPr id="19" name="TextBox 18"/>
          <p:cNvSpPr txBox="1"/>
          <p:nvPr/>
        </p:nvSpPr>
        <p:spPr>
          <a:xfrm>
            <a:off x="1115568" y="1911095"/>
            <a:ext cx="2377440" cy="566928"/>
          </a:xfrm>
          <a:prstGeom prst="rect">
            <a:avLst/>
          </a:prstGeom>
          <a:noFill/>
        </p:spPr>
        <p:txBody>
          <a:bodyPr wrap="square" lIns="45720" tIns="27432" rIns="45720" bIns="27432" anchor="ctr">
            <a:noAutofit/>
          </a:bodyPr>
          <a:lstStyle/>
          <a:p>
            <a:pPr algn="l"/>
            <a:r>
              <a:rPr sz="1700" b="1" i="0">
                <a:solidFill>
                  <a:srgbClr val="820019"/>
                </a:solidFill>
                <a:latin typeface="Times New Roman"/>
                <a:cs typeface="Times New Roman"/>
              </a:rPr>
              <a:t>Observability gate</a:t>
            </a:r>
          </a:p>
        </p:txBody>
      </p:sp>
      <p:sp>
        <p:nvSpPr>
          <p:cNvPr id="20" name="TextBox 19"/>
          <p:cNvSpPr txBox="1"/>
          <p:nvPr/>
        </p:nvSpPr>
        <p:spPr>
          <a:xfrm>
            <a:off x="530352" y="2514600"/>
            <a:ext cx="2871216" cy="1115568"/>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Stage 3 verifies every required field exists in the documented schema, else it rejects. With the gate off, an unsupported case compiled into a rule that never fires.</a:t>
            </a:r>
          </a:p>
        </p:txBody>
      </p:sp>
      <p:sp>
        <p:nvSpPr>
          <p:cNvPr id="21" name="Rounded Rectangle 20"/>
          <p:cNvSpPr/>
          <p:nvPr/>
        </p:nvSpPr>
        <p:spPr>
          <a:xfrm>
            <a:off x="3730752" y="1783080"/>
            <a:ext cx="3182112" cy="1874519"/>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95344" y="1947672"/>
            <a:ext cx="502920" cy="502920"/>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PuzzlePiece_white.png"/>
          <p:cNvPicPr>
            <a:picLocks noChangeAspect="1"/>
          </p:cNvPicPr>
          <p:nvPr/>
        </p:nvPicPr>
        <p:blipFill>
          <a:blip r:embed="rId4"/>
          <a:stretch>
            <a:fillRect/>
          </a:stretch>
        </p:blipFill>
        <p:spPr>
          <a:xfrm>
            <a:off x="4021074" y="2073402"/>
            <a:ext cx="251460" cy="251460"/>
          </a:xfrm>
          <a:prstGeom prst="rect">
            <a:avLst/>
          </a:prstGeom>
        </p:spPr>
      </p:pic>
      <p:sp>
        <p:nvSpPr>
          <p:cNvPr id="24" name="TextBox 23"/>
          <p:cNvSpPr txBox="1"/>
          <p:nvPr/>
        </p:nvSpPr>
        <p:spPr>
          <a:xfrm>
            <a:off x="4480560" y="1911095"/>
            <a:ext cx="2377440" cy="566928"/>
          </a:xfrm>
          <a:prstGeom prst="rect">
            <a:avLst/>
          </a:prstGeom>
          <a:noFill/>
        </p:spPr>
        <p:txBody>
          <a:bodyPr wrap="square" lIns="45720" tIns="27432" rIns="45720" bIns="27432" anchor="ctr">
            <a:noAutofit/>
          </a:bodyPr>
          <a:lstStyle/>
          <a:p>
            <a:pPr algn="l"/>
            <a:r>
              <a:rPr sz="1700" b="1" i="0">
                <a:solidFill>
                  <a:srgbClr val="820019"/>
                </a:solidFill>
                <a:latin typeface="Times New Roman"/>
                <a:cs typeface="Times New Roman"/>
              </a:rPr>
              <a:t>Closed-recipe compiler</a:t>
            </a:r>
          </a:p>
        </p:txBody>
      </p:sp>
      <p:sp>
        <p:nvSpPr>
          <p:cNvPr id="25" name="TextBox 24"/>
          <p:cNvSpPr txBox="1"/>
          <p:nvPr/>
        </p:nvSpPr>
        <p:spPr>
          <a:xfrm>
            <a:off x="3895344" y="2514600"/>
            <a:ext cx="2871216" cy="1115568"/>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Only 3 parameterised Scala/Spark recipes, so hard-coded values and enum hallucination cannot occur by construction.</a:t>
            </a:r>
          </a:p>
        </p:txBody>
      </p:sp>
      <p:sp>
        <p:nvSpPr>
          <p:cNvPr id="26" name="Rounded Rectangle 25"/>
          <p:cNvSpPr/>
          <p:nvPr/>
        </p:nvSpPr>
        <p:spPr>
          <a:xfrm>
            <a:off x="365760" y="3794760"/>
            <a:ext cx="3182112" cy="1874519"/>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30352" y="3959352"/>
            <a:ext cx="502920" cy="502920"/>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aFingerprint_white.png"/>
          <p:cNvPicPr>
            <a:picLocks noChangeAspect="1"/>
          </p:cNvPicPr>
          <p:nvPr/>
        </p:nvPicPr>
        <p:blipFill>
          <a:blip r:embed="rId5"/>
          <a:stretch>
            <a:fillRect/>
          </a:stretch>
        </p:blipFill>
        <p:spPr>
          <a:xfrm>
            <a:off x="656082" y="4085082"/>
            <a:ext cx="251460" cy="251460"/>
          </a:xfrm>
          <a:prstGeom prst="rect">
            <a:avLst/>
          </a:prstGeom>
        </p:spPr>
      </p:pic>
      <p:sp>
        <p:nvSpPr>
          <p:cNvPr id="29" name="TextBox 28"/>
          <p:cNvSpPr txBox="1"/>
          <p:nvPr/>
        </p:nvSpPr>
        <p:spPr>
          <a:xfrm>
            <a:off x="1115568" y="3922776"/>
            <a:ext cx="2377440" cy="566928"/>
          </a:xfrm>
          <a:prstGeom prst="rect">
            <a:avLst/>
          </a:prstGeom>
          <a:noFill/>
        </p:spPr>
        <p:txBody>
          <a:bodyPr wrap="square" lIns="45720" tIns="27432" rIns="45720" bIns="27432" anchor="ctr">
            <a:noAutofit/>
          </a:bodyPr>
          <a:lstStyle/>
          <a:p>
            <a:pPr algn="l"/>
            <a:r>
              <a:rPr sz="1700" b="1" i="0">
                <a:solidFill>
                  <a:srgbClr val="820019"/>
                </a:solidFill>
                <a:latin typeface="Times New Roman"/>
                <a:cs typeface="Times New Roman"/>
              </a:rPr>
              <a:t>Verified provenance</a:t>
            </a:r>
          </a:p>
        </p:txBody>
      </p:sp>
      <p:sp>
        <p:nvSpPr>
          <p:cNvPr id="30" name="TextBox 29"/>
          <p:cNvSpPr txBox="1"/>
          <p:nvPr/>
        </p:nvSpPr>
        <p:spPr>
          <a:xfrm>
            <a:off x="530352" y="4526280"/>
            <a:ext cx="2871216" cy="1115568"/>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Each extracted field carries a character offset into the report; quotes are re-checked against the source (100% verified).</a:t>
            </a:r>
          </a:p>
        </p:txBody>
      </p:sp>
      <p:sp>
        <p:nvSpPr>
          <p:cNvPr id="31" name="Rounded Rectangle 30"/>
          <p:cNvSpPr/>
          <p:nvPr/>
        </p:nvSpPr>
        <p:spPr>
          <a:xfrm>
            <a:off x="3730752" y="3794760"/>
            <a:ext cx="3182112" cy="1874519"/>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895344" y="3959352"/>
            <a:ext cx="502920" cy="502920"/>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aBalanceScale_white.png"/>
          <p:cNvPicPr>
            <a:picLocks noChangeAspect="1"/>
          </p:cNvPicPr>
          <p:nvPr/>
        </p:nvPicPr>
        <p:blipFill>
          <a:blip r:embed="rId6"/>
          <a:stretch>
            <a:fillRect/>
          </a:stretch>
        </p:blipFill>
        <p:spPr>
          <a:xfrm>
            <a:off x="4021074" y="4085082"/>
            <a:ext cx="251460" cy="251460"/>
          </a:xfrm>
          <a:prstGeom prst="rect">
            <a:avLst/>
          </a:prstGeom>
        </p:spPr>
      </p:pic>
      <p:sp>
        <p:nvSpPr>
          <p:cNvPr id="34" name="TextBox 33"/>
          <p:cNvSpPr txBox="1"/>
          <p:nvPr/>
        </p:nvSpPr>
        <p:spPr>
          <a:xfrm>
            <a:off x="4480560" y="3922776"/>
            <a:ext cx="2377440" cy="566928"/>
          </a:xfrm>
          <a:prstGeom prst="rect">
            <a:avLst/>
          </a:prstGeom>
          <a:noFill/>
        </p:spPr>
        <p:txBody>
          <a:bodyPr wrap="square" lIns="45720" tIns="27432" rIns="45720" bIns="27432" anchor="ctr">
            <a:noAutofit/>
          </a:bodyPr>
          <a:lstStyle/>
          <a:p>
            <a:pPr algn="l"/>
            <a:r>
              <a:rPr sz="1700" b="1" i="0">
                <a:solidFill>
                  <a:srgbClr val="820019"/>
                </a:solidFill>
                <a:latin typeface="Times New Roman"/>
                <a:cs typeface="Times New Roman"/>
              </a:rPr>
              <a:t>Agreement signal</a:t>
            </a:r>
          </a:p>
        </p:txBody>
      </p:sp>
      <p:sp>
        <p:nvSpPr>
          <p:cNvPr id="35" name="TextBox 34"/>
          <p:cNvSpPr txBox="1"/>
          <p:nvPr/>
        </p:nvSpPr>
        <p:spPr>
          <a:xfrm>
            <a:off x="3895344" y="4526280"/>
            <a:ext cx="2871216" cy="1115568"/>
          </a:xfrm>
          <a:prstGeom prst="rect">
            <a:avLst/>
          </a:prstGeom>
          <a:noFill/>
        </p:spPr>
        <p:txBody>
          <a:bodyPr wrap="square" lIns="45720" tIns="27432" rIns="45720" bIns="27432" anchor="t">
            <a:noAutofit/>
          </a:bodyPr>
          <a:lstStyle/>
          <a:p>
            <a:pPr algn="l"/>
            <a:r>
              <a:rPr sz="1350" b="0" i="0">
                <a:solidFill>
                  <a:srgbClr val="1F1F1F"/>
                </a:solidFill>
                <a:latin typeface="Calibri"/>
                <a:cs typeface="Calibri"/>
              </a:rPr>
              <a:t>Classical vs transformer disagreement flags a report for review; Pearson r = 0.919 with correctness (n = 5).</a:t>
            </a:r>
          </a:p>
        </p:txBody>
      </p:sp>
      <p:sp>
        <p:nvSpPr>
          <p:cNvPr id="36" name="Rounded Rectangle 35"/>
          <p:cNvSpPr/>
          <p:nvPr/>
        </p:nvSpPr>
        <p:spPr>
          <a:xfrm>
            <a:off x="7178040" y="1783080"/>
            <a:ext cx="4645152" cy="3977639"/>
          </a:xfrm>
          <a:prstGeom prst="roundRect">
            <a:avLst>
              <a:gd name="adj" fmla="val 3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178040" y="1783080"/>
            <a:ext cx="4645152" cy="566928"/>
          </a:xfrm>
          <a:prstGeom prst="roundRect">
            <a:avLst>
              <a:gd name="adj" fmla="val 3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69479" y="1783080"/>
            <a:ext cx="2011680" cy="566928"/>
          </a:xfrm>
          <a:prstGeom prst="rect">
            <a:avLst/>
          </a:prstGeom>
          <a:noFill/>
        </p:spPr>
        <p:txBody>
          <a:bodyPr wrap="square" lIns="45720" tIns="27432" rIns="45720" bIns="27432" anchor="ctr">
            <a:noAutofit/>
          </a:bodyPr>
          <a:lstStyle/>
          <a:p>
            <a:pPr algn="l"/>
            <a:r>
              <a:rPr sz="1500" b="1" i="0">
                <a:solidFill>
                  <a:srgbClr val="FFFFFF"/>
                </a:solidFill>
                <a:latin typeface="Times New Roman"/>
                <a:cs typeface="Times New Roman"/>
              </a:rPr>
              <a:t>How it compares</a:t>
            </a:r>
          </a:p>
        </p:txBody>
      </p:sp>
      <p:sp>
        <p:nvSpPr>
          <p:cNvPr id="39" name="TextBox 38"/>
          <p:cNvSpPr txBox="1"/>
          <p:nvPr/>
        </p:nvSpPr>
        <p:spPr>
          <a:xfrm>
            <a:off x="9098280" y="1801368"/>
            <a:ext cx="914400" cy="530352"/>
          </a:xfrm>
          <a:prstGeom prst="rect">
            <a:avLst/>
          </a:prstGeom>
          <a:noFill/>
        </p:spPr>
        <p:txBody>
          <a:bodyPr wrap="square" lIns="0" tIns="0" rIns="0" bIns="0" anchor="ctr">
            <a:noAutofit/>
          </a:bodyPr>
          <a:lstStyle/>
          <a:p>
            <a:pPr algn="ctr"/>
            <a:r>
              <a:rPr sz="1150" b="1" i="0">
                <a:solidFill>
                  <a:srgbClr val="FFFFFF"/>
                </a:solidFill>
                <a:latin typeface="Calibri"/>
                <a:cs typeface="Calibri"/>
              </a:rPr>
              <a:t>Prior CTI
extractors</a:t>
            </a:r>
          </a:p>
        </p:txBody>
      </p:sp>
      <p:sp>
        <p:nvSpPr>
          <p:cNvPr id="40" name="TextBox 39"/>
          <p:cNvSpPr txBox="1"/>
          <p:nvPr/>
        </p:nvSpPr>
        <p:spPr>
          <a:xfrm>
            <a:off x="10012680" y="1801368"/>
            <a:ext cx="914400" cy="530352"/>
          </a:xfrm>
          <a:prstGeom prst="rect">
            <a:avLst/>
          </a:prstGeom>
          <a:noFill/>
        </p:spPr>
        <p:txBody>
          <a:bodyPr wrap="square" lIns="0" tIns="0" rIns="0" bIns="0" anchor="ctr">
            <a:noAutofit/>
          </a:bodyPr>
          <a:lstStyle/>
          <a:p>
            <a:pPr algn="ctr"/>
            <a:r>
              <a:rPr sz="1150" b="1" i="0">
                <a:solidFill>
                  <a:srgbClr val="FFFFFF"/>
                </a:solidFill>
                <a:latin typeface="Calibri"/>
                <a:cs typeface="Calibri"/>
              </a:rPr>
              <a:t>Direct
LLM</a:t>
            </a:r>
          </a:p>
        </p:txBody>
      </p:sp>
      <p:sp>
        <p:nvSpPr>
          <p:cNvPr id="41" name="TextBox 40"/>
          <p:cNvSpPr txBox="1"/>
          <p:nvPr/>
        </p:nvSpPr>
        <p:spPr>
          <a:xfrm>
            <a:off x="10771632" y="1801368"/>
            <a:ext cx="914400" cy="530352"/>
          </a:xfrm>
          <a:prstGeom prst="rect">
            <a:avLst/>
          </a:prstGeom>
          <a:noFill/>
        </p:spPr>
        <p:txBody>
          <a:bodyPr wrap="square" lIns="0" tIns="0" rIns="0" bIns="0" anchor="ctr">
            <a:noAutofit/>
          </a:bodyPr>
          <a:lstStyle/>
          <a:p>
            <a:pPr algn="ctr"/>
            <a:r>
              <a:rPr sz="1150" b="1" i="0">
                <a:solidFill>
                  <a:srgbClr val="FFFFFF"/>
                </a:solidFill>
                <a:latin typeface="Calibri"/>
                <a:cs typeface="Calibri"/>
              </a:rPr>
              <a:t>SENTINEL
Forge</a:t>
            </a:r>
          </a:p>
        </p:txBody>
      </p:sp>
      <p:sp>
        <p:nvSpPr>
          <p:cNvPr id="42" name="Rectangle 41"/>
          <p:cNvSpPr/>
          <p:nvPr/>
        </p:nvSpPr>
        <p:spPr>
          <a:xfrm>
            <a:off x="7205472" y="2377440"/>
            <a:ext cx="4590288" cy="54864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69479" y="2377440"/>
            <a:ext cx="2011680" cy="548640"/>
          </a:xfrm>
          <a:prstGeom prst="rect">
            <a:avLst/>
          </a:prstGeom>
          <a:noFill/>
        </p:spPr>
        <p:txBody>
          <a:bodyPr wrap="square" lIns="45720" tIns="27432" rIns="45720" bIns="27432" anchor="ctr">
            <a:noAutofit/>
          </a:bodyPr>
          <a:lstStyle/>
          <a:p>
            <a:pPr algn="l"/>
            <a:r>
              <a:rPr sz="1250" b="0" i="0">
                <a:solidFill>
                  <a:srgbClr val="1F1F1F"/>
                </a:solidFill>
                <a:latin typeface="Calibri"/>
                <a:cs typeface="Calibri"/>
              </a:rPr>
              <a:t>Extracts behaviour from text</a:t>
            </a:r>
          </a:p>
        </p:txBody>
      </p:sp>
      <p:sp>
        <p:nvSpPr>
          <p:cNvPr id="44" name="Oval 43"/>
          <p:cNvSpPr/>
          <p:nvPr/>
        </p:nvSpPr>
        <p:spPr>
          <a:xfrm>
            <a:off x="9418319" y="2514600"/>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FaCheck_white.png"/>
          <p:cNvPicPr>
            <a:picLocks noChangeAspect="1"/>
          </p:cNvPicPr>
          <p:nvPr/>
        </p:nvPicPr>
        <p:blipFill>
          <a:blip r:embed="rId7"/>
          <a:stretch>
            <a:fillRect/>
          </a:stretch>
        </p:blipFill>
        <p:spPr>
          <a:xfrm>
            <a:off x="9480042" y="2576322"/>
            <a:ext cx="150876" cy="150876"/>
          </a:xfrm>
          <a:prstGeom prst="rect">
            <a:avLst/>
          </a:prstGeom>
        </p:spPr>
      </p:pic>
      <p:sp>
        <p:nvSpPr>
          <p:cNvPr id="46" name="Oval 45"/>
          <p:cNvSpPr/>
          <p:nvPr/>
        </p:nvSpPr>
        <p:spPr>
          <a:xfrm>
            <a:off x="10332719" y="2514600"/>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FaCheck_white.png"/>
          <p:cNvPicPr>
            <a:picLocks noChangeAspect="1"/>
          </p:cNvPicPr>
          <p:nvPr/>
        </p:nvPicPr>
        <p:blipFill>
          <a:blip r:embed="rId7"/>
          <a:stretch>
            <a:fillRect/>
          </a:stretch>
        </p:blipFill>
        <p:spPr>
          <a:xfrm>
            <a:off x="10394442" y="2576322"/>
            <a:ext cx="150876" cy="150876"/>
          </a:xfrm>
          <a:prstGeom prst="rect">
            <a:avLst/>
          </a:prstGeom>
        </p:spPr>
      </p:pic>
      <p:sp>
        <p:nvSpPr>
          <p:cNvPr id="48" name="Oval 47"/>
          <p:cNvSpPr/>
          <p:nvPr/>
        </p:nvSpPr>
        <p:spPr>
          <a:xfrm>
            <a:off x="11091672" y="2514600"/>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FaCheck_white.png"/>
          <p:cNvPicPr>
            <a:picLocks noChangeAspect="1"/>
          </p:cNvPicPr>
          <p:nvPr/>
        </p:nvPicPr>
        <p:blipFill>
          <a:blip r:embed="rId7"/>
          <a:stretch>
            <a:fillRect/>
          </a:stretch>
        </p:blipFill>
        <p:spPr>
          <a:xfrm>
            <a:off x="11153394" y="2576322"/>
            <a:ext cx="150876" cy="150876"/>
          </a:xfrm>
          <a:prstGeom prst="rect">
            <a:avLst/>
          </a:prstGeom>
        </p:spPr>
      </p:pic>
      <p:sp>
        <p:nvSpPr>
          <p:cNvPr id="50" name="TextBox 49"/>
          <p:cNvSpPr txBox="1"/>
          <p:nvPr/>
        </p:nvSpPr>
        <p:spPr>
          <a:xfrm>
            <a:off x="7269479" y="2926080"/>
            <a:ext cx="2011680" cy="548640"/>
          </a:xfrm>
          <a:prstGeom prst="rect">
            <a:avLst/>
          </a:prstGeom>
          <a:noFill/>
        </p:spPr>
        <p:txBody>
          <a:bodyPr wrap="square" lIns="45720" tIns="27432" rIns="45720" bIns="27432" anchor="ctr">
            <a:noAutofit/>
          </a:bodyPr>
          <a:lstStyle/>
          <a:p>
            <a:pPr algn="l"/>
            <a:r>
              <a:rPr sz="1250" b="0" i="0">
                <a:solidFill>
                  <a:srgbClr val="1F1F1F"/>
                </a:solidFill>
                <a:latin typeface="Calibri"/>
                <a:cs typeface="Calibri"/>
              </a:rPr>
              <a:t>Emits an executable rule</a:t>
            </a:r>
          </a:p>
        </p:txBody>
      </p:sp>
      <p:sp>
        <p:nvSpPr>
          <p:cNvPr id="51" name="Oval 50"/>
          <p:cNvSpPr/>
          <p:nvPr/>
        </p:nvSpPr>
        <p:spPr>
          <a:xfrm>
            <a:off x="9418319" y="3063240"/>
            <a:ext cx="274320" cy="27432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aTimes_white.png"/>
          <p:cNvPicPr>
            <a:picLocks noChangeAspect="1"/>
          </p:cNvPicPr>
          <p:nvPr/>
        </p:nvPicPr>
        <p:blipFill>
          <a:blip r:embed="rId8"/>
          <a:stretch>
            <a:fillRect/>
          </a:stretch>
        </p:blipFill>
        <p:spPr>
          <a:xfrm>
            <a:off x="9480042" y="3124962"/>
            <a:ext cx="150876" cy="150876"/>
          </a:xfrm>
          <a:prstGeom prst="rect">
            <a:avLst/>
          </a:prstGeom>
        </p:spPr>
      </p:pic>
      <p:sp>
        <p:nvSpPr>
          <p:cNvPr id="53" name="Oval 52"/>
          <p:cNvSpPr/>
          <p:nvPr/>
        </p:nvSpPr>
        <p:spPr>
          <a:xfrm>
            <a:off x="10332719" y="3063240"/>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FaCheck_white.png"/>
          <p:cNvPicPr>
            <a:picLocks noChangeAspect="1"/>
          </p:cNvPicPr>
          <p:nvPr/>
        </p:nvPicPr>
        <p:blipFill>
          <a:blip r:embed="rId7"/>
          <a:stretch>
            <a:fillRect/>
          </a:stretch>
        </p:blipFill>
        <p:spPr>
          <a:xfrm>
            <a:off x="10394442" y="3124962"/>
            <a:ext cx="150876" cy="150876"/>
          </a:xfrm>
          <a:prstGeom prst="rect">
            <a:avLst/>
          </a:prstGeom>
        </p:spPr>
      </p:pic>
      <p:sp>
        <p:nvSpPr>
          <p:cNvPr id="55" name="Oval 54"/>
          <p:cNvSpPr/>
          <p:nvPr/>
        </p:nvSpPr>
        <p:spPr>
          <a:xfrm>
            <a:off x="11091672" y="3063240"/>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FaCheck_white.png"/>
          <p:cNvPicPr>
            <a:picLocks noChangeAspect="1"/>
          </p:cNvPicPr>
          <p:nvPr/>
        </p:nvPicPr>
        <p:blipFill>
          <a:blip r:embed="rId7"/>
          <a:stretch>
            <a:fillRect/>
          </a:stretch>
        </p:blipFill>
        <p:spPr>
          <a:xfrm>
            <a:off x="11153394" y="3124962"/>
            <a:ext cx="150876" cy="150876"/>
          </a:xfrm>
          <a:prstGeom prst="rect">
            <a:avLst/>
          </a:prstGeom>
        </p:spPr>
      </p:pic>
      <p:sp>
        <p:nvSpPr>
          <p:cNvPr id="57" name="Rectangle 56"/>
          <p:cNvSpPr/>
          <p:nvPr/>
        </p:nvSpPr>
        <p:spPr>
          <a:xfrm>
            <a:off x="7205472" y="3474720"/>
            <a:ext cx="4590288" cy="54864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69479" y="3474720"/>
            <a:ext cx="2011680" cy="548640"/>
          </a:xfrm>
          <a:prstGeom prst="rect">
            <a:avLst/>
          </a:prstGeom>
          <a:noFill/>
        </p:spPr>
        <p:txBody>
          <a:bodyPr wrap="square" lIns="45720" tIns="27432" rIns="45720" bIns="27432" anchor="ctr">
            <a:noAutofit/>
          </a:bodyPr>
          <a:lstStyle/>
          <a:p>
            <a:pPr algn="l"/>
            <a:r>
              <a:rPr sz="1250" b="0" i="0">
                <a:solidFill>
                  <a:srgbClr val="1F1F1F"/>
                </a:solidFill>
                <a:latin typeface="Calibri"/>
                <a:cs typeface="Calibri"/>
              </a:rPr>
              <a:t>Checks log observability first</a:t>
            </a:r>
          </a:p>
        </p:txBody>
      </p:sp>
      <p:sp>
        <p:nvSpPr>
          <p:cNvPr id="59" name="Oval 58"/>
          <p:cNvSpPr/>
          <p:nvPr/>
        </p:nvSpPr>
        <p:spPr>
          <a:xfrm>
            <a:off x="9418319" y="3611879"/>
            <a:ext cx="274320" cy="27432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FaTimes_white.png"/>
          <p:cNvPicPr>
            <a:picLocks noChangeAspect="1"/>
          </p:cNvPicPr>
          <p:nvPr/>
        </p:nvPicPr>
        <p:blipFill>
          <a:blip r:embed="rId8"/>
          <a:stretch>
            <a:fillRect/>
          </a:stretch>
        </p:blipFill>
        <p:spPr>
          <a:xfrm>
            <a:off x="9480042" y="3673602"/>
            <a:ext cx="150876" cy="150876"/>
          </a:xfrm>
          <a:prstGeom prst="rect">
            <a:avLst/>
          </a:prstGeom>
        </p:spPr>
      </p:pic>
      <p:sp>
        <p:nvSpPr>
          <p:cNvPr id="61" name="Oval 60"/>
          <p:cNvSpPr/>
          <p:nvPr/>
        </p:nvSpPr>
        <p:spPr>
          <a:xfrm>
            <a:off x="10332719" y="3611879"/>
            <a:ext cx="274320" cy="27432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FaTimes_white.png"/>
          <p:cNvPicPr>
            <a:picLocks noChangeAspect="1"/>
          </p:cNvPicPr>
          <p:nvPr/>
        </p:nvPicPr>
        <p:blipFill>
          <a:blip r:embed="rId8"/>
          <a:stretch>
            <a:fillRect/>
          </a:stretch>
        </p:blipFill>
        <p:spPr>
          <a:xfrm>
            <a:off x="10394442" y="3673602"/>
            <a:ext cx="150876" cy="150876"/>
          </a:xfrm>
          <a:prstGeom prst="rect">
            <a:avLst/>
          </a:prstGeom>
        </p:spPr>
      </p:pic>
      <p:sp>
        <p:nvSpPr>
          <p:cNvPr id="63" name="Oval 62"/>
          <p:cNvSpPr/>
          <p:nvPr/>
        </p:nvSpPr>
        <p:spPr>
          <a:xfrm>
            <a:off x="11091672" y="3611879"/>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FaCheck_white.png"/>
          <p:cNvPicPr>
            <a:picLocks noChangeAspect="1"/>
          </p:cNvPicPr>
          <p:nvPr/>
        </p:nvPicPr>
        <p:blipFill>
          <a:blip r:embed="rId7"/>
          <a:stretch>
            <a:fillRect/>
          </a:stretch>
        </p:blipFill>
        <p:spPr>
          <a:xfrm>
            <a:off x="11153394" y="3673602"/>
            <a:ext cx="150876" cy="150876"/>
          </a:xfrm>
          <a:prstGeom prst="rect">
            <a:avLst/>
          </a:prstGeom>
        </p:spPr>
      </p:pic>
      <p:sp>
        <p:nvSpPr>
          <p:cNvPr id="65" name="TextBox 64"/>
          <p:cNvSpPr txBox="1"/>
          <p:nvPr/>
        </p:nvSpPr>
        <p:spPr>
          <a:xfrm>
            <a:off x="7269479" y="4023360"/>
            <a:ext cx="2011680" cy="548640"/>
          </a:xfrm>
          <a:prstGeom prst="rect">
            <a:avLst/>
          </a:prstGeom>
          <a:noFill/>
        </p:spPr>
        <p:txBody>
          <a:bodyPr wrap="square" lIns="45720" tIns="27432" rIns="45720" bIns="27432" anchor="ctr">
            <a:noAutofit/>
          </a:bodyPr>
          <a:lstStyle/>
          <a:p>
            <a:pPr algn="l"/>
            <a:r>
              <a:rPr sz="1250" b="0" i="0">
                <a:solidFill>
                  <a:srgbClr val="1F1F1F"/>
                </a:solidFill>
                <a:latin typeface="Calibri"/>
                <a:cs typeface="Calibri"/>
              </a:rPr>
              <a:t>Cites source evidence per field</a:t>
            </a:r>
          </a:p>
        </p:txBody>
      </p:sp>
      <p:sp>
        <p:nvSpPr>
          <p:cNvPr id="66" name="Oval 65"/>
          <p:cNvSpPr/>
          <p:nvPr/>
        </p:nvSpPr>
        <p:spPr>
          <a:xfrm>
            <a:off x="9418319" y="4160520"/>
            <a:ext cx="274320" cy="274320"/>
          </a:xfrm>
          <a:prstGeom prst="ellipse">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FaExclamation_white.png"/>
          <p:cNvPicPr>
            <a:picLocks noChangeAspect="1"/>
          </p:cNvPicPr>
          <p:nvPr/>
        </p:nvPicPr>
        <p:blipFill>
          <a:blip r:embed="rId9"/>
          <a:stretch>
            <a:fillRect/>
          </a:stretch>
        </p:blipFill>
        <p:spPr>
          <a:xfrm>
            <a:off x="9480042" y="4222242"/>
            <a:ext cx="150876" cy="150876"/>
          </a:xfrm>
          <a:prstGeom prst="rect">
            <a:avLst/>
          </a:prstGeom>
        </p:spPr>
      </p:pic>
      <p:sp>
        <p:nvSpPr>
          <p:cNvPr id="68" name="Oval 67"/>
          <p:cNvSpPr/>
          <p:nvPr/>
        </p:nvSpPr>
        <p:spPr>
          <a:xfrm>
            <a:off x="10332719" y="4160520"/>
            <a:ext cx="274320" cy="27432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FaTimes_white.png"/>
          <p:cNvPicPr>
            <a:picLocks noChangeAspect="1"/>
          </p:cNvPicPr>
          <p:nvPr/>
        </p:nvPicPr>
        <p:blipFill>
          <a:blip r:embed="rId8"/>
          <a:stretch>
            <a:fillRect/>
          </a:stretch>
        </p:blipFill>
        <p:spPr>
          <a:xfrm>
            <a:off x="10394442" y="4222242"/>
            <a:ext cx="150876" cy="150876"/>
          </a:xfrm>
          <a:prstGeom prst="rect">
            <a:avLst/>
          </a:prstGeom>
        </p:spPr>
      </p:pic>
      <p:sp>
        <p:nvSpPr>
          <p:cNvPr id="70" name="Oval 69"/>
          <p:cNvSpPr/>
          <p:nvPr/>
        </p:nvSpPr>
        <p:spPr>
          <a:xfrm>
            <a:off x="11091672" y="4160520"/>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FaCheck_white.png"/>
          <p:cNvPicPr>
            <a:picLocks noChangeAspect="1"/>
          </p:cNvPicPr>
          <p:nvPr/>
        </p:nvPicPr>
        <p:blipFill>
          <a:blip r:embed="rId7"/>
          <a:stretch>
            <a:fillRect/>
          </a:stretch>
        </p:blipFill>
        <p:spPr>
          <a:xfrm>
            <a:off x="11153394" y="4222242"/>
            <a:ext cx="150876" cy="150876"/>
          </a:xfrm>
          <a:prstGeom prst="rect">
            <a:avLst/>
          </a:prstGeom>
        </p:spPr>
      </p:pic>
      <p:sp>
        <p:nvSpPr>
          <p:cNvPr id="72" name="Rectangle 71"/>
          <p:cNvSpPr/>
          <p:nvPr/>
        </p:nvSpPr>
        <p:spPr>
          <a:xfrm>
            <a:off x="7205472" y="4572000"/>
            <a:ext cx="4590288" cy="54864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269479" y="4572000"/>
            <a:ext cx="2011680" cy="548640"/>
          </a:xfrm>
          <a:prstGeom prst="rect">
            <a:avLst/>
          </a:prstGeom>
          <a:noFill/>
        </p:spPr>
        <p:txBody>
          <a:bodyPr wrap="square" lIns="45720" tIns="27432" rIns="45720" bIns="27432" anchor="ctr">
            <a:noAutofit/>
          </a:bodyPr>
          <a:lstStyle/>
          <a:p>
            <a:pPr algn="l"/>
            <a:r>
              <a:rPr sz="1250" b="0" i="0">
                <a:solidFill>
                  <a:srgbClr val="1F1F1F"/>
                </a:solidFill>
                <a:latin typeface="Calibri"/>
                <a:cs typeface="Calibri"/>
              </a:rPr>
              <a:t>Refuses unsupported behaviours</a:t>
            </a:r>
          </a:p>
        </p:txBody>
      </p:sp>
      <p:sp>
        <p:nvSpPr>
          <p:cNvPr id="74" name="Oval 73"/>
          <p:cNvSpPr/>
          <p:nvPr/>
        </p:nvSpPr>
        <p:spPr>
          <a:xfrm>
            <a:off x="9418319" y="4709160"/>
            <a:ext cx="274320" cy="27432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FaTimes_white.png"/>
          <p:cNvPicPr>
            <a:picLocks noChangeAspect="1"/>
          </p:cNvPicPr>
          <p:nvPr/>
        </p:nvPicPr>
        <p:blipFill>
          <a:blip r:embed="rId8"/>
          <a:stretch>
            <a:fillRect/>
          </a:stretch>
        </p:blipFill>
        <p:spPr>
          <a:xfrm>
            <a:off x="9480042" y="4770882"/>
            <a:ext cx="150876" cy="150876"/>
          </a:xfrm>
          <a:prstGeom prst="rect">
            <a:avLst/>
          </a:prstGeom>
        </p:spPr>
      </p:pic>
      <p:sp>
        <p:nvSpPr>
          <p:cNvPr id="76" name="Oval 75"/>
          <p:cNvSpPr/>
          <p:nvPr/>
        </p:nvSpPr>
        <p:spPr>
          <a:xfrm>
            <a:off x="10332719" y="4709160"/>
            <a:ext cx="274320" cy="27432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descr="FaTimes_white.png"/>
          <p:cNvPicPr>
            <a:picLocks noChangeAspect="1"/>
          </p:cNvPicPr>
          <p:nvPr/>
        </p:nvPicPr>
        <p:blipFill>
          <a:blip r:embed="rId8"/>
          <a:stretch>
            <a:fillRect/>
          </a:stretch>
        </p:blipFill>
        <p:spPr>
          <a:xfrm>
            <a:off x="10394442" y="4770882"/>
            <a:ext cx="150876" cy="150876"/>
          </a:xfrm>
          <a:prstGeom prst="rect">
            <a:avLst/>
          </a:prstGeom>
        </p:spPr>
      </p:pic>
      <p:sp>
        <p:nvSpPr>
          <p:cNvPr id="78" name="Oval 77"/>
          <p:cNvSpPr/>
          <p:nvPr/>
        </p:nvSpPr>
        <p:spPr>
          <a:xfrm>
            <a:off x="11091672" y="4709160"/>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FaCheck_white.png"/>
          <p:cNvPicPr>
            <a:picLocks noChangeAspect="1"/>
          </p:cNvPicPr>
          <p:nvPr/>
        </p:nvPicPr>
        <p:blipFill>
          <a:blip r:embed="rId7"/>
          <a:stretch>
            <a:fillRect/>
          </a:stretch>
        </p:blipFill>
        <p:spPr>
          <a:xfrm>
            <a:off x="11153394" y="4770882"/>
            <a:ext cx="150876" cy="150876"/>
          </a:xfrm>
          <a:prstGeom prst="rect">
            <a:avLst/>
          </a:prstGeom>
        </p:spPr>
      </p:pic>
      <p:sp>
        <p:nvSpPr>
          <p:cNvPr id="80" name="TextBox 79"/>
          <p:cNvSpPr txBox="1"/>
          <p:nvPr/>
        </p:nvSpPr>
        <p:spPr>
          <a:xfrm>
            <a:off x="7269479" y="5120640"/>
            <a:ext cx="2011680" cy="548640"/>
          </a:xfrm>
          <a:prstGeom prst="rect">
            <a:avLst/>
          </a:prstGeom>
          <a:noFill/>
        </p:spPr>
        <p:txBody>
          <a:bodyPr wrap="square" lIns="45720" tIns="27432" rIns="45720" bIns="27432" anchor="ctr">
            <a:noAutofit/>
          </a:bodyPr>
          <a:lstStyle/>
          <a:p>
            <a:pPr algn="l"/>
            <a:r>
              <a:rPr sz="1250" b="0" i="0">
                <a:solidFill>
                  <a:srgbClr val="1F1F1F"/>
                </a:solidFill>
                <a:latin typeface="Calibri"/>
                <a:cs typeface="Calibri"/>
              </a:rPr>
              <a:t>Replay-tested on labelled events</a:t>
            </a:r>
          </a:p>
        </p:txBody>
      </p:sp>
      <p:sp>
        <p:nvSpPr>
          <p:cNvPr id="81" name="Oval 80"/>
          <p:cNvSpPr/>
          <p:nvPr/>
        </p:nvSpPr>
        <p:spPr>
          <a:xfrm>
            <a:off x="9418319" y="5257800"/>
            <a:ext cx="274320" cy="27432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FaTimes_white.png"/>
          <p:cNvPicPr>
            <a:picLocks noChangeAspect="1"/>
          </p:cNvPicPr>
          <p:nvPr/>
        </p:nvPicPr>
        <p:blipFill>
          <a:blip r:embed="rId8"/>
          <a:stretch>
            <a:fillRect/>
          </a:stretch>
        </p:blipFill>
        <p:spPr>
          <a:xfrm>
            <a:off x="9480042" y="5319522"/>
            <a:ext cx="150876" cy="150876"/>
          </a:xfrm>
          <a:prstGeom prst="rect">
            <a:avLst/>
          </a:prstGeom>
        </p:spPr>
      </p:pic>
      <p:sp>
        <p:nvSpPr>
          <p:cNvPr id="83" name="Oval 82"/>
          <p:cNvSpPr/>
          <p:nvPr/>
        </p:nvSpPr>
        <p:spPr>
          <a:xfrm>
            <a:off x="10332719" y="5257800"/>
            <a:ext cx="274320" cy="27432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FaTimes_white.png"/>
          <p:cNvPicPr>
            <a:picLocks noChangeAspect="1"/>
          </p:cNvPicPr>
          <p:nvPr/>
        </p:nvPicPr>
        <p:blipFill>
          <a:blip r:embed="rId8"/>
          <a:stretch>
            <a:fillRect/>
          </a:stretch>
        </p:blipFill>
        <p:spPr>
          <a:xfrm>
            <a:off x="10394442" y="5319522"/>
            <a:ext cx="150876" cy="150876"/>
          </a:xfrm>
          <a:prstGeom prst="rect">
            <a:avLst/>
          </a:prstGeom>
        </p:spPr>
      </p:pic>
      <p:sp>
        <p:nvSpPr>
          <p:cNvPr id="85" name="Oval 84"/>
          <p:cNvSpPr/>
          <p:nvPr/>
        </p:nvSpPr>
        <p:spPr>
          <a:xfrm>
            <a:off x="11091672" y="5257800"/>
            <a:ext cx="274320" cy="2743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FaCheck_white.png"/>
          <p:cNvPicPr>
            <a:picLocks noChangeAspect="1"/>
          </p:cNvPicPr>
          <p:nvPr/>
        </p:nvPicPr>
        <p:blipFill>
          <a:blip r:embed="rId7"/>
          <a:stretch>
            <a:fillRect/>
          </a:stretch>
        </p:blipFill>
        <p:spPr>
          <a:xfrm>
            <a:off x="11153394" y="5319522"/>
            <a:ext cx="150876" cy="150876"/>
          </a:xfrm>
          <a:prstGeom prst="rect">
            <a:avLst/>
          </a:prstGeom>
        </p:spPr>
      </p:pic>
      <p:sp>
        <p:nvSpPr>
          <p:cNvPr id="87" name="Rounded Rectangle 86"/>
          <p:cNvSpPr/>
          <p:nvPr/>
        </p:nvSpPr>
        <p:spPr>
          <a:xfrm>
            <a:off x="365760" y="5870448"/>
            <a:ext cx="11457432" cy="438912"/>
          </a:xfrm>
          <a:prstGeom prst="roundRect">
            <a:avLst>
              <a:gd name="adj" fmla="val 20000"/>
            </a:avLst>
          </a:prstGeom>
          <a:solidFill>
            <a:srgbClr val="ED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48640" y="5870448"/>
            <a:ext cx="11155680" cy="438912"/>
          </a:xfrm>
          <a:prstGeom prst="rect">
            <a:avLst/>
          </a:prstGeom>
          <a:noFill/>
        </p:spPr>
        <p:txBody>
          <a:bodyPr wrap="square" lIns="45720" tIns="27432" rIns="45720" bIns="27432" anchor="ctr">
            <a:noAutofit/>
          </a:bodyPr>
          <a:lstStyle/>
          <a:p>
            <a:pPr algn="l"/>
            <a:r>
              <a:rPr sz="1400" b="1" i="0">
                <a:solidFill>
                  <a:srgbClr val="002060"/>
                </a:solidFill>
                <a:latin typeface="Calibri"/>
                <a:cs typeface="Calibri"/>
              </a:rPr>
              <a:t>Scoped claim:  </a:t>
            </a:r>
            <a:r>
              <a:rPr sz="1400" b="0" i="0">
                <a:solidFill>
                  <a:srgbClr val="1F1F1F"/>
                </a:solidFill>
                <a:latin typeface="Calibri"/>
                <a:cs typeface="Calibri"/>
              </a:rPr>
              <a:t>shown on one log schema and five behaviours. Replay success is not a guarantee of catching every real attack.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Slide Number Placeholder 4">
            <a:extLst>
              <a:ext uri="{FF2B5EF4-FFF2-40B4-BE49-F238E27FC236}">
                <a16:creationId xmlns:a16="http://schemas.microsoft.com/office/drawing/2014/main" id="{3BB1CF24-B971-CBFF-0568-D54310410AEF}"/>
              </a:ext>
            </a:extLst>
          </p:cNvPr>
          <p:cNvSpPr>
            <a:spLocks noGrp="1"/>
          </p:cNvSpPr>
          <p:nvPr>
            <p:ph type="sldNum" sz="quarter" idx="12"/>
          </p:nvPr>
        </p:nvSpPr>
        <p:spPr/>
        <p:txBody>
          <a:bodyPr/>
          <a:lstStyle/>
          <a:p>
            <a:fld id="{C56FAF6A-4925-4D1E-8078-ECEA64474517}" type="slidenum">
              <a:rPr lang="en-IN" smtClean="0"/>
              <a:t>3</a:t>
            </a:fld>
            <a:endParaRPr lang="en-IN"/>
          </a:p>
        </p:txBody>
      </p:sp>
      <p:sp>
        <p:nvSpPr>
          <p:cNvPr id="8" name="TextBox 7">
            <a:extLst>
              <a:ext uri="{FF2B5EF4-FFF2-40B4-BE49-F238E27FC236}">
                <a16:creationId xmlns:a16="http://schemas.microsoft.com/office/drawing/2014/main" id="{5B0729FB-B169-BF4E-15A2-C21E69787699}"/>
              </a:ext>
            </a:extLst>
          </p:cNvPr>
          <p:cNvSpPr txBox="1"/>
          <p:nvPr/>
        </p:nvSpPr>
        <p:spPr>
          <a:xfrm>
            <a:off x="1180444" y="420286"/>
            <a:ext cx="10607040" cy="584775"/>
          </a:xfrm>
          <a:prstGeom prst="rect">
            <a:avLst/>
          </a:prstGeom>
          <a:noFill/>
        </p:spPr>
        <p:txBody>
          <a:bodyPr wrap="square">
            <a:spAutoFit/>
          </a:bodyPr>
          <a:lstStyle/>
          <a:p>
            <a:pPr>
              <a:defRPr/>
            </a:pPr>
            <a:r>
              <a:rPr lang="en-US" sz="3200" b="1" dirty="0">
                <a:latin typeface="Times New Roman" panose="02020603050405020304" pitchFamily="18" charset="0"/>
                <a:cs typeface="Times New Roman"/>
              </a:rPr>
              <a:t>Implementation Layout</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71586D3F-CFEB-588C-6A57-E6CA6C04CBF4}"/>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7A79684F-D9BF-C1FC-9FB2-66E7E479F2E8}"/>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FD9A56E-4F97-9A5C-1C8F-74CFF507ADBC}"/>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7DC662D4-09F8-31FE-4DBC-9CCC617B34FA}"/>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C7B746D-9102-FAC7-78A0-449051F88265}"/>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Three layers, connected by </a:t>
            </a:r>
            <a:r>
              <a:rPr sz="2400" b="1" i="0">
                <a:solidFill>
                  <a:srgbClr val="820019"/>
                </a:solidFill>
                <a:latin typeface="Calibri"/>
                <a:cs typeface="Calibri"/>
              </a:rPr>
              <a:t>two JSON contracts</a:t>
            </a:r>
            <a:r>
              <a:rPr sz="2400" b="0" i="0">
                <a:solidFill>
                  <a:srgbClr val="1F1F1F"/>
                </a:solidFill>
                <a:latin typeface="Calibri"/>
                <a:cs typeface="Calibri"/>
              </a:rPr>
              <a:t>.</a:t>
            </a:r>
          </a:p>
        </p:txBody>
      </p:sp>
      <p:sp>
        <p:nvSpPr>
          <p:cNvPr id="16" name="Rounded Rectangle 15"/>
          <p:cNvSpPr/>
          <p:nvPr/>
        </p:nvSpPr>
        <p:spPr>
          <a:xfrm>
            <a:off x="365760" y="1783080"/>
            <a:ext cx="11457432" cy="1298448"/>
          </a:xfrm>
          <a:prstGeom prst="roundRect">
            <a:avLst>
              <a:gd name="adj" fmla="val 5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5760" y="1783080"/>
            <a:ext cx="2286000" cy="1298448"/>
          </a:xfrm>
          <a:prstGeom prst="roundRect">
            <a:avLst>
              <a:gd name="adj" fmla="val 5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Python_white.png"/>
          <p:cNvPicPr>
            <a:picLocks noChangeAspect="1"/>
          </p:cNvPicPr>
          <p:nvPr/>
        </p:nvPicPr>
        <p:blipFill>
          <a:blip r:embed="rId3"/>
          <a:stretch>
            <a:fillRect/>
          </a:stretch>
        </p:blipFill>
        <p:spPr>
          <a:xfrm>
            <a:off x="548640" y="2075688"/>
            <a:ext cx="402336" cy="402336"/>
          </a:xfrm>
          <a:prstGeom prst="rect">
            <a:avLst/>
          </a:prstGeom>
        </p:spPr>
      </p:pic>
      <p:sp>
        <p:nvSpPr>
          <p:cNvPr id="19" name="TextBox 18"/>
          <p:cNvSpPr txBox="1"/>
          <p:nvPr/>
        </p:nvSpPr>
        <p:spPr>
          <a:xfrm>
            <a:off x="1024128" y="1984248"/>
            <a:ext cx="1600200" cy="548640"/>
          </a:xfrm>
          <a:prstGeom prst="rect">
            <a:avLst/>
          </a:prstGeom>
          <a:noFill/>
        </p:spPr>
        <p:txBody>
          <a:bodyPr wrap="square" lIns="45720" tIns="27432" rIns="45720" bIns="27432" anchor="ctr">
            <a:noAutofit/>
          </a:bodyPr>
          <a:lstStyle/>
          <a:p>
            <a:pPr algn="l"/>
            <a:r>
              <a:rPr sz="1700" b="1" i="0">
                <a:solidFill>
                  <a:srgbClr val="FFFFFF"/>
                </a:solidFill>
                <a:latin typeface="Times New Roman"/>
                <a:cs typeface="Times New Roman"/>
              </a:rPr>
              <a:t>Python</a:t>
            </a:r>
          </a:p>
        </p:txBody>
      </p:sp>
      <p:sp>
        <p:nvSpPr>
          <p:cNvPr id="20" name="TextBox 19"/>
          <p:cNvSpPr txBox="1"/>
          <p:nvPr/>
        </p:nvSpPr>
        <p:spPr>
          <a:xfrm>
            <a:off x="548640" y="2560320"/>
            <a:ext cx="2057400" cy="457200"/>
          </a:xfrm>
          <a:prstGeom prst="rect">
            <a:avLst/>
          </a:prstGeom>
          <a:noFill/>
        </p:spPr>
        <p:txBody>
          <a:bodyPr wrap="square" lIns="45720" tIns="27432" rIns="45720" bIns="27432" anchor="t">
            <a:noAutofit/>
          </a:bodyPr>
          <a:lstStyle/>
          <a:p>
            <a:pPr algn="l"/>
            <a:r>
              <a:rPr sz="1350" b="0" i="0">
                <a:solidFill>
                  <a:srgbClr val="FFFFFF"/>
                </a:solidFill>
                <a:latin typeface="Calibri"/>
                <a:cs typeface="Calibri"/>
              </a:rPr>
              <a:t>Understand &amp; Validate</a:t>
            </a:r>
          </a:p>
        </p:txBody>
      </p:sp>
      <p:sp>
        <p:nvSpPr>
          <p:cNvPr id="21" name="Rounded Rectangle 20"/>
          <p:cNvSpPr/>
          <p:nvPr/>
        </p:nvSpPr>
        <p:spPr>
          <a:xfrm>
            <a:off x="2834640" y="1874519"/>
            <a:ext cx="2229307" cy="493776"/>
          </a:xfrm>
          <a:prstGeom prst="roundRect">
            <a:avLst>
              <a:gd name="adj" fmla="val 12000"/>
            </a:avLst>
          </a:prstGeom>
          <a:solidFill>
            <a:srgbClr val="FFFFFF"/>
          </a:solidFill>
          <a:ln w="12700">
            <a:solidFill>
              <a:srgbClr val="8200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34640" y="1892807"/>
            <a:ext cx="2229307" cy="256032"/>
          </a:xfrm>
          <a:prstGeom prst="rect">
            <a:avLst/>
          </a:prstGeom>
          <a:noFill/>
        </p:spPr>
        <p:txBody>
          <a:bodyPr wrap="square" lIns="18288" tIns="0" rIns="18288" bIns="0" anchor="ctr">
            <a:noAutofit/>
          </a:bodyPr>
          <a:lstStyle/>
          <a:p>
            <a:pPr algn="ctr"/>
            <a:r>
              <a:rPr sz="1100" b="1" i="0">
                <a:solidFill>
                  <a:srgbClr val="820019"/>
                </a:solidFill>
                <a:latin typeface="Consolas"/>
                <a:cs typeface="Consolas"/>
              </a:rPr>
              <a:t>nlp/classical_extractor.py</a:t>
            </a:r>
          </a:p>
        </p:txBody>
      </p:sp>
      <p:sp>
        <p:nvSpPr>
          <p:cNvPr id="23" name="TextBox 22"/>
          <p:cNvSpPr txBox="1"/>
          <p:nvPr/>
        </p:nvSpPr>
        <p:spPr>
          <a:xfrm>
            <a:off x="2834640" y="2139696"/>
            <a:ext cx="2229307"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regex / keyword baseline</a:t>
            </a:r>
          </a:p>
        </p:txBody>
      </p:sp>
      <p:sp>
        <p:nvSpPr>
          <p:cNvPr id="24" name="Rounded Rectangle 23"/>
          <p:cNvSpPr/>
          <p:nvPr/>
        </p:nvSpPr>
        <p:spPr>
          <a:xfrm>
            <a:off x="5155387" y="1874519"/>
            <a:ext cx="2381097" cy="493776"/>
          </a:xfrm>
          <a:prstGeom prst="roundRect">
            <a:avLst>
              <a:gd name="adj" fmla="val 12000"/>
            </a:avLst>
          </a:prstGeom>
          <a:solidFill>
            <a:srgbClr val="FFFFFF"/>
          </a:solidFill>
          <a:ln w="12700">
            <a:solidFill>
              <a:srgbClr val="8200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55387" y="1892807"/>
            <a:ext cx="2381097" cy="256032"/>
          </a:xfrm>
          <a:prstGeom prst="rect">
            <a:avLst/>
          </a:prstGeom>
          <a:noFill/>
        </p:spPr>
        <p:txBody>
          <a:bodyPr wrap="square" lIns="18288" tIns="0" rIns="18288" bIns="0" anchor="ctr">
            <a:noAutofit/>
          </a:bodyPr>
          <a:lstStyle/>
          <a:p>
            <a:pPr algn="ctr"/>
            <a:r>
              <a:rPr sz="1100" b="1" i="0">
                <a:solidFill>
                  <a:srgbClr val="820019"/>
                </a:solidFill>
                <a:latin typeface="Consolas"/>
                <a:cs typeface="Consolas"/>
              </a:rPr>
              <a:t>nlp/transformer_extractor.py</a:t>
            </a:r>
          </a:p>
        </p:txBody>
      </p:sp>
      <p:sp>
        <p:nvSpPr>
          <p:cNvPr id="26" name="TextBox 25"/>
          <p:cNvSpPr txBox="1"/>
          <p:nvPr/>
        </p:nvSpPr>
        <p:spPr>
          <a:xfrm>
            <a:off x="5155387" y="2139696"/>
            <a:ext cx="2381097"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LLM, controlled vocabulary</a:t>
            </a:r>
          </a:p>
        </p:txBody>
      </p:sp>
      <p:sp>
        <p:nvSpPr>
          <p:cNvPr id="27" name="Rounded Rectangle 26"/>
          <p:cNvSpPr/>
          <p:nvPr/>
        </p:nvSpPr>
        <p:spPr>
          <a:xfrm>
            <a:off x="7627924" y="1874519"/>
            <a:ext cx="1925726" cy="493776"/>
          </a:xfrm>
          <a:prstGeom prst="roundRect">
            <a:avLst>
              <a:gd name="adj" fmla="val 12000"/>
            </a:avLst>
          </a:prstGeom>
          <a:solidFill>
            <a:srgbClr val="FFFFFF"/>
          </a:solidFill>
          <a:ln w="12700">
            <a:solidFill>
              <a:srgbClr val="8200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27924" y="1892807"/>
            <a:ext cx="1925726" cy="256032"/>
          </a:xfrm>
          <a:prstGeom prst="rect">
            <a:avLst/>
          </a:prstGeom>
          <a:noFill/>
        </p:spPr>
        <p:txBody>
          <a:bodyPr wrap="square" lIns="18288" tIns="0" rIns="18288" bIns="0" anchor="ctr">
            <a:noAutofit/>
          </a:bodyPr>
          <a:lstStyle/>
          <a:p>
            <a:pPr algn="ctr"/>
            <a:r>
              <a:rPr sz="1100" b="1" i="0">
                <a:solidFill>
                  <a:srgbClr val="820019"/>
                </a:solidFill>
                <a:latin typeface="Consolas"/>
                <a:cs typeface="Consolas"/>
              </a:rPr>
              <a:t>nlp/injection_guard.py</a:t>
            </a:r>
          </a:p>
        </p:txBody>
      </p:sp>
      <p:sp>
        <p:nvSpPr>
          <p:cNvPr id="29" name="TextBox 28"/>
          <p:cNvSpPr txBox="1"/>
          <p:nvPr/>
        </p:nvSpPr>
        <p:spPr>
          <a:xfrm>
            <a:off x="7627924" y="2139696"/>
            <a:ext cx="1925726"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blocks prompt injection</a:t>
            </a:r>
          </a:p>
        </p:txBody>
      </p:sp>
      <p:sp>
        <p:nvSpPr>
          <p:cNvPr id="30" name="Rounded Rectangle 29"/>
          <p:cNvSpPr/>
          <p:nvPr/>
        </p:nvSpPr>
        <p:spPr>
          <a:xfrm>
            <a:off x="9645091" y="1874519"/>
            <a:ext cx="1934870" cy="493776"/>
          </a:xfrm>
          <a:prstGeom prst="roundRect">
            <a:avLst>
              <a:gd name="adj" fmla="val 12000"/>
            </a:avLst>
          </a:prstGeom>
          <a:solidFill>
            <a:srgbClr val="FFFFFF"/>
          </a:solidFill>
          <a:ln w="12700">
            <a:solidFill>
              <a:srgbClr val="8200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45091" y="1892807"/>
            <a:ext cx="1934870" cy="256032"/>
          </a:xfrm>
          <a:prstGeom prst="rect">
            <a:avLst/>
          </a:prstGeom>
          <a:noFill/>
        </p:spPr>
        <p:txBody>
          <a:bodyPr wrap="square" lIns="18288" tIns="0" rIns="18288" bIns="0" anchor="ctr">
            <a:noAutofit/>
          </a:bodyPr>
          <a:lstStyle/>
          <a:p>
            <a:pPr algn="ctr"/>
            <a:r>
              <a:rPr sz="1100" b="1" i="0">
                <a:solidFill>
                  <a:srgbClr val="820019"/>
                </a:solidFill>
                <a:latin typeface="Consolas"/>
                <a:cs typeface="Consolas"/>
              </a:rPr>
              <a:t>nlp/schema_fields.py</a:t>
            </a:r>
          </a:p>
        </p:txBody>
      </p:sp>
      <p:sp>
        <p:nvSpPr>
          <p:cNvPr id="32" name="TextBox 31"/>
          <p:cNvSpPr txBox="1"/>
          <p:nvPr/>
        </p:nvSpPr>
        <p:spPr>
          <a:xfrm>
            <a:off x="9645091" y="2139696"/>
            <a:ext cx="1934870"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single source of vocabulary</a:t>
            </a:r>
          </a:p>
        </p:txBody>
      </p:sp>
      <p:sp>
        <p:nvSpPr>
          <p:cNvPr id="33" name="Rounded Rectangle 32"/>
          <p:cNvSpPr/>
          <p:nvPr/>
        </p:nvSpPr>
        <p:spPr>
          <a:xfrm>
            <a:off x="2834640" y="2441448"/>
            <a:ext cx="2760573" cy="493776"/>
          </a:xfrm>
          <a:prstGeom prst="roundRect">
            <a:avLst>
              <a:gd name="adj" fmla="val 12000"/>
            </a:avLst>
          </a:prstGeom>
          <a:solidFill>
            <a:srgbClr val="FFFFFF"/>
          </a:solidFill>
          <a:ln w="12700">
            <a:solidFill>
              <a:srgbClr val="8200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34640" y="2459736"/>
            <a:ext cx="2760573" cy="256032"/>
          </a:xfrm>
          <a:prstGeom prst="rect">
            <a:avLst/>
          </a:prstGeom>
          <a:noFill/>
        </p:spPr>
        <p:txBody>
          <a:bodyPr wrap="square" lIns="18288" tIns="0" rIns="18288" bIns="0" anchor="ctr">
            <a:noAutofit/>
          </a:bodyPr>
          <a:lstStyle/>
          <a:p>
            <a:pPr algn="ctr"/>
            <a:r>
              <a:rPr sz="1100" b="1" i="0">
                <a:solidFill>
                  <a:srgbClr val="820019"/>
                </a:solidFill>
                <a:latin typeface="Consolas"/>
                <a:cs typeface="Consolas"/>
              </a:rPr>
              <a:t>compiler/observability_checker.py</a:t>
            </a:r>
          </a:p>
        </p:txBody>
      </p:sp>
      <p:sp>
        <p:nvSpPr>
          <p:cNvPr id="35" name="TextBox 34"/>
          <p:cNvSpPr txBox="1"/>
          <p:nvPr/>
        </p:nvSpPr>
        <p:spPr>
          <a:xfrm>
            <a:off x="2834640" y="2706624"/>
            <a:ext cx="2760573"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Stage 3 gate</a:t>
            </a:r>
          </a:p>
        </p:txBody>
      </p:sp>
      <p:sp>
        <p:nvSpPr>
          <p:cNvPr id="36" name="Rounded Rectangle 35"/>
          <p:cNvSpPr/>
          <p:nvPr/>
        </p:nvSpPr>
        <p:spPr>
          <a:xfrm>
            <a:off x="5686653" y="2441448"/>
            <a:ext cx="2001621" cy="493776"/>
          </a:xfrm>
          <a:prstGeom prst="roundRect">
            <a:avLst>
              <a:gd name="adj" fmla="val 12000"/>
            </a:avLst>
          </a:prstGeom>
          <a:solidFill>
            <a:srgbClr val="FFFFFF"/>
          </a:solidFill>
          <a:ln w="12700">
            <a:solidFill>
              <a:srgbClr val="8200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86653" y="2459736"/>
            <a:ext cx="2001621" cy="256032"/>
          </a:xfrm>
          <a:prstGeom prst="rect">
            <a:avLst/>
          </a:prstGeom>
          <a:noFill/>
        </p:spPr>
        <p:txBody>
          <a:bodyPr wrap="square" lIns="18288" tIns="0" rIns="18288" bIns="0" anchor="ctr">
            <a:noAutofit/>
          </a:bodyPr>
          <a:lstStyle/>
          <a:p>
            <a:pPr algn="ctr"/>
            <a:r>
              <a:rPr sz="1100" b="1" i="0">
                <a:solidFill>
                  <a:srgbClr val="820019"/>
                </a:solidFill>
                <a:latin typeface="Consolas"/>
                <a:cs typeface="Consolas"/>
              </a:rPr>
              <a:t>compiler/spec_bridge.py</a:t>
            </a:r>
          </a:p>
        </p:txBody>
      </p:sp>
      <p:sp>
        <p:nvSpPr>
          <p:cNvPr id="38" name="TextBox 37"/>
          <p:cNvSpPr txBox="1"/>
          <p:nvPr/>
        </p:nvSpPr>
        <p:spPr>
          <a:xfrm>
            <a:off x="5686653" y="2706624"/>
            <a:ext cx="2001621"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extraction → compiled spec</a:t>
            </a:r>
          </a:p>
        </p:txBody>
      </p:sp>
      <p:sp>
        <p:nvSpPr>
          <p:cNvPr id="39" name="Rounded Rectangle 38"/>
          <p:cNvSpPr/>
          <p:nvPr/>
        </p:nvSpPr>
        <p:spPr>
          <a:xfrm>
            <a:off x="365760" y="3374136"/>
            <a:ext cx="11457432" cy="1298448"/>
          </a:xfrm>
          <a:prstGeom prst="roundRect">
            <a:avLst>
              <a:gd name="adj" fmla="val 5000"/>
            </a:avLst>
          </a:prstGeom>
          <a:solidFill>
            <a:srgbClr val="ED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365760" y="3374136"/>
            <a:ext cx="2286000" cy="1298448"/>
          </a:xfrm>
          <a:prstGeom prst="roundRect">
            <a:avLst>
              <a:gd name="adj" fmla="val 5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FaCogs_white.png"/>
          <p:cNvPicPr>
            <a:picLocks noChangeAspect="1"/>
          </p:cNvPicPr>
          <p:nvPr/>
        </p:nvPicPr>
        <p:blipFill>
          <a:blip r:embed="rId4"/>
          <a:stretch>
            <a:fillRect/>
          </a:stretch>
        </p:blipFill>
        <p:spPr>
          <a:xfrm>
            <a:off x="548640" y="3666744"/>
            <a:ext cx="402336" cy="402336"/>
          </a:xfrm>
          <a:prstGeom prst="rect">
            <a:avLst/>
          </a:prstGeom>
        </p:spPr>
      </p:pic>
      <p:sp>
        <p:nvSpPr>
          <p:cNvPr id="42" name="TextBox 41"/>
          <p:cNvSpPr txBox="1"/>
          <p:nvPr/>
        </p:nvSpPr>
        <p:spPr>
          <a:xfrm>
            <a:off x="1024128" y="3575304"/>
            <a:ext cx="1600200" cy="548640"/>
          </a:xfrm>
          <a:prstGeom prst="rect">
            <a:avLst/>
          </a:prstGeom>
          <a:noFill/>
        </p:spPr>
        <p:txBody>
          <a:bodyPr wrap="square" lIns="45720" tIns="27432" rIns="45720" bIns="27432" anchor="ctr">
            <a:noAutofit/>
          </a:bodyPr>
          <a:lstStyle/>
          <a:p>
            <a:pPr algn="l"/>
            <a:r>
              <a:rPr sz="1700" b="1" i="0">
                <a:solidFill>
                  <a:srgbClr val="FFFFFF"/>
                </a:solidFill>
                <a:latin typeface="Times New Roman"/>
                <a:cs typeface="Times New Roman"/>
              </a:rPr>
              <a:t>Scala + Spark</a:t>
            </a:r>
          </a:p>
        </p:txBody>
      </p:sp>
      <p:sp>
        <p:nvSpPr>
          <p:cNvPr id="43" name="TextBox 42"/>
          <p:cNvSpPr txBox="1"/>
          <p:nvPr/>
        </p:nvSpPr>
        <p:spPr>
          <a:xfrm>
            <a:off x="548640" y="4151376"/>
            <a:ext cx="2057400" cy="457200"/>
          </a:xfrm>
          <a:prstGeom prst="rect">
            <a:avLst/>
          </a:prstGeom>
          <a:noFill/>
        </p:spPr>
        <p:txBody>
          <a:bodyPr wrap="square" lIns="45720" tIns="27432" rIns="45720" bIns="27432" anchor="t">
            <a:noAutofit/>
          </a:bodyPr>
          <a:lstStyle/>
          <a:p>
            <a:pPr algn="l"/>
            <a:r>
              <a:rPr sz="1350" b="0" i="0">
                <a:solidFill>
                  <a:srgbClr val="FFFFFF"/>
                </a:solidFill>
                <a:latin typeface="Calibri"/>
                <a:cs typeface="Calibri"/>
              </a:rPr>
              <a:t>Compile &amp; Execute</a:t>
            </a:r>
          </a:p>
        </p:txBody>
      </p:sp>
      <p:sp>
        <p:nvSpPr>
          <p:cNvPr id="44" name="Rounded Rectangle 43"/>
          <p:cNvSpPr/>
          <p:nvPr/>
        </p:nvSpPr>
        <p:spPr>
          <a:xfrm>
            <a:off x="2834640" y="3465576"/>
            <a:ext cx="1622145" cy="493776"/>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0" y="3483864"/>
            <a:ext cx="1622145" cy="256032"/>
          </a:xfrm>
          <a:prstGeom prst="rect">
            <a:avLst/>
          </a:prstGeom>
          <a:noFill/>
        </p:spPr>
        <p:txBody>
          <a:bodyPr wrap="square" lIns="18288" tIns="0" rIns="18288" bIns="0" anchor="ctr">
            <a:noAutofit/>
          </a:bodyPr>
          <a:lstStyle/>
          <a:p>
            <a:pPr algn="ctr"/>
            <a:r>
              <a:rPr sz="1100" b="1" i="0">
                <a:solidFill>
                  <a:srgbClr val="002060"/>
                </a:solidFill>
                <a:latin typeface="Consolas"/>
                <a:cs typeface="Consolas"/>
              </a:rPr>
              <a:t>CompiledSpec.scala</a:t>
            </a:r>
          </a:p>
        </p:txBody>
      </p:sp>
      <p:sp>
        <p:nvSpPr>
          <p:cNvPr id="46" name="TextBox 45"/>
          <p:cNvSpPr txBox="1"/>
          <p:nvPr/>
        </p:nvSpPr>
        <p:spPr>
          <a:xfrm>
            <a:off x="2834640" y="3730752"/>
            <a:ext cx="1622145"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typed spec + loader</a:t>
            </a:r>
          </a:p>
        </p:txBody>
      </p:sp>
      <p:sp>
        <p:nvSpPr>
          <p:cNvPr id="47" name="Rounded Rectangle 46"/>
          <p:cNvSpPr/>
          <p:nvPr/>
        </p:nvSpPr>
        <p:spPr>
          <a:xfrm>
            <a:off x="4548225" y="3465576"/>
            <a:ext cx="1748332" cy="493776"/>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48225" y="3483864"/>
            <a:ext cx="1748332" cy="256032"/>
          </a:xfrm>
          <a:prstGeom prst="rect">
            <a:avLst/>
          </a:prstGeom>
          <a:noFill/>
        </p:spPr>
        <p:txBody>
          <a:bodyPr wrap="square" lIns="18288" tIns="0" rIns="18288" bIns="0" anchor="ctr">
            <a:noAutofit/>
          </a:bodyPr>
          <a:lstStyle/>
          <a:p>
            <a:pPr algn="ctr"/>
            <a:r>
              <a:rPr sz="1100" b="1" i="0">
                <a:solidFill>
                  <a:srgbClr val="002060"/>
                </a:solidFill>
                <a:latin typeface="Consolas"/>
                <a:cs typeface="Consolas"/>
              </a:rPr>
              <a:t>RuleCompiler.scala</a:t>
            </a:r>
          </a:p>
        </p:txBody>
      </p:sp>
      <p:sp>
        <p:nvSpPr>
          <p:cNvPr id="49" name="TextBox 48"/>
          <p:cNvSpPr txBox="1"/>
          <p:nvPr/>
        </p:nvSpPr>
        <p:spPr>
          <a:xfrm>
            <a:off x="4548225" y="3730752"/>
            <a:ext cx="1748332"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closed 3-recipe compiler</a:t>
            </a:r>
          </a:p>
        </p:txBody>
      </p:sp>
      <p:sp>
        <p:nvSpPr>
          <p:cNvPr id="50" name="Rounded Rectangle 49"/>
          <p:cNvSpPr/>
          <p:nvPr/>
        </p:nvSpPr>
        <p:spPr>
          <a:xfrm>
            <a:off x="6387998" y="3465576"/>
            <a:ext cx="1623974" cy="493776"/>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87998" y="3483864"/>
            <a:ext cx="1623974" cy="256032"/>
          </a:xfrm>
          <a:prstGeom prst="rect">
            <a:avLst/>
          </a:prstGeom>
          <a:noFill/>
        </p:spPr>
        <p:txBody>
          <a:bodyPr wrap="square" lIns="18288" tIns="0" rIns="18288" bIns="0" anchor="ctr">
            <a:noAutofit/>
          </a:bodyPr>
          <a:lstStyle/>
          <a:p>
            <a:pPr algn="ctr"/>
            <a:r>
              <a:rPr sz="1100" b="1" i="0">
                <a:solidFill>
                  <a:srgbClr val="002060"/>
                </a:solidFill>
                <a:latin typeface="Consolas"/>
                <a:cs typeface="Consolas"/>
              </a:rPr>
              <a:t>ReplayCheck.scala</a:t>
            </a:r>
          </a:p>
        </p:txBody>
      </p:sp>
      <p:sp>
        <p:nvSpPr>
          <p:cNvPr id="52" name="TextBox 51"/>
          <p:cNvSpPr txBox="1"/>
          <p:nvPr/>
        </p:nvSpPr>
        <p:spPr>
          <a:xfrm>
            <a:off x="6387998" y="3730752"/>
            <a:ext cx="1623974"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batch replay vs labels</a:t>
            </a:r>
          </a:p>
        </p:txBody>
      </p:sp>
      <p:sp>
        <p:nvSpPr>
          <p:cNvPr id="53" name="Rounded Rectangle 52"/>
          <p:cNvSpPr/>
          <p:nvPr/>
        </p:nvSpPr>
        <p:spPr>
          <a:xfrm>
            <a:off x="8103412" y="3465576"/>
            <a:ext cx="1773936" cy="493776"/>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03412" y="3483864"/>
            <a:ext cx="1773936" cy="256032"/>
          </a:xfrm>
          <a:prstGeom prst="rect">
            <a:avLst/>
          </a:prstGeom>
          <a:noFill/>
        </p:spPr>
        <p:txBody>
          <a:bodyPr wrap="square" lIns="18288" tIns="0" rIns="18288" bIns="0" anchor="ctr">
            <a:noAutofit/>
          </a:bodyPr>
          <a:lstStyle/>
          <a:p>
            <a:pPr algn="ctr"/>
            <a:r>
              <a:rPr sz="1100" b="1" i="0">
                <a:solidFill>
                  <a:srgbClr val="002060"/>
                </a:solidFill>
                <a:latin typeface="Consolas"/>
                <a:cs typeface="Consolas"/>
              </a:rPr>
              <a:t>StreamingCheck.scala</a:t>
            </a:r>
          </a:p>
        </p:txBody>
      </p:sp>
      <p:sp>
        <p:nvSpPr>
          <p:cNvPr id="55" name="TextBox 54"/>
          <p:cNvSpPr txBox="1"/>
          <p:nvPr/>
        </p:nvSpPr>
        <p:spPr>
          <a:xfrm>
            <a:off x="8103412" y="3730752"/>
            <a:ext cx="1773936"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Structured Streaming</a:t>
            </a:r>
          </a:p>
        </p:txBody>
      </p:sp>
      <p:sp>
        <p:nvSpPr>
          <p:cNvPr id="56" name="Rounded Rectangle 55"/>
          <p:cNvSpPr/>
          <p:nvPr/>
        </p:nvSpPr>
        <p:spPr>
          <a:xfrm>
            <a:off x="2834640" y="4032504"/>
            <a:ext cx="1849831" cy="493776"/>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34640" y="4050791"/>
            <a:ext cx="1849831" cy="256032"/>
          </a:xfrm>
          <a:prstGeom prst="rect">
            <a:avLst/>
          </a:prstGeom>
          <a:noFill/>
        </p:spPr>
        <p:txBody>
          <a:bodyPr wrap="square" lIns="18288" tIns="0" rIns="18288" bIns="0" anchor="ctr">
            <a:noAutofit/>
          </a:bodyPr>
          <a:lstStyle/>
          <a:p>
            <a:pPr algn="ctr"/>
            <a:r>
              <a:rPr sz="1100" b="1" i="0">
                <a:solidFill>
                  <a:srgbClr val="002060"/>
                </a:solidFill>
                <a:latin typeface="Consolas"/>
                <a:cs typeface="Consolas"/>
              </a:rPr>
              <a:t>RobustnessCheck.scala</a:t>
            </a:r>
          </a:p>
        </p:txBody>
      </p:sp>
      <p:sp>
        <p:nvSpPr>
          <p:cNvPr id="58" name="TextBox 57"/>
          <p:cNvSpPr txBox="1"/>
          <p:nvPr/>
        </p:nvSpPr>
        <p:spPr>
          <a:xfrm>
            <a:off x="2834640" y="4297680"/>
            <a:ext cx="1849831"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outage / missing field</a:t>
            </a:r>
          </a:p>
        </p:txBody>
      </p:sp>
      <p:sp>
        <p:nvSpPr>
          <p:cNvPr id="59" name="Rounded Rectangle 58"/>
          <p:cNvSpPr/>
          <p:nvPr/>
        </p:nvSpPr>
        <p:spPr>
          <a:xfrm>
            <a:off x="4775911" y="4032504"/>
            <a:ext cx="1849831" cy="493776"/>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775911" y="4050791"/>
            <a:ext cx="1849831" cy="256032"/>
          </a:xfrm>
          <a:prstGeom prst="rect">
            <a:avLst/>
          </a:prstGeom>
          <a:noFill/>
        </p:spPr>
        <p:txBody>
          <a:bodyPr wrap="square" lIns="18288" tIns="0" rIns="18288" bIns="0" anchor="ctr">
            <a:noAutofit/>
          </a:bodyPr>
          <a:lstStyle/>
          <a:p>
            <a:pPr algn="ctr"/>
            <a:r>
              <a:rPr sz="1100" b="1" i="0">
                <a:solidFill>
                  <a:srgbClr val="002060"/>
                </a:solidFill>
                <a:latin typeface="Consolas"/>
                <a:cs typeface="Consolas"/>
              </a:rPr>
              <a:t>ThroughputCheck.scala</a:t>
            </a:r>
          </a:p>
        </p:txBody>
      </p:sp>
      <p:sp>
        <p:nvSpPr>
          <p:cNvPr id="61" name="TextBox 60"/>
          <p:cNvSpPr txBox="1"/>
          <p:nvPr/>
        </p:nvSpPr>
        <p:spPr>
          <a:xfrm>
            <a:off x="4775911" y="4297680"/>
            <a:ext cx="1849831"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latency, events/s</a:t>
            </a:r>
          </a:p>
        </p:txBody>
      </p:sp>
      <p:sp>
        <p:nvSpPr>
          <p:cNvPr id="62" name="Rounded Rectangle 61"/>
          <p:cNvSpPr/>
          <p:nvPr/>
        </p:nvSpPr>
        <p:spPr>
          <a:xfrm>
            <a:off x="6717182" y="4032504"/>
            <a:ext cx="1748332" cy="493776"/>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717182" y="4050791"/>
            <a:ext cx="1748332" cy="256032"/>
          </a:xfrm>
          <a:prstGeom prst="rect">
            <a:avLst/>
          </a:prstGeom>
          <a:noFill/>
        </p:spPr>
        <p:txBody>
          <a:bodyPr wrap="square" lIns="18288" tIns="0" rIns="18288" bIns="0" anchor="ctr">
            <a:noAutofit/>
          </a:bodyPr>
          <a:lstStyle/>
          <a:p>
            <a:pPr algn="ctr"/>
            <a:r>
              <a:rPr sz="1100" b="1" i="0">
                <a:solidFill>
                  <a:srgbClr val="002060"/>
                </a:solidFill>
                <a:latin typeface="Consolas"/>
                <a:cs typeface="Consolas"/>
              </a:rPr>
              <a:t>EndToEndCheck.scala</a:t>
            </a:r>
          </a:p>
        </p:txBody>
      </p:sp>
      <p:sp>
        <p:nvSpPr>
          <p:cNvPr id="64" name="TextBox 63"/>
          <p:cNvSpPr txBox="1"/>
          <p:nvPr/>
        </p:nvSpPr>
        <p:spPr>
          <a:xfrm>
            <a:off x="6717182" y="4297680"/>
            <a:ext cx="1748332"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extraction-derived specs</a:t>
            </a:r>
          </a:p>
        </p:txBody>
      </p:sp>
      <p:sp>
        <p:nvSpPr>
          <p:cNvPr id="65" name="Rounded Rectangle 64"/>
          <p:cNvSpPr/>
          <p:nvPr/>
        </p:nvSpPr>
        <p:spPr>
          <a:xfrm>
            <a:off x="8556955" y="4032504"/>
            <a:ext cx="1394460" cy="493776"/>
          </a:xfrm>
          <a:prstGeom prst="roundRect">
            <a:avLst>
              <a:gd name="adj" fmla="val 12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556955" y="4050791"/>
            <a:ext cx="1394460" cy="256032"/>
          </a:xfrm>
          <a:prstGeom prst="rect">
            <a:avLst/>
          </a:prstGeom>
          <a:noFill/>
        </p:spPr>
        <p:txBody>
          <a:bodyPr wrap="square" lIns="18288" tIns="0" rIns="18288" bIns="0" anchor="ctr">
            <a:noAutofit/>
          </a:bodyPr>
          <a:lstStyle/>
          <a:p>
            <a:pPr algn="ctr"/>
            <a:r>
              <a:rPr sz="1100" b="1" i="0">
                <a:solidFill>
                  <a:srgbClr val="002060"/>
                </a:solidFill>
                <a:latin typeface="Consolas"/>
                <a:cs typeface="Consolas"/>
              </a:rPr>
              <a:t>sigma_export.py</a:t>
            </a:r>
          </a:p>
        </p:txBody>
      </p:sp>
      <p:sp>
        <p:nvSpPr>
          <p:cNvPr id="67" name="TextBox 66"/>
          <p:cNvSpPr txBox="1"/>
          <p:nvPr/>
        </p:nvSpPr>
        <p:spPr>
          <a:xfrm>
            <a:off x="8556955" y="4297680"/>
            <a:ext cx="1394460"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Sigma YAML export</a:t>
            </a:r>
          </a:p>
        </p:txBody>
      </p:sp>
      <p:sp>
        <p:nvSpPr>
          <p:cNvPr id="68" name="Rounded Rectangle 67"/>
          <p:cNvSpPr/>
          <p:nvPr/>
        </p:nvSpPr>
        <p:spPr>
          <a:xfrm>
            <a:off x="365760" y="4965192"/>
            <a:ext cx="11457432" cy="1298448"/>
          </a:xfrm>
          <a:prstGeom prst="roundRect">
            <a:avLst>
              <a:gd name="adj" fmla="val 5000"/>
            </a:avLst>
          </a:prstGeom>
          <a:solidFill>
            <a:srgbClr val="FFF7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365760" y="4965192"/>
            <a:ext cx="2286000" cy="1298448"/>
          </a:xfrm>
          <a:prstGeom prst="roundRect">
            <a:avLst>
              <a:gd name="adj" fmla="val 5000"/>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FaDatabase_white.png"/>
          <p:cNvPicPr>
            <a:picLocks noChangeAspect="1"/>
          </p:cNvPicPr>
          <p:nvPr/>
        </p:nvPicPr>
        <p:blipFill>
          <a:blip r:embed="rId5"/>
          <a:stretch>
            <a:fillRect/>
          </a:stretch>
        </p:blipFill>
        <p:spPr>
          <a:xfrm>
            <a:off x="548640" y="5257800"/>
            <a:ext cx="402336" cy="402336"/>
          </a:xfrm>
          <a:prstGeom prst="rect">
            <a:avLst/>
          </a:prstGeom>
        </p:spPr>
      </p:pic>
      <p:sp>
        <p:nvSpPr>
          <p:cNvPr id="71" name="TextBox 70"/>
          <p:cNvSpPr txBox="1"/>
          <p:nvPr/>
        </p:nvSpPr>
        <p:spPr>
          <a:xfrm>
            <a:off x="1024128" y="5166359"/>
            <a:ext cx="1600200" cy="548640"/>
          </a:xfrm>
          <a:prstGeom prst="rect">
            <a:avLst/>
          </a:prstGeom>
          <a:noFill/>
        </p:spPr>
        <p:txBody>
          <a:bodyPr wrap="square" lIns="45720" tIns="27432" rIns="45720" bIns="27432" anchor="ctr">
            <a:noAutofit/>
          </a:bodyPr>
          <a:lstStyle/>
          <a:p>
            <a:pPr algn="l"/>
            <a:r>
              <a:rPr sz="1700" b="1" i="0">
                <a:solidFill>
                  <a:srgbClr val="FFFFFF"/>
                </a:solidFill>
                <a:latin typeface="Times New Roman"/>
                <a:cs typeface="Times New Roman"/>
              </a:rPr>
              <a:t>Data · Review</a:t>
            </a:r>
          </a:p>
        </p:txBody>
      </p:sp>
      <p:sp>
        <p:nvSpPr>
          <p:cNvPr id="72" name="TextBox 71"/>
          <p:cNvSpPr txBox="1"/>
          <p:nvPr/>
        </p:nvSpPr>
        <p:spPr>
          <a:xfrm>
            <a:off x="548640" y="5742431"/>
            <a:ext cx="2057400" cy="457200"/>
          </a:xfrm>
          <a:prstGeom prst="rect">
            <a:avLst/>
          </a:prstGeom>
          <a:noFill/>
        </p:spPr>
        <p:txBody>
          <a:bodyPr wrap="square" lIns="45720" tIns="27432" rIns="45720" bIns="27432" anchor="t">
            <a:noAutofit/>
          </a:bodyPr>
          <a:lstStyle/>
          <a:p>
            <a:pPr algn="l"/>
            <a:r>
              <a:rPr sz="1350" b="0" i="0">
                <a:solidFill>
                  <a:srgbClr val="FFFFFF"/>
                </a:solidFill>
                <a:latin typeface="Calibri"/>
                <a:cs typeface="Calibri"/>
              </a:rPr>
              <a:t>Evidence &amp; dashboard</a:t>
            </a:r>
          </a:p>
        </p:txBody>
      </p:sp>
      <p:sp>
        <p:nvSpPr>
          <p:cNvPr id="73" name="Rounded Rectangle 72"/>
          <p:cNvSpPr/>
          <p:nvPr/>
        </p:nvSpPr>
        <p:spPr>
          <a:xfrm>
            <a:off x="2834640" y="5056631"/>
            <a:ext cx="1872691" cy="493776"/>
          </a:xfrm>
          <a:prstGeom prst="roundRect">
            <a:avLst>
              <a:gd name="adj" fmla="val 12000"/>
            </a:avLst>
          </a:prstGeom>
          <a:solidFill>
            <a:srgbClr val="FFFFFF"/>
          </a:solidFill>
          <a:ln w="12700">
            <a:solidFill>
              <a:srgbClr val="8A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34640" y="5074919"/>
            <a:ext cx="1872691" cy="256032"/>
          </a:xfrm>
          <a:prstGeom prst="rect">
            <a:avLst/>
          </a:prstGeom>
          <a:noFill/>
        </p:spPr>
        <p:txBody>
          <a:bodyPr wrap="square" lIns="18288" tIns="0" rIns="18288" bIns="0" anchor="ctr">
            <a:noAutofit/>
          </a:bodyPr>
          <a:lstStyle/>
          <a:p>
            <a:pPr algn="ctr"/>
            <a:r>
              <a:rPr sz="1100" b="1" i="0">
                <a:solidFill>
                  <a:srgbClr val="8A6A00"/>
                </a:solidFill>
                <a:latin typeface="Consolas"/>
                <a:cs typeface="Consolas"/>
              </a:rPr>
              <a:t>data/</a:t>
            </a:r>
          </a:p>
        </p:txBody>
      </p:sp>
      <p:sp>
        <p:nvSpPr>
          <p:cNvPr id="75" name="TextBox 74"/>
          <p:cNvSpPr txBox="1"/>
          <p:nvPr/>
        </p:nvSpPr>
        <p:spPr>
          <a:xfrm>
            <a:off x="2834640" y="5321807"/>
            <a:ext cx="1872691"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reports · Parquet · labels</a:t>
            </a:r>
          </a:p>
        </p:txBody>
      </p:sp>
      <p:sp>
        <p:nvSpPr>
          <p:cNvPr id="76" name="Rounded Rectangle 75"/>
          <p:cNvSpPr/>
          <p:nvPr/>
        </p:nvSpPr>
        <p:spPr>
          <a:xfrm>
            <a:off x="4798771" y="5056631"/>
            <a:ext cx="1686153" cy="493776"/>
          </a:xfrm>
          <a:prstGeom prst="roundRect">
            <a:avLst>
              <a:gd name="adj" fmla="val 12000"/>
            </a:avLst>
          </a:prstGeom>
          <a:solidFill>
            <a:srgbClr val="FFFFFF"/>
          </a:solidFill>
          <a:ln w="12700">
            <a:solidFill>
              <a:srgbClr val="8A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798771" y="5074919"/>
            <a:ext cx="1686153" cy="256032"/>
          </a:xfrm>
          <a:prstGeom prst="rect">
            <a:avLst/>
          </a:prstGeom>
          <a:noFill/>
        </p:spPr>
        <p:txBody>
          <a:bodyPr wrap="square" lIns="18288" tIns="0" rIns="18288" bIns="0" anchor="ctr">
            <a:noAutofit/>
          </a:bodyPr>
          <a:lstStyle/>
          <a:p>
            <a:pPr algn="ctr"/>
            <a:r>
              <a:rPr sz="1100" b="1" i="0">
                <a:solidFill>
                  <a:srgbClr val="8A6A00"/>
                </a:solidFill>
                <a:latin typeface="Consolas"/>
                <a:cs typeface="Consolas"/>
              </a:rPr>
              <a:t>docs/</a:t>
            </a:r>
          </a:p>
        </p:txBody>
      </p:sp>
      <p:sp>
        <p:nvSpPr>
          <p:cNvPr id="78" name="TextBox 77"/>
          <p:cNvSpPr txBox="1"/>
          <p:nvPr/>
        </p:nvSpPr>
        <p:spPr>
          <a:xfrm>
            <a:off x="4798771" y="5321807"/>
            <a:ext cx="1686153"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schema · IR · semantics</a:t>
            </a:r>
          </a:p>
        </p:txBody>
      </p:sp>
      <p:sp>
        <p:nvSpPr>
          <p:cNvPr id="79" name="Rounded Rectangle 78"/>
          <p:cNvSpPr/>
          <p:nvPr/>
        </p:nvSpPr>
        <p:spPr>
          <a:xfrm>
            <a:off x="6576364" y="5056631"/>
            <a:ext cx="2183587" cy="493776"/>
          </a:xfrm>
          <a:prstGeom prst="roundRect">
            <a:avLst>
              <a:gd name="adj" fmla="val 12000"/>
            </a:avLst>
          </a:prstGeom>
          <a:solidFill>
            <a:srgbClr val="FFFFFF"/>
          </a:solidFill>
          <a:ln w="12700">
            <a:solidFill>
              <a:srgbClr val="8A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576364" y="5074919"/>
            <a:ext cx="2183587" cy="256032"/>
          </a:xfrm>
          <a:prstGeom prst="rect">
            <a:avLst/>
          </a:prstGeom>
          <a:noFill/>
        </p:spPr>
        <p:txBody>
          <a:bodyPr wrap="square" lIns="18288" tIns="0" rIns="18288" bIns="0" anchor="ctr">
            <a:noAutofit/>
          </a:bodyPr>
          <a:lstStyle/>
          <a:p>
            <a:pPr algn="ctr"/>
            <a:r>
              <a:rPr sz="1100" b="1" i="0">
                <a:solidFill>
                  <a:srgbClr val="8A6A00"/>
                </a:solidFill>
                <a:latin typeface="Consolas"/>
                <a:cs typeface="Consolas"/>
              </a:rPr>
              <a:t>experiments/</a:t>
            </a:r>
          </a:p>
        </p:txBody>
      </p:sp>
      <p:sp>
        <p:nvSpPr>
          <p:cNvPr id="81" name="TextBox 80"/>
          <p:cNvSpPr txBox="1"/>
          <p:nvPr/>
        </p:nvSpPr>
        <p:spPr>
          <a:xfrm>
            <a:off x="6576364" y="5321807"/>
            <a:ext cx="2183587"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baselines · ablations · results</a:t>
            </a:r>
          </a:p>
        </p:txBody>
      </p:sp>
      <p:sp>
        <p:nvSpPr>
          <p:cNvPr id="82" name="Rounded Rectangle 81"/>
          <p:cNvSpPr/>
          <p:nvPr/>
        </p:nvSpPr>
        <p:spPr>
          <a:xfrm>
            <a:off x="8851392" y="5056631"/>
            <a:ext cx="1437436" cy="493776"/>
          </a:xfrm>
          <a:prstGeom prst="roundRect">
            <a:avLst>
              <a:gd name="adj" fmla="val 12000"/>
            </a:avLst>
          </a:prstGeom>
          <a:solidFill>
            <a:srgbClr val="FFFFFF"/>
          </a:solidFill>
          <a:ln w="12700">
            <a:solidFill>
              <a:srgbClr val="8A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851392" y="5074919"/>
            <a:ext cx="1437436" cy="256032"/>
          </a:xfrm>
          <a:prstGeom prst="rect">
            <a:avLst/>
          </a:prstGeom>
          <a:noFill/>
        </p:spPr>
        <p:txBody>
          <a:bodyPr wrap="square" lIns="18288" tIns="0" rIns="18288" bIns="0" anchor="ctr">
            <a:noAutofit/>
          </a:bodyPr>
          <a:lstStyle/>
          <a:p>
            <a:pPr algn="ctr"/>
            <a:r>
              <a:rPr sz="1100" b="1" i="0">
                <a:solidFill>
                  <a:srgbClr val="8A6A00"/>
                </a:solidFill>
                <a:latin typeface="Consolas"/>
                <a:cs typeface="Consolas"/>
              </a:rPr>
              <a:t>compiler/test/</a:t>
            </a:r>
          </a:p>
        </p:txBody>
      </p:sp>
      <p:sp>
        <p:nvSpPr>
          <p:cNvPr id="84" name="TextBox 83"/>
          <p:cNvSpPr txBox="1"/>
          <p:nvPr/>
        </p:nvSpPr>
        <p:spPr>
          <a:xfrm>
            <a:off x="8851392" y="5321807"/>
            <a:ext cx="1437436"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25 regression cases</a:t>
            </a:r>
          </a:p>
        </p:txBody>
      </p:sp>
      <p:sp>
        <p:nvSpPr>
          <p:cNvPr id="85" name="Rounded Rectangle 84"/>
          <p:cNvSpPr/>
          <p:nvPr/>
        </p:nvSpPr>
        <p:spPr>
          <a:xfrm>
            <a:off x="2834640" y="5623559"/>
            <a:ext cx="1499616" cy="493776"/>
          </a:xfrm>
          <a:prstGeom prst="roundRect">
            <a:avLst>
              <a:gd name="adj" fmla="val 12000"/>
            </a:avLst>
          </a:prstGeom>
          <a:solidFill>
            <a:srgbClr val="FFFFFF"/>
          </a:solidFill>
          <a:ln w="12700">
            <a:solidFill>
              <a:srgbClr val="8A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34640" y="5641847"/>
            <a:ext cx="1499616" cy="256032"/>
          </a:xfrm>
          <a:prstGeom prst="rect">
            <a:avLst/>
          </a:prstGeom>
          <a:noFill/>
        </p:spPr>
        <p:txBody>
          <a:bodyPr wrap="square" lIns="18288" tIns="0" rIns="18288" bIns="0" anchor="ctr">
            <a:noAutofit/>
          </a:bodyPr>
          <a:lstStyle/>
          <a:p>
            <a:pPr algn="ctr"/>
            <a:r>
              <a:rPr sz="1100" b="1" i="0">
                <a:solidFill>
                  <a:srgbClr val="8A6A00"/>
                </a:solidFill>
                <a:latin typeface="Consolas"/>
                <a:cs typeface="Consolas"/>
              </a:rPr>
              <a:t>dashboard/</a:t>
            </a:r>
          </a:p>
        </p:txBody>
      </p:sp>
      <p:sp>
        <p:nvSpPr>
          <p:cNvPr id="87" name="TextBox 86"/>
          <p:cNvSpPr txBox="1"/>
          <p:nvPr/>
        </p:nvSpPr>
        <p:spPr>
          <a:xfrm>
            <a:off x="2834640" y="5888736"/>
            <a:ext cx="1499616" cy="219456"/>
          </a:xfrm>
          <a:prstGeom prst="rect">
            <a:avLst/>
          </a:prstGeom>
          <a:noFill/>
        </p:spPr>
        <p:txBody>
          <a:bodyPr wrap="square" lIns="18288" tIns="0" rIns="18288" bIns="0" anchor="ctr">
            <a:noAutofit/>
          </a:bodyPr>
          <a:lstStyle/>
          <a:p>
            <a:pPr algn="ctr"/>
            <a:r>
              <a:rPr sz="1050" b="0" i="0">
                <a:solidFill>
                  <a:srgbClr val="595959"/>
                </a:solidFill>
                <a:latin typeface="Calibri"/>
                <a:cs typeface="Calibri"/>
              </a:rPr>
              <a:t>FastAPI + vanilla JS</a:t>
            </a:r>
          </a:p>
        </p:txBody>
      </p:sp>
      <p:sp>
        <p:nvSpPr>
          <p:cNvPr id="88" name="Down Arrow 87"/>
          <p:cNvSpPr/>
          <p:nvPr/>
        </p:nvSpPr>
        <p:spPr>
          <a:xfrm>
            <a:off x="5623560" y="3118104"/>
            <a:ext cx="256032" cy="219456"/>
          </a:xfrm>
          <a:prstGeom prst="downArrow">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943600" y="3081528"/>
            <a:ext cx="3291840" cy="292608"/>
          </a:xfrm>
          <a:prstGeom prst="rect">
            <a:avLst/>
          </a:prstGeom>
          <a:noFill/>
        </p:spPr>
        <p:txBody>
          <a:bodyPr wrap="square" lIns="45720" tIns="27432" rIns="45720" bIns="27432" anchor="ctr">
            <a:noAutofit/>
          </a:bodyPr>
          <a:lstStyle/>
          <a:p>
            <a:pPr algn="l"/>
            <a:r>
              <a:rPr sz="1200" b="1" i="0">
                <a:solidFill>
                  <a:srgbClr val="820019"/>
                </a:solidFill>
                <a:latin typeface="Calibri"/>
                <a:cs typeface="Calibri"/>
              </a:rPr>
              <a:t>Compiled spec  (single-line JSON)</a:t>
            </a:r>
          </a:p>
        </p:txBody>
      </p:sp>
      <p:sp>
        <p:nvSpPr>
          <p:cNvPr id="90" name="Down Arrow 89"/>
          <p:cNvSpPr/>
          <p:nvPr/>
        </p:nvSpPr>
        <p:spPr>
          <a:xfrm>
            <a:off x="5623560" y="4709160"/>
            <a:ext cx="256032" cy="219456"/>
          </a:xfrm>
          <a:prstGeom prst="downArrow">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943600" y="4672584"/>
            <a:ext cx="3291840" cy="292608"/>
          </a:xfrm>
          <a:prstGeom prst="rect">
            <a:avLst/>
          </a:prstGeom>
          <a:noFill/>
        </p:spPr>
        <p:txBody>
          <a:bodyPr wrap="square" lIns="45720" tIns="27432" rIns="45720" bIns="27432" anchor="ctr">
            <a:noAutofit/>
          </a:bodyPr>
          <a:lstStyle/>
          <a:p>
            <a:pPr algn="l"/>
            <a:r>
              <a:rPr sz="1200" b="1" i="0">
                <a:solidFill>
                  <a:srgbClr val="820019"/>
                </a:solidFill>
                <a:latin typeface="Calibri"/>
                <a:cs typeface="Calibri"/>
              </a:rPr>
              <a:t>Alerts · verdicts · results JSON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Slide Number Placeholder 4">
            <a:extLst>
              <a:ext uri="{FF2B5EF4-FFF2-40B4-BE49-F238E27FC236}">
                <a16:creationId xmlns:a16="http://schemas.microsoft.com/office/drawing/2014/main" id="{3BB1CF24-B971-CBFF-0568-D54310410AEF}"/>
              </a:ext>
            </a:extLst>
          </p:cNvPr>
          <p:cNvSpPr>
            <a:spLocks noGrp="1"/>
          </p:cNvSpPr>
          <p:nvPr>
            <p:ph type="sldNum" sz="quarter" idx="12"/>
          </p:nvPr>
        </p:nvSpPr>
        <p:spPr/>
        <p:txBody>
          <a:bodyPr/>
          <a:lstStyle/>
          <a:p>
            <a:fld id="{C56FAF6A-4925-4D1E-8078-ECEA64474517}" type="slidenum">
              <a:rPr lang="en-IN" smtClean="0"/>
              <a:t>3</a:t>
            </a:fld>
            <a:endParaRPr lang="en-IN"/>
          </a:p>
        </p:txBody>
      </p:sp>
      <p:sp>
        <p:nvSpPr>
          <p:cNvPr id="8" name="TextBox 7">
            <a:extLst>
              <a:ext uri="{FF2B5EF4-FFF2-40B4-BE49-F238E27FC236}">
                <a16:creationId xmlns:a16="http://schemas.microsoft.com/office/drawing/2014/main" id="{5B0729FB-B169-BF4E-15A2-C21E69787699}"/>
              </a:ext>
            </a:extLst>
          </p:cNvPr>
          <p:cNvSpPr txBox="1"/>
          <p:nvPr/>
        </p:nvSpPr>
        <p:spPr>
          <a:xfrm>
            <a:off x="1180444" y="420286"/>
            <a:ext cx="10607040" cy="584775"/>
          </a:xfrm>
          <a:prstGeom prst="rect">
            <a:avLst/>
          </a:prstGeom>
          <a:noFill/>
        </p:spPr>
        <p:txBody>
          <a:bodyPr wrap="square">
            <a:spAutoFit/>
          </a:bodyPr>
          <a:lstStyle/>
          <a:p>
            <a:pPr>
              <a:defRPr/>
            </a:pPr>
            <a:r>
              <a:rPr lang="en-US" sz="3200" b="1" dirty="0">
                <a:latin typeface="Times New Roman" panose="02020603050405020304" pitchFamily="18" charset="0"/>
                <a:cs typeface="Times New Roman"/>
              </a:rPr>
              <a:t>Results (2/2): Extraction &amp; Performance</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71586D3F-CFEB-588C-6A57-E6CA6C04CBF4}"/>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7A79684F-D9BF-C1FC-9FB2-66E7E479F2E8}"/>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FD9A56E-4F97-9A5C-1C8F-74CFF507ADBC}"/>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7DC662D4-09F8-31FE-4DBC-9CCC617B34FA}"/>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C7B746D-9102-FAC7-78A0-449051F88265}"/>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Extraction is strong but not perfect, and </a:t>
            </a:r>
            <a:r>
              <a:rPr sz="2400" b="1" i="0">
                <a:solidFill>
                  <a:srgbClr val="820019"/>
                </a:solidFill>
                <a:latin typeface="Calibri"/>
                <a:cs typeface="Calibri"/>
              </a:rPr>
              <a:t>the system says so</a:t>
            </a:r>
            <a:r>
              <a:rPr sz="2400" b="0" i="0">
                <a:solidFill>
                  <a:srgbClr val="1F1F1F"/>
                </a:solidFill>
                <a:latin typeface="Calibri"/>
                <a:cs typeface="Calibri"/>
              </a:rPr>
              <a:t>.</a:t>
            </a:r>
          </a:p>
        </p:txBody>
      </p:sp>
      <p:sp>
        <p:nvSpPr>
          <p:cNvPr id="16" name="Rounded Rectangle 15"/>
          <p:cNvSpPr/>
          <p:nvPr/>
        </p:nvSpPr>
        <p:spPr>
          <a:xfrm>
            <a:off x="365760" y="1783080"/>
            <a:ext cx="5760720" cy="379476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828800"/>
            <a:ext cx="5394960" cy="365760"/>
          </a:xfrm>
          <a:prstGeom prst="rect">
            <a:avLst/>
          </a:prstGeom>
          <a:noFill/>
        </p:spPr>
        <p:txBody>
          <a:bodyPr wrap="square" lIns="45720" tIns="27432" rIns="45720" bIns="27432" anchor="ctr">
            <a:noAutofit/>
          </a:bodyPr>
          <a:lstStyle/>
          <a:p>
            <a:pPr algn="l"/>
            <a:r>
              <a:rPr sz="1700" b="1" i="0">
                <a:solidFill>
                  <a:srgbClr val="820019"/>
                </a:solidFill>
                <a:latin typeface="Times New Roman"/>
                <a:cs typeface="Times New Roman"/>
              </a:rPr>
              <a:t>Field extraction on 5 held-out reports</a:t>
            </a:r>
          </a:p>
        </p:txBody>
      </p:sp>
      <p:graphicFrame>
        <p:nvGraphicFramePr>
          <p:cNvPr id="18" name="Chart 17"/>
          <p:cNvGraphicFramePr>
            <a:graphicFrameLocks noGrp="1"/>
          </p:cNvGraphicFramePr>
          <p:nvPr/>
        </p:nvGraphicFramePr>
        <p:xfrm>
          <a:off x="502920" y="2194560"/>
          <a:ext cx="5486400" cy="2514600"/>
        </p:xfrm>
        <a:graphic>
          <a:graphicData uri="http://schemas.openxmlformats.org/drawingml/2006/chart">
            <c:chart xmlns:c="http://schemas.openxmlformats.org/drawingml/2006/chart" r:id="rId3"/>
          </a:graphicData>
        </a:graphic>
      </p:graphicFrame>
      <p:sp>
        <p:nvSpPr>
          <p:cNvPr id="19" name="Rounded Rectangle 18"/>
          <p:cNvSpPr/>
          <p:nvPr/>
        </p:nvSpPr>
        <p:spPr>
          <a:xfrm>
            <a:off x="548640" y="4800600"/>
            <a:ext cx="2651760" cy="685800"/>
          </a:xfrm>
          <a:prstGeom prst="roundRect">
            <a:avLst>
              <a:gd name="adj" fmla="val 1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800600"/>
            <a:ext cx="1143000" cy="685800"/>
          </a:xfrm>
          <a:prstGeom prst="rect">
            <a:avLst/>
          </a:prstGeom>
          <a:noFill/>
        </p:spPr>
        <p:txBody>
          <a:bodyPr wrap="square" lIns="18288" tIns="0" rIns="18288" bIns="0" anchor="ctr">
            <a:noAutofit/>
          </a:bodyPr>
          <a:lstStyle/>
          <a:p>
            <a:pPr algn="ctr"/>
            <a:r>
              <a:rPr sz="1500" b="1" i="0">
                <a:solidFill>
                  <a:srgbClr val="820019"/>
                </a:solidFill>
                <a:latin typeface="Calibri"/>
                <a:cs typeface="Calibri"/>
              </a:rPr>
              <a:t>0.80 → 1.00</a:t>
            </a:r>
          </a:p>
        </p:txBody>
      </p:sp>
      <p:sp>
        <p:nvSpPr>
          <p:cNvPr id="21" name="TextBox 20"/>
          <p:cNvSpPr txBox="1"/>
          <p:nvPr/>
        </p:nvSpPr>
        <p:spPr>
          <a:xfrm>
            <a:off x="1691640" y="4800600"/>
            <a:ext cx="1463040" cy="685800"/>
          </a:xfrm>
          <a:prstGeom prst="rect">
            <a:avLst/>
          </a:prstGeom>
          <a:noFill/>
        </p:spPr>
        <p:txBody>
          <a:bodyPr wrap="square" lIns="18288" tIns="0" rIns="18288" bIns="0" anchor="ctr">
            <a:noAutofit/>
          </a:bodyPr>
          <a:lstStyle/>
          <a:p>
            <a:pPr algn="l"/>
            <a:r>
              <a:rPr sz="1100" b="0" i="0">
                <a:solidFill>
                  <a:srgbClr val="1F1F1F"/>
                </a:solidFill>
                <a:latin typeface="Calibri"/>
                <a:cs typeface="Calibri"/>
              </a:rPr>
              <a:t>behaviour accuracy, classical → transformer</a:t>
            </a:r>
          </a:p>
        </p:txBody>
      </p:sp>
      <p:sp>
        <p:nvSpPr>
          <p:cNvPr id="22" name="Rounded Rectangle 21"/>
          <p:cNvSpPr/>
          <p:nvPr/>
        </p:nvSpPr>
        <p:spPr>
          <a:xfrm>
            <a:off x="3337560" y="4800600"/>
            <a:ext cx="2651760" cy="685800"/>
          </a:xfrm>
          <a:prstGeom prst="roundRect">
            <a:avLst>
              <a:gd name="adj" fmla="val 10000"/>
            </a:avLst>
          </a:prstGeom>
          <a:solidFill>
            <a:srgbClr val="FB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60" y="4800600"/>
            <a:ext cx="1143000" cy="685800"/>
          </a:xfrm>
          <a:prstGeom prst="rect">
            <a:avLst/>
          </a:prstGeom>
          <a:noFill/>
        </p:spPr>
        <p:txBody>
          <a:bodyPr wrap="square" lIns="18288" tIns="0" rIns="18288" bIns="0" anchor="ctr">
            <a:noAutofit/>
          </a:bodyPr>
          <a:lstStyle/>
          <a:p>
            <a:pPr algn="ctr"/>
            <a:r>
              <a:rPr sz="2000" b="1" i="0">
                <a:solidFill>
                  <a:srgbClr val="820019"/>
                </a:solidFill>
                <a:latin typeface="Calibri"/>
                <a:cs typeface="Calibri"/>
              </a:rPr>
              <a:t>100%</a:t>
            </a:r>
          </a:p>
        </p:txBody>
      </p:sp>
      <p:sp>
        <p:nvSpPr>
          <p:cNvPr id="24" name="TextBox 23"/>
          <p:cNvSpPr txBox="1"/>
          <p:nvPr/>
        </p:nvSpPr>
        <p:spPr>
          <a:xfrm>
            <a:off x="4480560" y="4800600"/>
            <a:ext cx="1463040" cy="685800"/>
          </a:xfrm>
          <a:prstGeom prst="rect">
            <a:avLst/>
          </a:prstGeom>
          <a:noFill/>
        </p:spPr>
        <p:txBody>
          <a:bodyPr wrap="square" lIns="18288" tIns="0" rIns="18288" bIns="0" anchor="ctr">
            <a:noAutofit/>
          </a:bodyPr>
          <a:lstStyle/>
          <a:p>
            <a:pPr algn="l"/>
            <a:r>
              <a:rPr sz="1100" b="0" i="0">
                <a:solidFill>
                  <a:srgbClr val="1F1F1F"/>
                </a:solidFill>
                <a:latin typeface="Calibri"/>
                <a:cs typeface="Calibri"/>
              </a:rPr>
              <a:t>provenance quotes verified against source</a:t>
            </a:r>
          </a:p>
        </p:txBody>
      </p:sp>
      <p:sp>
        <p:nvSpPr>
          <p:cNvPr id="25" name="Rounded Rectangle 24"/>
          <p:cNvSpPr/>
          <p:nvPr/>
        </p:nvSpPr>
        <p:spPr>
          <a:xfrm>
            <a:off x="6355080" y="1783080"/>
            <a:ext cx="5468112" cy="260604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1828800"/>
            <a:ext cx="5120640" cy="365760"/>
          </a:xfrm>
          <a:prstGeom prst="rect">
            <a:avLst/>
          </a:prstGeom>
          <a:noFill/>
        </p:spPr>
        <p:txBody>
          <a:bodyPr wrap="square" lIns="45720" tIns="27432" rIns="45720" bIns="27432" anchor="ctr">
            <a:noAutofit/>
          </a:bodyPr>
          <a:lstStyle/>
          <a:p>
            <a:pPr algn="l"/>
            <a:r>
              <a:rPr sz="1700" b="1" i="0">
                <a:solidFill>
                  <a:srgbClr val="820019"/>
                </a:solidFill>
                <a:latin typeface="Times New Roman"/>
                <a:cs typeface="Times New Roman"/>
              </a:rPr>
              <a:t>Robustness to adversarial text</a:t>
            </a:r>
          </a:p>
        </p:txBody>
      </p:sp>
      <p:sp>
        <p:nvSpPr>
          <p:cNvPr id="27" name="Oval 26"/>
          <p:cNvSpPr/>
          <p:nvPr/>
        </p:nvSpPr>
        <p:spPr>
          <a:xfrm>
            <a:off x="6537960" y="2313432"/>
            <a:ext cx="329184" cy="329184"/>
          </a:xfrm>
          <a:prstGeom prst="ellipse">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aExclamation_white.png"/>
          <p:cNvPicPr>
            <a:picLocks noChangeAspect="1"/>
          </p:cNvPicPr>
          <p:nvPr/>
        </p:nvPicPr>
        <p:blipFill>
          <a:blip r:embed="rId4"/>
          <a:stretch>
            <a:fillRect/>
          </a:stretch>
        </p:blipFill>
        <p:spPr>
          <a:xfrm>
            <a:off x="6620256" y="2395728"/>
            <a:ext cx="164592" cy="164592"/>
          </a:xfrm>
          <a:prstGeom prst="rect">
            <a:avLst/>
          </a:prstGeom>
        </p:spPr>
      </p:pic>
      <p:sp>
        <p:nvSpPr>
          <p:cNvPr id="29" name="TextBox 28"/>
          <p:cNvSpPr txBox="1"/>
          <p:nvPr/>
        </p:nvSpPr>
        <p:spPr>
          <a:xfrm>
            <a:off x="6995160" y="2240280"/>
            <a:ext cx="4754880" cy="512064"/>
          </a:xfrm>
          <a:prstGeom prst="rect">
            <a:avLst/>
          </a:prstGeom>
          <a:noFill/>
        </p:spPr>
        <p:txBody>
          <a:bodyPr wrap="square" lIns="18288" tIns="0" rIns="18288" bIns="0" anchor="ctr">
            <a:noAutofit/>
          </a:bodyPr>
          <a:lstStyle/>
          <a:p>
            <a:pPr algn="l">
              <a:spcAft>
                <a:spcPts val="0"/>
              </a:spcAft>
            </a:pPr>
            <a:r>
              <a:rPr sz="1350" b="1" i="0">
                <a:solidFill>
                  <a:srgbClr val="1F1F1F"/>
                </a:solidFill>
                <a:latin typeface="Calibri"/>
                <a:cs typeface="Calibri"/>
              </a:rPr>
              <a:t>Synonym substitution</a:t>
            </a:r>
          </a:p>
          <a:p>
            <a:pPr algn="l"/>
            <a:r>
              <a:rPr sz="1200" b="0" i="0">
                <a:solidFill>
                  <a:srgbClr val="595959"/>
                </a:solidFill>
                <a:latin typeface="Calibri"/>
                <a:cs typeface="Calibri"/>
              </a:rPr>
              <a:t>Classical collapsed to 1 field; transformer kept the full spec.</a:t>
            </a:r>
          </a:p>
        </p:txBody>
      </p:sp>
      <p:sp>
        <p:nvSpPr>
          <p:cNvPr id="30" name="Oval 29"/>
          <p:cNvSpPr/>
          <p:nvPr/>
        </p:nvSpPr>
        <p:spPr>
          <a:xfrm>
            <a:off x="6537960" y="2843784"/>
            <a:ext cx="329184" cy="329184"/>
          </a:xfrm>
          <a:prstGeom prst="ellipse">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FaExclamation_white.png"/>
          <p:cNvPicPr>
            <a:picLocks noChangeAspect="1"/>
          </p:cNvPicPr>
          <p:nvPr/>
        </p:nvPicPr>
        <p:blipFill>
          <a:blip r:embed="rId4"/>
          <a:stretch>
            <a:fillRect/>
          </a:stretch>
        </p:blipFill>
        <p:spPr>
          <a:xfrm>
            <a:off x="6620256" y="2926080"/>
            <a:ext cx="164592" cy="164592"/>
          </a:xfrm>
          <a:prstGeom prst="rect">
            <a:avLst/>
          </a:prstGeom>
        </p:spPr>
      </p:pic>
      <p:sp>
        <p:nvSpPr>
          <p:cNvPr id="32" name="TextBox 31"/>
          <p:cNvSpPr txBox="1"/>
          <p:nvPr/>
        </p:nvSpPr>
        <p:spPr>
          <a:xfrm>
            <a:off x="6995160" y="2770632"/>
            <a:ext cx="4754880" cy="512064"/>
          </a:xfrm>
          <a:prstGeom prst="rect">
            <a:avLst/>
          </a:prstGeom>
          <a:noFill/>
        </p:spPr>
        <p:txBody>
          <a:bodyPr wrap="square" lIns="18288" tIns="0" rIns="18288" bIns="0" anchor="ctr">
            <a:noAutofit/>
          </a:bodyPr>
          <a:lstStyle/>
          <a:p>
            <a:pPr algn="l">
              <a:spcAft>
                <a:spcPts val="0"/>
              </a:spcAft>
            </a:pPr>
            <a:r>
              <a:rPr sz="1350" b="1" i="0">
                <a:solidFill>
                  <a:srgbClr val="1F1F1F"/>
                </a:solidFill>
                <a:latin typeface="Calibri"/>
                <a:cs typeface="Calibri"/>
              </a:rPr>
              <a:t>Alarming tone, compliant facts</a:t>
            </a:r>
          </a:p>
          <a:p>
            <a:pPr algn="l"/>
            <a:r>
              <a:rPr sz="1200" b="0" i="0">
                <a:solidFill>
                  <a:srgbClr val="595959"/>
                </a:solidFill>
                <a:latin typeface="Calibri"/>
                <a:cs typeface="Calibri"/>
              </a:rPr>
              <a:t>Classical misclassified; transformer read through the tone.</a:t>
            </a:r>
          </a:p>
        </p:txBody>
      </p:sp>
      <p:sp>
        <p:nvSpPr>
          <p:cNvPr id="33" name="Oval 32"/>
          <p:cNvSpPr/>
          <p:nvPr/>
        </p:nvSpPr>
        <p:spPr>
          <a:xfrm>
            <a:off x="6537960" y="3374136"/>
            <a:ext cx="329184" cy="329184"/>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FaCheck_white.png"/>
          <p:cNvPicPr>
            <a:picLocks noChangeAspect="1"/>
          </p:cNvPicPr>
          <p:nvPr/>
        </p:nvPicPr>
        <p:blipFill>
          <a:blip r:embed="rId5"/>
          <a:stretch>
            <a:fillRect/>
          </a:stretch>
        </p:blipFill>
        <p:spPr>
          <a:xfrm>
            <a:off x="6620256" y="3456432"/>
            <a:ext cx="164592" cy="164592"/>
          </a:xfrm>
          <a:prstGeom prst="rect">
            <a:avLst/>
          </a:prstGeom>
        </p:spPr>
      </p:pic>
      <p:sp>
        <p:nvSpPr>
          <p:cNvPr id="35" name="TextBox 34"/>
          <p:cNvSpPr txBox="1"/>
          <p:nvPr/>
        </p:nvSpPr>
        <p:spPr>
          <a:xfrm>
            <a:off x="6995160" y="3300984"/>
            <a:ext cx="4754880" cy="512064"/>
          </a:xfrm>
          <a:prstGeom prst="rect">
            <a:avLst/>
          </a:prstGeom>
          <a:noFill/>
        </p:spPr>
        <p:txBody>
          <a:bodyPr wrap="square" lIns="18288" tIns="0" rIns="18288" bIns="0" anchor="ctr">
            <a:noAutofit/>
          </a:bodyPr>
          <a:lstStyle/>
          <a:p>
            <a:pPr algn="l">
              <a:spcAft>
                <a:spcPts val="0"/>
              </a:spcAft>
            </a:pPr>
            <a:r>
              <a:rPr sz="1350" b="1" i="0">
                <a:solidFill>
                  <a:srgbClr val="1F1F1F"/>
                </a:solidFill>
                <a:latin typeface="Calibri"/>
                <a:cs typeface="Calibri"/>
              </a:rPr>
              <a:t>Contradictory threshold (5 → 10)</a:t>
            </a:r>
          </a:p>
          <a:p>
            <a:pPr algn="l"/>
            <a:r>
              <a:rPr sz="1200" b="0" i="0">
                <a:solidFill>
                  <a:srgbClr val="595959"/>
                </a:solidFill>
                <a:latin typeface="Calibri"/>
                <a:cs typeface="Calibri"/>
              </a:rPr>
              <a:t>Both extractors resolved to the corrected value.</a:t>
            </a:r>
          </a:p>
        </p:txBody>
      </p:sp>
      <p:sp>
        <p:nvSpPr>
          <p:cNvPr id="36" name="Oval 35"/>
          <p:cNvSpPr/>
          <p:nvPr/>
        </p:nvSpPr>
        <p:spPr>
          <a:xfrm>
            <a:off x="6537960" y="3904487"/>
            <a:ext cx="329184" cy="329184"/>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FaCheck_white.png"/>
          <p:cNvPicPr>
            <a:picLocks noChangeAspect="1"/>
          </p:cNvPicPr>
          <p:nvPr/>
        </p:nvPicPr>
        <p:blipFill>
          <a:blip r:embed="rId5"/>
          <a:stretch>
            <a:fillRect/>
          </a:stretch>
        </p:blipFill>
        <p:spPr>
          <a:xfrm>
            <a:off x="6620256" y="3986783"/>
            <a:ext cx="164592" cy="164592"/>
          </a:xfrm>
          <a:prstGeom prst="rect">
            <a:avLst/>
          </a:prstGeom>
        </p:spPr>
      </p:pic>
      <p:sp>
        <p:nvSpPr>
          <p:cNvPr id="38" name="TextBox 37"/>
          <p:cNvSpPr txBox="1"/>
          <p:nvPr/>
        </p:nvSpPr>
        <p:spPr>
          <a:xfrm>
            <a:off x="6995160" y="3831335"/>
            <a:ext cx="4754880" cy="512064"/>
          </a:xfrm>
          <a:prstGeom prst="rect">
            <a:avLst/>
          </a:prstGeom>
          <a:noFill/>
        </p:spPr>
        <p:txBody>
          <a:bodyPr wrap="square" lIns="18288" tIns="0" rIns="18288" bIns="0" anchor="ctr">
            <a:noAutofit/>
          </a:bodyPr>
          <a:lstStyle/>
          <a:p>
            <a:pPr algn="l">
              <a:spcAft>
                <a:spcPts val="0"/>
              </a:spcAft>
            </a:pPr>
            <a:r>
              <a:rPr sz="1350" b="1" i="0">
                <a:solidFill>
                  <a:srgbClr val="1F1F1F"/>
                </a:solidFill>
                <a:latin typeface="Calibri"/>
                <a:cs typeface="Calibri"/>
              </a:rPr>
              <a:t>Prompt injection (3 fixtures)</a:t>
            </a:r>
          </a:p>
          <a:p>
            <a:pPr algn="l"/>
            <a:r>
              <a:rPr sz="1200" b="0" i="0">
                <a:solidFill>
                  <a:srgbClr val="595959"/>
                </a:solidFill>
                <a:latin typeface="Calibri"/>
                <a:cs typeface="Calibri"/>
              </a:rPr>
              <a:t>Guard blocks the LLM call; constrained prompt also held.</a:t>
            </a:r>
          </a:p>
        </p:txBody>
      </p:sp>
      <p:sp>
        <p:nvSpPr>
          <p:cNvPr id="39" name="Rounded Rectangle 38"/>
          <p:cNvSpPr/>
          <p:nvPr/>
        </p:nvSpPr>
        <p:spPr>
          <a:xfrm>
            <a:off x="6355080" y="4526280"/>
            <a:ext cx="1731264" cy="1051560"/>
          </a:xfrm>
          <a:prstGeom prst="roundRect">
            <a:avLst>
              <a:gd name="adj" fmla="val 8000"/>
            </a:avLst>
          </a:prstGeom>
          <a:solidFill>
            <a:srgbClr val="ED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4553712"/>
            <a:ext cx="1731264" cy="502920"/>
          </a:xfrm>
          <a:prstGeom prst="rect">
            <a:avLst/>
          </a:prstGeom>
          <a:noFill/>
        </p:spPr>
        <p:txBody>
          <a:bodyPr wrap="square" lIns="45720" tIns="27432" rIns="45720" bIns="27432" anchor="ctr">
            <a:noAutofit/>
          </a:bodyPr>
          <a:lstStyle/>
          <a:p>
            <a:pPr algn="ctr"/>
            <a:r>
              <a:rPr sz="2200" b="1" i="0">
                <a:solidFill>
                  <a:srgbClr val="002060"/>
                </a:solidFill>
                <a:latin typeface="Calibri"/>
                <a:cs typeface="Calibri"/>
              </a:rPr>
              <a:t>503 ms</a:t>
            </a:r>
          </a:p>
        </p:txBody>
      </p:sp>
      <p:sp>
        <p:nvSpPr>
          <p:cNvPr id="41" name="TextBox 40"/>
          <p:cNvSpPr txBox="1"/>
          <p:nvPr/>
        </p:nvSpPr>
        <p:spPr>
          <a:xfrm>
            <a:off x="6400800" y="5029200"/>
            <a:ext cx="1639824" cy="502920"/>
          </a:xfrm>
          <a:prstGeom prst="rect">
            <a:avLst/>
          </a:prstGeom>
          <a:noFill/>
        </p:spPr>
        <p:txBody>
          <a:bodyPr wrap="square" lIns="18288" tIns="0" rIns="18288" bIns="0" anchor="t">
            <a:noAutofit/>
          </a:bodyPr>
          <a:lstStyle/>
          <a:p>
            <a:pPr algn="ctr"/>
            <a:r>
              <a:rPr sz="1150" b="0" i="0">
                <a:solidFill>
                  <a:srgbClr val="1F1F1F"/>
                </a:solidFill>
                <a:latin typeface="Calibri"/>
                <a:cs typeface="Calibri"/>
              </a:rPr>
              <a:t>mean per query · p95 1136 ms</a:t>
            </a:r>
          </a:p>
        </p:txBody>
      </p:sp>
      <p:sp>
        <p:nvSpPr>
          <p:cNvPr id="42" name="Rounded Rectangle 41"/>
          <p:cNvSpPr/>
          <p:nvPr/>
        </p:nvSpPr>
        <p:spPr>
          <a:xfrm>
            <a:off x="8223504" y="4526280"/>
            <a:ext cx="1731264" cy="1051560"/>
          </a:xfrm>
          <a:prstGeom prst="roundRect">
            <a:avLst>
              <a:gd name="adj" fmla="val 8000"/>
            </a:avLst>
          </a:prstGeom>
          <a:solidFill>
            <a:srgbClr val="ED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3504" y="4553712"/>
            <a:ext cx="1731264" cy="502920"/>
          </a:xfrm>
          <a:prstGeom prst="rect">
            <a:avLst/>
          </a:prstGeom>
          <a:noFill/>
        </p:spPr>
        <p:txBody>
          <a:bodyPr wrap="square" lIns="45720" tIns="27432" rIns="45720" bIns="27432" anchor="ctr">
            <a:noAutofit/>
          </a:bodyPr>
          <a:lstStyle/>
          <a:p>
            <a:pPr algn="ctr"/>
            <a:r>
              <a:rPr sz="2200" b="1" i="0">
                <a:solidFill>
                  <a:srgbClr val="002060"/>
                </a:solidFill>
                <a:latin typeface="Calibri"/>
                <a:cs typeface="Calibri"/>
              </a:rPr>
              <a:t>≈ 95/s</a:t>
            </a:r>
          </a:p>
        </p:txBody>
      </p:sp>
      <p:sp>
        <p:nvSpPr>
          <p:cNvPr id="44" name="TextBox 43"/>
          <p:cNvSpPr txBox="1"/>
          <p:nvPr/>
        </p:nvSpPr>
        <p:spPr>
          <a:xfrm>
            <a:off x="8269224" y="5029200"/>
            <a:ext cx="1639824" cy="502920"/>
          </a:xfrm>
          <a:prstGeom prst="rect">
            <a:avLst/>
          </a:prstGeom>
          <a:noFill/>
        </p:spPr>
        <p:txBody>
          <a:bodyPr wrap="square" lIns="18288" tIns="0" rIns="18288" bIns="0" anchor="t">
            <a:noAutofit/>
          </a:bodyPr>
          <a:lstStyle/>
          <a:p>
            <a:pPr algn="ctr"/>
            <a:r>
              <a:rPr sz="1150" b="0" i="0">
                <a:solidFill>
                  <a:srgbClr val="1F1F1F"/>
                </a:solidFill>
                <a:latin typeface="Calibri"/>
                <a:cs typeface="Calibri"/>
              </a:rPr>
              <a:t>events per second on 48 events</a:t>
            </a:r>
          </a:p>
        </p:txBody>
      </p:sp>
      <p:sp>
        <p:nvSpPr>
          <p:cNvPr id="45" name="Rounded Rectangle 44"/>
          <p:cNvSpPr/>
          <p:nvPr/>
        </p:nvSpPr>
        <p:spPr>
          <a:xfrm>
            <a:off x="10091928" y="4526280"/>
            <a:ext cx="1731264" cy="1051560"/>
          </a:xfrm>
          <a:prstGeom prst="roundRect">
            <a:avLst>
              <a:gd name="adj" fmla="val 8000"/>
            </a:avLst>
          </a:prstGeom>
          <a:solidFill>
            <a:srgbClr val="ED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91928" y="4553712"/>
            <a:ext cx="1731264" cy="502920"/>
          </a:xfrm>
          <a:prstGeom prst="rect">
            <a:avLst/>
          </a:prstGeom>
          <a:noFill/>
        </p:spPr>
        <p:txBody>
          <a:bodyPr wrap="square" lIns="45720" tIns="27432" rIns="45720" bIns="27432" anchor="ctr">
            <a:noAutofit/>
          </a:bodyPr>
          <a:lstStyle/>
          <a:p>
            <a:pPr algn="ctr"/>
            <a:r>
              <a:rPr sz="2200" b="1" i="0">
                <a:solidFill>
                  <a:srgbClr val="002060"/>
                </a:solidFill>
                <a:latin typeface="Calibri"/>
                <a:cs typeface="Calibri"/>
              </a:rPr>
              <a:t>r = 0.919</a:t>
            </a:r>
          </a:p>
        </p:txBody>
      </p:sp>
      <p:sp>
        <p:nvSpPr>
          <p:cNvPr id="47" name="TextBox 46"/>
          <p:cNvSpPr txBox="1"/>
          <p:nvPr/>
        </p:nvSpPr>
        <p:spPr>
          <a:xfrm>
            <a:off x="10137648" y="5029200"/>
            <a:ext cx="1639824" cy="502920"/>
          </a:xfrm>
          <a:prstGeom prst="rect">
            <a:avLst/>
          </a:prstGeom>
          <a:noFill/>
        </p:spPr>
        <p:txBody>
          <a:bodyPr wrap="square" lIns="18288" tIns="0" rIns="18288" bIns="0" anchor="t">
            <a:noAutofit/>
          </a:bodyPr>
          <a:lstStyle/>
          <a:p>
            <a:pPr algn="ctr"/>
            <a:r>
              <a:rPr sz="1150" b="0" i="0">
                <a:solidFill>
                  <a:srgbClr val="1F1F1F"/>
                </a:solidFill>
                <a:latin typeface="Calibri"/>
                <a:cs typeface="Calibri"/>
              </a:rPr>
              <a:t>agreement ↔ correctness (n = 5)</a:t>
            </a:r>
          </a:p>
        </p:txBody>
      </p:sp>
      <p:sp>
        <p:nvSpPr>
          <p:cNvPr id="48" name="Rounded Rectangle 47"/>
          <p:cNvSpPr/>
          <p:nvPr/>
        </p:nvSpPr>
        <p:spPr>
          <a:xfrm>
            <a:off x="365760" y="5742432"/>
            <a:ext cx="11457432" cy="566928"/>
          </a:xfrm>
          <a:prstGeom prst="roundRect">
            <a:avLst>
              <a:gd name="adj" fmla="val 15000"/>
            </a:avLst>
          </a:prstGeom>
          <a:solidFill>
            <a:srgbClr val="FFF7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FaExclamationTriangle_gold.png"/>
          <p:cNvPicPr>
            <a:picLocks noChangeAspect="1"/>
          </p:cNvPicPr>
          <p:nvPr/>
        </p:nvPicPr>
        <p:blipFill>
          <a:blip r:embed="rId6"/>
          <a:stretch>
            <a:fillRect/>
          </a:stretch>
        </p:blipFill>
        <p:spPr>
          <a:xfrm>
            <a:off x="548640" y="5870448"/>
            <a:ext cx="292608" cy="292608"/>
          </a:xfrm>
          <a:prstGeom prst="rect">
            <a:avLst/>
          </a:prstGeom>
        </p:spPr>
      </p:pic>
      <p:sp>
        <p:nvSpPr>
          <p:cNvPr id="50" name="TextBox 49"/>
          <p:cNvSpPr txBox="1"/>
          <p:nvPr/>
        </p:nvSpPr>
        <p:spPr>
          <a:xfrm>
            <a:off x="1005840" y="5742432"/>
            <a:ext cx="10698480" cy="566928"/>
          </a:xfrm>
          <a:prstGeom prst="rect">
            <a:avLst/>
          </a:prstGeom>
          <a:noFill/>
        </p:spPr>
        <p:txBody>
          <a:bodyPr wrap="square" lIns="45720" tIns="27432" rIns="45720" bIns="27432" anchor="ctr">
            <a:noAutofit/>
          </a:bodyPr>
          <a:lstStyle/>
          <a:p>
            <a:pPr algn="l"/>
            <a:r>
              <a:rPr sz="1400" b="1" i="0">
                <a:solidFill>
                  <a:srgbClr val="8A6A00"/>
                </a:solidFill>
                <a:latin typeface="Calibri"/>
                <a:cs typeface="Calibri"/>
              </a:rPr>
              <a:t>Read with care:  </a:t>
            </a:r>
            <a:r>
              <a:rPr sz="1400" b="0" i="0">
                <a:solidFill>
                  <a:srgbClr val="1F1F1F"/>
                </a:solidFill>
                <a:latin typeface="Calibri"/>
                <a:cs typeface="Calibri"/>
              </a:rPr>
              <a:t>5 reports, 48 events, one machine: directional results, not statistically significant or production scale.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Slide Number Placeholder 4">
            <a:extLst>
              <a:ext uri="{FF2B5EF4-FFF2-40B4-BE49-F238E27FC236}">
                <a16:creationId xmlns:a16="http://schemas.microsoft.com/office/drawing/2014/main" id="{3BB1CF24-B971-CBFF-0568-D54310410AEF}"/>
              </a:ext>
            </a:extLst>
          </p:cNvPr>
          <p:cNvSpPr>
            <a:spLocks noGrp="1"/>
          </p:cNvSpPr>
          <p:nvPr>
            <p:ph type="sldNum" sz="quarter" idx="12"/>
          </p:nvPr>
        </p:nvSpPr>
        <p:spPr/>
        <p:txBody>
          <a:bodyPr/>
          <a:lstStyle/>
          <a:p>
            <a:fld id="{C56FAF6A-4925-4D1E-8078-ECEA64474517}" type="slidenum">
              <a:rPr lang="en-IN" smtClean="0"/>
              <a:t>3</a:t>
            </a:fld>
            <a:endParaRPr lang="en-IN"/>
          </a:p>
        </p:txBody>
      </p:sp>
      <p:sp>
        <p:nvSpPr>
          <p:cNvPr id="8" name="TextBox 7">
            <a:extLst>
              <a:ext uri="{FF2B5EF4-FFF2-40B4-BE49-F238E27FC236}">
                <a16:creationId xmlns:a16="http://schemas.microsoft.com/office/drawing/2014/main" id="{5B0729FB-B169-BF4E-15A2-C21E69787699}"/>
              </a:ext>
            </a:extLst>
          </p:cNvPr>
          <p:cNvSpPr txBox="1"/>
          <p:nvPr/>
        </p:nvSpPr>
        <p:spPr>
          <a:xfrm>
            <a:off x="1180444" y="420286"/>
            <a:ext cx="10607040" cy="584775"/>
          </a:xfrm>
          <a:prstGeom prst="rect">
            <a:avLst/>
          </a:prstGeom>
          <a:noFill/>
        </p:spPr>
        <p:txBody>
          <a:bodyPr wrap="square">
            <a:spAutoFit/>
          </a:bodyPr>
          <a:lstStyle/>
          <a:p>
            <a:pPr>
              <a:defRPr/>
            </a:pPr>
            <a:r>
              <a:rPr lang="en-US" sz="3200" b="1" dirty="0">
                <a:latin typeface="Times New Roman" panose="02020603050405020304" pitchFamily="18" charset="0"/>
                <a:cs typeface="Times New Roman"/>
              </a:rPr>
              <a:t>Project Timeline</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71586D3F-CFEB-588C-6A57-E6CA6C04CBF4}"/>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7A79684F-D9BF-C1FC-9FB2-66E7E479F2E8}"/>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FD9A56E-4F97-9A5C-1C8F-74CFF507ADBC}"/>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7DC662D4-09F8-31FE-4DBC-9CCC617B34FA}"/>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C7B746D-9102-FAC7-78A0-449051F88265}"/>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Seven build phases and a hardening pass </a:t>
            </a:r>
            <a:r>
              <a:rPr sz="2400" b="1" i="0">
                <a:solidFill>
                  <a:srgbClr val="1E8E4E"/>
                </a:solidFill>
                <a:latin typeface="Calibri"/>
                <a:cs typeface="Calibri"/>
              </a:rPr>
              <a:t>completed</a:t>
            </a:r>
            <a:r>
              <a:rPr sz="2400" b="0" i="0">
                <a:solidFill>
                  <a:srgbClr val="1F1F1F"/>
                </a:solidFill>
                <a:latin typeface="Calibri"/>
                <a:cs typeface="Calibri"/>
              </a:rPr>
              <a:t>; final evaluation next.</a:t>
            </a:r>
          </a:p>
        </p:txBody>
      </p:sp>
      <p:sp>
        <p:nvSpPr>
          <p:cNvPr id="16" name="Rectangle 15"/>
          <p:cNvSpPr/>
          <p:nvPr/>
        </p:nvSpPr>
        <p:spPr>
          <a:xfrm>
            <a:off x="1097280" y="3995928"/>
            <a:ext cx="9994392" cy="54864"/>
          </a:xfrm>
          <a:prstGeom prst="rect">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80744" y="3849624"/>
            <a:ext cx="347472" cy="347472"/>
          </a:xfrm>
          <a:prstGeom prst="ellipse">
            <a:avLst/>
          </a:prstGeom>
          <a:solidFill>
            <a:srgbClr val="FFFFFF"/>
          </a:solidFill>
          <a:ln w="38100">
            <a:solidFill>
              <a:srgbClr val="1E8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Check_green.png"/>
          <p:cNvPicPr>
            <a:picLocks noChangeAspect="1"/>
          </p:cNvPicPr>
          <p:nvPr/>
        </p:nvPicPr>
        <p:blipFill>
          <a:blip r:embed="rId3"/>
          <a:stretch>
            <a:fillRect/>
          </a:stretch>
        </p:blipFill>
        <p:spPr>
          <a:xfrm>
            <a:off x="1463039" y="3931920"/>
            <a:ext cx="182880" cy="182880"/>
          </a:xfrm>
          <a:prstGeom prst="rect">
            <a:avLst/>
          </a:prstGeom>
        </p:spPr>
      </p:pic>
      <p:sp>
        <p:nvSpPr>
          <p:cNvPr id="19" name="Rounded Rectangle 18"/>
          <p:cNvSpPr/>
          <p:nvPr/>
        </p:nvSpPr>
        <p:spPr>
          <a:xfrm>
            <a:off x="502920" y="1783080"/>
            <a:ext cx="2103120" cy="1874519"/>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0936" y="1892807"/>
            <a:ext cx="1005840" cy="256032"/>
          </a:xfrm>
          <a:prstGeom prst="roundRect">
            <a:avLst>
              <a:gd name="adj" fmla="val 50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Phase 0</a:t>
            </a:r>
          </a:p>
        </p:txBody>
      </p:sp>
      <p:sp>
        <p:nvSpPr>
          <p:cNvPr id="21" name="TextBox 20"/>
          <p:cNvSpPr txBox="1"/>
          <p:nvPr/>
        </p:nvSpPr>
        <p:spPr>
          <a:xfrm>
            <a:off x="612648" y="2185416"/>
            <a:ext cx="1883663" cy="384048"/>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Scope</a:t>
            </a:r>
          </a:p>
        </p:txBody>
      </p:sp>
      <p:sp>
        <p:nvSpPr>
          <p:cNvPr id="22" name="TextBox 21"/>
          <p:cNvSpPr txBox="1"/>
          <p:nvPr/>
        </p:nvSpPr>
        <p:spPr>
          <a:xfrm>
            <a:off x="612648" y="2587752"/>
            <a:ext cx="1883663" cy="1051560"/>
          </a:xfrm>
          <a:prstGeom prst="rect">
            <a:avLst/>
          </a:prstGeom>
          <a:noFill/>
        </p:spPr>
        <p:txBody>
          <a:bodyPr wrap="square" lIns="45720" tIns="27432" rIns="45720" bIns="27432" anchor="t">
            <a:noAutofit/>
          </a:bodyPr>
          <a:lstStyle/>
          <a:p>
            <a:pPr algn="l"/>
            <a:r>
              <a:rPr sz="1300" b="0" i="0">
                <a:solidFill>
                  <a:srgbClr val="1F1F1F"/>
                </a:solidFill>
                <a:latin typeface="Calibri"/>
                <a:cs typeface="Calibri"/>
              </a:rPr>
              <a:t>One schema, five behaviours, canonical example.</a:t>
            </a:r>
          </a:p>
        </p:txBody>
      </p:sp>
      <p:sp>
        <p:nvSpPr>
          <p:cNvPr id="23" name="Rectangle 22"/>
          <p:cNvSpPr/>
          <p:nvPr/>
        </p:nvSpPr>
        <p:spPr>
          <a:xfrm>
            <a:off x="1545336" y="3657600"/>
            <a:ext cx="18288" cy="192023"/>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515743" y="3849624"/>
            <a:ext cx="347472" cy="347472"/>
          </a:xfrm>
          <a:prstGeom prst="ellipse">
            <a:avLst/>
          </a:prstGeom>
          <a:solidFill>
            <a:srgbClr val="FFFFFF"/>
          </a:solidFill>
          <a:ln w="38100">
            <a:solidFill>
              <a:srgbClr val="1E8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aCheck_green.png"/>
          <p:cNvPicPr>
            <a:picLocks noChangeAspect="1"/>
          </p:cNvPicPr>
          <p:nvPr/>
        </p:nvPicPr>
        <p:blipFill>
          <a:blip r:embed="rId3"/>
          <a:stretch>
            <a:fillRect/>
          </a:stretch>
        </p:blipFill>
        <p:spPr>
          <a:xfrm>
            <a:off x="2598039" y="3931920"/>
            <a:ext cx="182880" cy="182880"/>
          </a:xfrm>
          <a:prstGeom prst="rect">
            <a:avLst/>
          </a:prstGeom>
        </p:spPr>
      </p:pic>
      <p:sp>
        <p:nvSpPr>
          <p:cNvPr id="26" name="Rounded Rectangle 25"/>
          <p:cNvSpPr/>
          <p:nvPr/>
        </p:nvSpPr>
        <p:spPr>
          <a:xfrm>
            <a:off x="1637919" y="4434840"/>
            <a:ext cx="2103120" cy="1874519"/>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765935" y="4544568"/>
            <a:ext cx="1005840" cy="256032"/>
          </a:xfrm>
          <a:prstGeom prst="roundRect">
            <a:avLst>
              <a:gd name="adj" fmla="val 50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Phase 1</a:t>
            </a:r>
          </a:p>
        </p:txBody>
      </p:sp>
      <p:sp>
        <p:nvSpPr>
          <p:cNvPr id="28" name="TextBox 27"/>
          <p:cNvSpPr txBox="1"/>
          <p:nvPr/>
        </p:nvSpPr>
        <p:spPr>
          <a:xfrm>
            <a:off x="1747647" y="4837176"/>
            <a:ext cx="1883663" cy="384048"/>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Data &amp; baselines</a:t>
            </a:r>
          </a:p>
        </p:txBody>
      </p:sp>
      <p:sp>
        <p:nvSpPr>
          <p:cNvPr id="29" name="TextBox 28"/>
          <p:cNvSpPr txBox="1"/>
          <p:nvPr/>
        </p:nvSpPr>
        <p:spPr>
          <a:xfrm>
            <a:off x="1747647" y="5239512"/>
            <a:ext cx="1883663" cy="1051560"/>
          </a:xfrm>
          <a:prstGeom prst="rect">
            <a:avLst/>
          </a:prstGeom>
          <a:noFill/>
        </p:spPr>
        <p:txBody>
          <a:bodyPr wrap="square" lIns="45720" tIns="27432" rIns="45720" bIns="27432" anchor="t">
            <a:noAutofit/>
          </a:bodyPr>
          <a:lstStyle/>
          <a:p>
            <a:pPr algn="l"/>
            <a:r>
              <a:rPr sz="1300" b="0" i="0">
                <a:solidFill>
                  <a:srgbClr val="1F1F1F"/>
                </a:solidFill>
                <a:latin typeface="Calibri"/>
                <a:cs typeface="Calibri"/>
              </a:rPr>
              <a:t>15 reports, replay labels, manual and LLM baselines.</a:t>
            </a:r>
          </a:p>
        </p:txBody>
      </p:sp>
      <p:sp>
        <p:nvSpPr>
          <p:cNvPr id="30" name="Rectangle 29"/>
          <p:cNvSpPr/>
          <p:nvPr/>
        </p:nvSpPr>
        <p:spPr>
          <a:xfrm>
            <a:off x="2680335" y="4197096"/>
            <a:ext cx="18288" cy="237743"/>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50742" y="3849624"/>
            <a:ext cx="347472" cy="347472"/>
          </a:xfrm>
          <a:prstGeom prst="ellipse">
            <a:avLst/>
          </a:prstGeom>
          <a:solidFill>
            <a:srgbClr val="FFFFFF"/>
          </a:solidFill>
          <a:ln w="38100">
            <a:solidFill>
              <a:srgbClr val="1E8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FaCheck_green.png"/>
          <p:cNvPicPr>
            <a:picLocks noChangeAspect="1"/>
          </p:cNvPicPr>
          <p:nvPr/>
        </p:nvPicPr>
        <p:blipFill>
          <a:blip r:embed="rId3"/>
          <a:stretch>
            <a:fillRect/>
          </a:stretch>
        </p:blipFill>
        <p:spPr>
          <a:xfrm>
            <a:off x="3733038" y="3931920"/>
            <a:ext cx="182880" cy="182880"/>
          </a:xfrm>
          <a:prstGeom prst="rect">
            <a:avLst/>
          </a:prstGeom>
        </p:spPr>
      </p:pic>
      <p:sp>
        <p:nvSpPr>
          <p:cNvPr id="33" name="Rounded Rectangle 32"/>
          <p:cNvSpPr/>
          <p:nvPr/>
        </p:nvSpPr>
        <p:spPr>
          <a:xfrm>
            <a:off x="2772918" y="1783080"/>
            <a:ext cx="2103120" cy="1874519"/>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900934" y="1892807"/>
            <a:ext cx="1005840" cy="256032"/>
          </a:xfrm>
          <a:prstGeom prst="roundRect">
            <a:avLst>
              <a:gd name="adj" fmla="val 50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Phase 2</a:t>
            </a:r>
          </a:p>
        </p:txBody>
      </p:sp>
      <p:sp>
        <p:nvSpPr>
          <p:cNvPr id="35" name="TextBox 34"/>
          <p:cNvSpPr txBox="1"/>
          <p:nvPr/>
        </p:nvSpPr>
        <p:spPr>
          <a:xfrm>
            <a:off x="2882646" y="2185416"/>
            <a:ext cx="1883663" cy="384048"/>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NLP extraction</a:t>
            </a:r>
          </a:p>
        </p:txBody>
      </p:sp>
      <p:sp>
        <p:nvSpPr>
          <p:cNvPr id="36" name="TextBox 35"/>
          <p:cNvSpPr txBox="1"/>
          <p:nvPr/>
        </p:nvSpPr>
        <p:spPr>
          <a:xfrm>
            <a:off x="2882646" y="2587752"/>
            <a:ext cx="1883663" cy="1051560"/>
          </a:xfrm>
          <a:prstGeom prst="rect">
            <a:avLst/>
          </a:prstGeom>
          <a:noFill/>
        </p:spPr>
        <p:txBody>
          <a:bodyPr wrap="square" lIns="45720" tIns="27432" rIns="45720" bIns="27432" anchor="t">
            <a:noAutofit/>
          </a:bodyPr>
          <a:lstStyle/>
          <a:p>
            <a:pPr algn="l"/>
            <a:r>
              <a:rPr sz="1300" b="0" i="0">
                <a:solidFill>
                  <a:srgbClr val="1F1F1F"/>
                </a:solidFill>
                <a:latin typeface="Calibri"/>
                <a:cs typeface="Calibri"/>
              </a:rPr>
              <a:t>Classical vs transformer, F1 and provenance.</a:t>
            </a:r>
          </a:p>
        </p:txBody>
      </p:sp>
      <p:sp>
        <p:nvSpPr>
          <p:cNvPr id="37" name="Rectangle 36"/>
          <p:cNvSpPr/>
          <p:nvPr/>
        </p:nvSpPr>
        <p:spPr>
          <a:xfrm>
            <a:off x="3815334" y="3657600"/>
            <a:ext cx="18288" cy="192023"/>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785741" y="3849624"/>
            <a:ext cx="347472" cy="347472"/>
          </a:xfrm>
          <a:prstGeom prst="ellipse">
            <a:avLst/>
          </a:prstGeom>
          <a:solidFill>
            <a:srgbClr val="FFFFFF"/>
          </a:solidFill>
          <a:ln w="38100">
            <a:solidFill>
              <a:srgbClr val="1E8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aCheck_green.png"/>
          <p:cNvPicPr>
            <a:picLocks noChangeAspect="1"/>
          </p:cNvPicPr>
          <p:nvPr/>
        </p:nvPicPr>
        <p:blipFill>
          <a:blip r:embed="rId3"/>
          <a:stretch>
            <a:fillRect/>
          </a:stretch>
        </p:blipFill>
        <p:spPr>
          <a:xfrm>
            <a:off x="4868037" y="3931920"/>
            <a:ext cx="182880" cy="182880"/>
          </a:xfrm>
          <a:prstGeom prst="rect">
            <a:avLst/>
          </a:prstGeom>
        </p:spPr>
      </p:pic>
      <p:sp>
        <p:nvSpPr>
          <p:cNvPr id="40" name="Rounded Rectangle 39"/>
          <p:cNvSpPr/>
          <p:nvPr/>
        </p:nvSpPr>
        <p:spPr>
          <a:xfrm>
            <a:off x="3907917" y="4434840"/>
            <a:ext cx="2103120" cy="1874519"/>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035933" y="4544568"/>
            <a:ext cx="1005840" cy="256032"/>
          </a:xfrm>
          <a:prstGeom prst="roundRect">
            <a:avLst>
              <a:gd name="adj" fmla="val 50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Phase 3</a:t>
            </a:r>
          </a:p>
        </p:txBody>
      </p:sp>
      <p:sp>
        <p:nvSpPr>
          <p:cNvPr id="42" name="TextBox 41"/>
          <p:cNvSpPr txBox="1"/>
          <p:nvPr/>
        </p:nvSpPr>
        <p:spPr>
          <a:xfrm>
            <a:off x="4017645" y="4837176"/>
            <a:ext cx="1883663" cy="384048"/>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Validation gate</a:t>
            </a:r>
          </a:p>
        </p:txBody>
      </p:sp>
      <p:sp>
        <p:nvSpPr>
          <p:cNvPr id="43" name="TextBox 42"/>
          <p:cNvSpPr txBox="1"/>
          <p:nvPr/>
        </p:nvSpPr>
        <p:spPr>
          <a:xfrm>
            <a:off x="4017645" y="5239512"/>
            <a:ext cx="1883663" cy="1051560"/>
          </a:xfrm>
          <a:prstGeom prst="rect">
            <a:avLst/>
          </a:prstGeom>
          <a:noFill/>
        </p:spPr>
        <p:txBody>
          <a:bodyPr wrap="square" lIns="45720" tIns="27432" rIns="45720" bIns="27432" anchor="t">
            <a:noAutofit/>
          </a:bodyPr>
          <a:lstStyle/>
          <a:p>
            <a:pPr algn="l"/>
            <a:r>
              <a:rPr sz="1300" b="0" i="0">
                <a:solidFill>
                  <a:srgbClr val="1F1F1F"/>
                </a:solidFill>
                <a:latin typeface="Calibri"/>
                <a:cs typeface="Calibri"/>
              </a:rPr>
              <a:t>Stage 3 observability checker, 17 cases.</a:t>
            </a:r>
          </a:p>
        </p:txBody>
      </p:sp>
      <p:sp>
        <p:nvSpPr>
          <p:cNvPr id="44" name="Rectangle 43"/>
          <p:cNvSpPr/>
          <p:nvPr/>
        </p:nvSpPr>
        <p:spPr>
          <a:xfrm>
            <a:off x="4950333" y="4197096"/>
            <a:ext cx="18288" cy="237743"/>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20740" y="3849624"/>
            <a:ext cx="347472" cy="347472"/>
          </a:xfrm>
          <a:prstGeom prst="ellipse">
            <a:avLst/>
          </a:prstGeom>
          <a:solidFill>
            <a:srgbClr val="FFFFFF"/>
          </a:solidFill>
          <a:ln w="38100">
            <a:solidFill>
              <a:srgbClr val="1E8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FaCheck_green.png"/>
          <p:cNvPicPr>
            <a:picLocks noChangeAspect="1"/>
          </p:cNvPicPr>
          <p:nvPr/>
        </p:nvPicPr>
        <p:blipFill>
          <a:blip r:embed="rId3"/>
          <a:stretch>
            <a:fillRect/>
          </a:stretch>
        </p:blipFill>
        <p:spPr>
          <a:xfrm>
            <a:off x="6003036" y="3931920"/>
            <a:ext cx="182880" cy="182880"/>
          </a:xfrm>
          <a:prstGeom prst="rect">
            <a:avLst/>
          </a:prstGeom>
        </p:spPr>
      </p:pic>
      <p:sp>
        <p:nvSpPr>
          <p:cNvPr id="47" name="Rounded Rectangle 46"/>
          <p:cNvSpPr/>
          <p:nvPr/>
        </p:nvSpPr>
        <p:spPr>
          <a:xfrm>
            <a:off x="5042916" y="1783080"/>
            <a:ext cx="2103120" cy="1874519"/>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170932" y="1892807"/>
            <a:ext cx="1005840" cy="256032"/>
          </a:xfrm>
          <a:prstGeom prst="roundRect">
            <a:avLst>
              <a:gd name="adj" fmla="val 50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Phase 4</a:t>
            </a:r>
          </a:p>
        </p:txBody>
      </p:sp>
      <p:sp>
        <p:nvSpPr>
          <p:cNvPr id="49" name="TextBox 48"/>
          <p:cNvSpPr txBox="1"/>
          <p:nvPr/>
        </p:nvSpPr>
        <p:spPr>
          <a:xfrm>
            <a:off x="5152644" y="2185416"/>
            <a:ext cx="1883663" cy="384048"/>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Compiler &amp; Spark</a:t>
            </a:r>
          </a:p>
        </p:txBody>
      </p:sp>
      <p:sp>
        <p:nvSpPr>
          <p:cNvPr id="50" name="TextBox 49"/>
          <p:cNvSpPr txBox="1"/>
          <p:nvPr/>
        </p:nvSpPr>
        <p:spPr>
          <a:xfrm>
            <a:off x="5152644" y="2587752"/>
            <a:ext cx="1883663" cy="1051560"/>
          </a:xfrm>
          <a:prstGeom prst="rect">
            <a:avLst/>
          </a:prstGeom>
          <a:noFill/>
        </p:spPr>
        <p:txBody>
          <a:bodyPr wrap="square" lIns="45720" tIns="27432" rIns="45720" bIns="27432" anchor="t">
            <a:noAutofit/>
          </a:bodyPr>
          <a:lstStyle/>
          <a:p>
            <a:pPr algn="l"/>
            <a:r>
              <a:rPr sz="1300" b="0" i="0">
                <a:solidFill>
                  <a:srgbClr val="1F1F1F"/>
                </a:solidFill>
                <a:latin typeface="Calibri"/>
                <a:cs typeface="Calibri"/>
              </a:rPr>
              <a:t>Scala recipes, replay, streaming, Sigma.</a:t>
            </a:r>
          </a:p>
        </p:txBody>
      </p:sp>
      <p:sp>
        <p:nvSpPr>
          <p:cNvPr id="51" name="Rectangle 50"/>
          <p:cNvSpPr/>
          <p:nvPr/>
        </p:nvSpPr>
        <p:spPr>
          <a:xfrm>
            <a:off x="6085332" y="3657600"/>
            <a:ext cx="18288" cy="192023"/>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055739" y="3849624"/>
            <a:ext cx="347472" cy="347472"/>
          </a:xfrm>
          <a:prstGeom prst="ellipse">
            <a:avLst/>
          </a:prstGeom>
          <a:solidFill>
            <a:srgbClr val="FFFFFF"/>
          </a:solidFill>
          <a:ln w="38100">
            <a:solidFill>
              <a:srgbClr val="1E8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FaCheck_green.png"/>
          <p:cNvPicPr>
            <a:picLocks noChangeAspect="1"/>
          </p:cNvPicPr>
          <p:nvPr/>
        </p:nvPicPr>
        <p:blipFill>
          <a:blip r:embed="rId3"/>
          <a:stretch>
            <a:fillRect/>
          </a:stretch>
        </p:blipFill>
        <p:spPr>
          <a:xfrm>
            <a:off x="7138035" y="3931920"/>
            <a:ext cx="182880" cy="182880"/>
          </a:xfrm>
          <a:prstGeom prst="rect">
            <a:avLst/>
          </a:prstGeom>
        </p:spPr>
      </p:pic>
      <p:sp>
        <p:nvSpPr>
          <p:cNvPr id="54" name="Rounded Rectangle 53"/>
          <p:cNvSpPr/>
          <p:nvPr/>
        </p:nvSpPr>
        <p:spPr>
          <a:xfrm>
            <a:off x="6177915" y="4434840"/>
            <a:ext cx="2103120" cy="1874519"/>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305931" y="4544568"/>
            <a:ext cx="1005840" cy="256032"/>
          </a:xfrm>
          <a:prstGeom prst="roundRect">
            <a:avLst>
              <a:gd name="adj" fmla="val 50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Phase 5</a:t>
            </a:r>
          </a:p>
        </p:txBody>
      </p:sp>
      <p:sp>
        <p:nvSpPr>
          <p:cNvPr id="56" name="TextBox 55"/>
          <p:cNvSpPr txBox="1"/>
          <p:nvPr/>
        </p:nvSpPr>
        <p:spPr>
          <a:xfrm>
            <a:off x="6287643" y="4837176"/>
            <a:ext cx="1883663" cy="384048"/>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Evaluation</a:t>
            </a:r>
          </a:p>
        </p:txBody>
      </p:sp>
      <p:sp>
        <p:nvSpPr>
          <p:cNvPr id="57" name="TextBox 56"/>
          <p:cNvSpPr txBox="1"/>
          <p:nvPr/>
        </p:nvSpPr>
        <p:spPr>
          <a:xfrm>
            <a:off x="6287643" y="5239512"/>
            <a:ext cx="1883663" cy="1051560"/>
          </a:xfrm>
          <a:prstGeom prst="rect">
            <a:avLst/>
          </a:prstGeom>
          <a:noFill/>
        </p:spPr>
        <p:txBody>
          <a:bodyPr wrap="square" lIns="45720" tIns="27432" rIns="45720" bIns="27432" anchor="t">
            <a:noAutofit/>
          </a:bodyPr>
          <a:lstStyle/>
          <a:p>
            <a:pPr algn="l"/>
            <a:r>
              <a:rPr sz="1300" b="0" i="0">
                <a:solidFill>
                  <a:srgbClr val="1F1F1F"/>
                </a:solidFill>
                <a:latin typeface="Calibri"/>
                <a:cs typeface="Calibri"/>
              </a:rPr>
              <a:t>Baselines, ablation, robustness, throughput.</a:t>
            </a:r>
          </a:p>
        </p:txBody>
      </p:sp>
      <p:sp>
        <p:nvSpPr>
          <p:cNvPr id="58" name="Rectangle 57"/>
          <p:cNvSpPr/>
          <p:nvPr/>
        </p:nvSpPr>
        <p:spPr>
          <a:xfrm>
            <a:off x="7220331" y="4197096"/>
            <a:ext cx="18288" cy="237743"/>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190738" y="3849624"/>
            <a:ext cx="347472" cy="347472"/>
          </a:xfrm>
          <a:prstGeom prst="ellipse">
            <a:avLst/>
          </a:prstGeom>
          <a:solidFill>
            <a:srgbClr val="FFFFFF"/>
          </a:solidFill>
          <a:ln w="38100">
            <a:solidFill>
              <a:srgbClr val="1E8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FaCheck_green.png"/>
          <p:cNvPicPr>
            <a:picLocks noChangeAspect="1"/>
          </p:cNvPicPr>
          <p:nvPr/>
        </p:nvPicPr>
        <p:blipFill>
          <a:blip r:embed="rId3"/>
          <a:stretch>
            <a:fillRect/>
          </a:stretch>
        </p:blipFill>
        <p:spPr>
          <a:xfrm>
            <a:off x="8273034" y="3931920"/>
            <a:ext cx="182880" cy="182880"/>
          </a:xfrm>
          <a:prstGeom prst="rect">
            <a:avLst/>
          </a:prstGeom>
        </p:spPr>
      </p:pic>
      <p:sp>
        <p:nvSpPr>
          <p:cNvPr id="61" name="Rounded Rectangle 60"/>
          <p:cNvSpPr/>
          <p:nvPr/>
        </p:nvSpPr>
        <p:spPr>
          <a:xfrm>
            <a:off x="7312914" y="1783080"/>
            <a:ext cx="2103120" cy="1874519"/>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7440930" y="1892807"/>
            <a:ext cx="1005840" cy="256032"/>
          </a:xfrm>
          <a:prstGeom prst="roundRect">
            <a:avLst>
              <a:gd name="adj" fmla="val 50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Phase 6</a:t>
            </a:r>
          </a:p>
        </p:txBody>
      </p:sp>
      <p:sp>
        <p:nvSpPr>
          <p:cNvPr id="63" name="TextBox 62"/>
          <p:cNvSpPr txBox="1"/>
          <p:nvPr/>
        </p:nvSpPr>
        <p:spPr>
          <a:xfrm>
            <a:off x="7422642" y="2185416"/>
            <a:ext cx="1883663" cy="384048"/>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Dashboard</a:t>
            </a:r>
          </a:p>
        </p:txBody>
      </p:sp>
      <p:sp>
        <p:nvSpPr>
          <p:cNvPr id="64" name="TextBox 63"/>
          <p:cNvSpPr txBox="1"/>
          <p:nvPr/>
        </p:nvSpPr>
        <p:spPr>
          <a:xfrm>
            <a:off x="7422642" y="2587752"/>
            <a:ext cx="1883663" cy="1051560"/>
          </a:xfrm>
          <a:prstGeom prst="rect">
            <a:avLst/>
          </a:prstGeom>
          <a:noFill/>
        </p:spPr>
        <p:txBody>
          <a:bodyPr wrap="square" lIns="45720" tIns="27432" rIns="45720" bIns="27432" anchor="t">
            <a:noAutofit/>
          </a:bodyPr>
          <a:lstStyle/>
          <a:p>
            <a:pPr algn="l"/>
            <a:r>
              <a:rPr sz="1300" b="0" i="0">
                <a:solidFill>
                  <a:srgbClr val="1F1F1F"/>
                </a:solidFill>
                <a:latin typeface="Calibri"/>
                <a:cs typeface="Calibri"/>
              </a:rPr>
              <a:t>Analyst review, injection guard, audit log.</a:t>
            </a:r>
          </a:p>
        </p:txBody>
      </p:sp>
      <p:sp>
        <p:nvSpPr>
          <p:cNvPr id="65" name="Rectangle 64"/>
          <p:cNvSpPr/>
          <p:nvPr/>
        </p:nvSpPr>
        <p:spPr>
          <a:xfrm>
            <a:off x="8355330" y="3657600"/>
            <a:ext cx="18288" cy="192023"/>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9325737" y="3849624"/>
            <a:ext cx="347472" cy="347472"/>
          </a:xfrm>
          <a:prstGeom prst="ellipse">
            <a:avLst/>
          </a:prstGeom>
          <a:solidFill>
            <a:srgbClr val="FFFFFF"/>
          </a:solidFill>
          <a:ln w="38100">
            <a:solidFill>
              <a:srgbClr val="1E8E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FaCheck_green.png"/>
          <p:cNvPicPr>
            <a:picLocks noChangeAspect="1"/>
          </p:cNvPicPr>
          <p:nvPr/>
        </p:nvPicPr>
        <p:blipFill>
          <a:blip r:embed="rId3"/>
          <a:stretch>
            <a:fillRect/>
          </a:stretch>
        </p:blipFill>
        <p:spPr>
          <a:xfrm>
            <a:off x="9408033" y="3931920"/>
            <a:ext cx="182880" cy="182880"/>
          </a:xfrm>
          <a:prstGeom prst="rect">
            <a:avLst/>
          </a:prstGeom>
        </p:spPr>
      </p:pic>
      <p:sp>
        <p:nvSpPr>
          <p:cNvPr id="68" name="Rounded Rectangle 67"/>
          <p:cNvSpPr/>
          <p:nvPr/>
        </p:nvSpPr>
        <p:spPr>
          <a:xfrm>
            <a:off x="8447913" y="4434840"/>
            <a:ext cx="2103120" cy="1874519"/>
          </a:xfrm>
          <a:prstGeom prst="roundRect">
            <a:avLst>
              <a:gd name="adj" fmla="val 6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8575929" y="4544568"/>
            <a:ext cx="1005840" cy="256032"/>
          </a:xfrm>
          <a:prstGeom prst="roundRect">
            <a:avLst>
              <a:gd name="adj" fmla="val 50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Hardening</a:t>
            </a:r>
          </a:p>
        </p:txBody>
      </p:sp>
      <p:sp>
        <p:nvSpPr>
          <p:cNvPr id="70" name="TextBox 69"/>
          <p:cNvSpPr txBox="1"/>
          <p:nvPr/>
        </p:nvSpPr>
        <p:spPr>
          <a:xfrm>
            <a:off x="8557640" y="4837176"/>
            <a:ext cx="1883663" cy="384048"/>
          </a:xfrm>
          <a:prstGeom prst="rect">
            <a:avLst/>
          </a:prstGeom>
          <a:noFill/>
        </p:spPr>
        <p:txBody>
          <a:bodyPr wrap="square" lIns="45720" tIns="27432" rIns="45720" bIns="27432" anchor="ctr">
            <a:noAutofit/>
          </a:bodyPr>
          <a:lstStyle/>
          <a:p>
            <a:pPr algn="l"/>
            <a:r>
              <a:rPr sz="1600" b="1" i="0">
                <a:solidFill>
                  <a:srgbClr val="820019"/>
                </a:solidFill>
                <a:latin typeface="Times New Roman"/>
                <a:cs typeface="Times New Roman"/>
              </a:rPr>
              <a:t>16–17 Sep 2026</a:t>
            </a:r>
          </a:p>
        </p:txBody>
      </p:sp>
      <p:sp>
        <p:nvSpPr>
          <p:cNvPr id="71" name="TextBox 70"/>
          <p:cNvSpPr txBox="1"/>
          <p:nvPr/>
        </p:nvSpPr>
        <p:spPr>
          <a:xfrm>
            <a:off x="8557640" y="5239512"/>
            <a:ext cx="1883663" cy="1051560"/>
          </a:xfrm>
          <a:prstGeom prst="rect">
            <a:avLst/>
          </a:prstGeom>
          <a:noFill/>
        </p:spPr>
        <p:txBody>
          <a:bodyPr wrap="square" lIns="45720" tIns="27432" rIns="45720" bIns="27432" anchor="t">
            <a:noAutofit/>
          </a:bodyPr>
          <a:lstStyle/>
          <a:p>
            <a:pPr algn="l"/>
            <a:r>
              <a:rPr sz="1300" b="0" i="0">
                <a:solidFill>
                  <a:srgbClr val="1F1F1F"/>
                </a:solidFill>
                <a:latin typeface="Calibri"/>
                <a:cs typeface="Calibri"/>
              </a:rPr>
              <a:t>Independent review: 7 findings, bridge, 25 tests.</a:t>
            </a:r>
          </a:p>
        </p:txBody>
      </p:sp>
      <p:sp>
        <p:nvSpPr>
          <p:cNvPr id="72" name="Rectangle 71"/>
          <p:cNvSpPr/>
          <p:nvPr/>
        </p:nvSpPr>
        <p:spPr>
          <a:xfrm>
            <a:off x="9490329" y="4197096"/>
            <a:ext cx="18288" cy="237743"/>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460736" y="3849624"/>
            <a:ext cx="347472" cy="347472"/>
          </a:xfrm>
          <a:prstGeom prst="ellipse">
            <a:avLst/>
          </a:prstGeom>
          <a:solidFill>
            <a:srgbClr val="FFFFFF"/>
          </a:solidFill>
          <a:ln w="38100">
            <a:solidFill>
              <a:srgbClr val="D9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FaHourglassHalf_gold.png"/>
          <p:cNvPicPr>
            <a:picLocks noChangeAspect="1"/>
          </p:cNvPicPr>
          <p:nvPr/>
        </p:nvPicPr>
        <p:blipFill>
          <a:blip r:embed="rId4"/>
          <a:stretch>
            <a:fillRect/>
          </a:stretch>
        </p:blipFill>
        <p:spPr>
          <a:xfrm>
            <a:off x="10543032" y="3931920"/>
            <a:ext cx="182880" cy="182880"/>
          </a:xfrm>
          <a:prstGeom prst="rect">
            <a:avLst/>
          </a:prstGeom>
        </p:spPr>
      </p:pic>
      <p:sp>
        <p:nvSpPr>
          <p:cNvPr id="75" name="Rounded Rectangle 74"/>
          <p:cNvSpPr/>
          <p:nvPr/>
        </p:nvSpPr>
        <p:spPr>
          <a:xfrm>
            <a:off x="9582912" y="1783080"/>
            <a:ext cx="2103120" cy="1874519"/>
          </a:xfrm>
          <a:prstGeom prst="roundRect">
            <a:avLst>
              <a:gd name="adj" fmla="val 6000"/>
            </a:avLst>
          </a:prstGeom>
          <a:solidFill>
            <a:srgbClr val="FFF7DB"/>
          </a:solidFill>
          <a:ln w="9525">
            <a:solidFill>
              <a:srgbClr val="C99700"/>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9710928" y="1892807"/>
            <a:ext cx="1005840" cy="256032"/>
          </a:xfrm>
          <a:prstGeom prst="roundRect">
            <a:avLst>
              <a:gd name="adj" fmla="val 50000"/>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tIns="9144" rIns="54864" bIns="9144"/>
          <a:lstStyle/>
          <a:p>
            <a:pPr algn="ctr"/>
            <a:r>
              <a:rPr sz="1150" b="1" i="0">
                <a:solidFill>
                  <a:srgbClr val="FFFFFF"/>
                </a:solidFill>
                <a:latin typeface="Calibri"/>
                <a:cs typeface="Calibri"/>
              </a:rPr>
              <a:t>Next</a:t>
            </a:r>
          </a:p>
        </p:txBody>
      </p:sp>
      <p:sp>
        <p:nvSpPr>
          <p:cNvPr id="77" name="TextBox 76"/>
          <p:cNvSpPr txBox="1"/>
          <p:nvPr/>
        </p:nvSpPr>
        <p:spPr>
          <a:xfrm>
            <a:off x="9692640" y="2185416"/>
            <a:ext cx="1883663" cy="384048"/>
          </a:xfrm>
          <a:prstGeom prst="rect">
            <a:avLst/>
          </a:prstGeom>
          <a:noFill/>
        </p:spPr>
        <p:txBody>
          <a:bodyPr wrap="square" lIns="45720" tIns="27432" rIns="45720" bIns="27432" anchor="ctr">
            <a:noAutofit/>
          </a:bodyPr>
          <a:lstStyle/>
          <a:p>
            <a:pPr algn="l"/>
            <a:r>
              <a:rPr sz="1600" b="1" i="0">
                <a:solidFill>
                  <a:srgbClr val="8A6A00"/>
                </a:solidFill>
                <a:latin typeface="Times New Roman"/>
                <a:cs typeface="Times New Roman"/>
              </a:rPr>
              <a:t>Final evaluation</a:t>
            </a:r>
          </a:p>
        </p:txBody>
      </p:sp>
      <p:sp>
        <p:nvSpPr>
          <p:cNvPr id="78" name="TextBox 77"/>
          <p:cNvSpPr txBox="1"/>
          <p:nvPr/>
        </p:nvSpPr>
        <p:spPr>
          <a:xfrm>
            <a:off x="9692640" y="2587752"/>
            <a:ext cx="1883663" cy="1051560"/>
          </a:xfrm>
          <a:prstGeom prst="rect">
            <a:avLst/>
          </a:prstGeom>
          <a:noFill/>
        </p:spPr>
        <p:txBody>
          <a:bodyPr wrap="square" lIns="45720" tIns="27432" rIns="45720" bIns="27432" anchor="t">
            <a:noAutofit/>
          </a:bodyPr>
          <a:lstStyle/>
          <a:p>
            <a:pPr algn="l"/>
            <a:r>
              <a:rPr sz="1300" b="0" i="0">
                <a:solidFill>
                  <a:srgbClr val="1F1F1F"/>
                </a:solidFill>
                <a:latin typeface="Calibri"/>
                <a:cs typeface="Calibri"/>
              </a:rPr>
              <a:t>Stabilise extraction, larger held-out set, cluster runs.</a:t>
            </a:r>
          </a:p>
        </p:txBody>
      </p:sp>
      <p:sp>
        <p:nvSpPr>
          <p:cNvPr id="79" name="Rectangle 78"/>
          <p:cNvSpPr/>
          <p:nvPr/>
        </p:nvSpPr>
        <p:spPr>
          <a:xfrm>
            <a:off x="10625328" y="3657600"/>
            <a:ext cx="18288" cy="192023"/>
          </a:xfrm>
          <a:prstGeom prst="rect">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Slide Number Placeholder 4">
            <a:extLst>
              <a:ext uri="{FF2B5EF4-FFF2-40B4-BE49-F238E27FC236}">
                <a16:creationId xmlns:a16="http://schemas.microsoft.com/office/drawing/2014/main" id="{3BB1CF24-B971-CBFF-0568-D54310410AEF}"/>
              </a:ext>
            </a:extLst>
          </p:cNvPr>
          <p:cNvSpPr>
            <a:spLocks noGrp="1"/>
          </p:cNvSpPr>
          <p:nvPr>
            <p:ph type="sldNum" sz="quarter" idx="12"/>
          </p:nvPr>
        </p:nvSpPr>
        <p:spPr/>
        <p:txBody>
          <a:bodyPr/>
          <a:lstStyle/>
          <a:p>
            <a:fld id="{C56FAF6A-4925-4D1E-8078-ECEA64474517}" type="slidenum">
              <a:rPr lang="en-IN" smtClean="0"/>
              <a:t>3</a:t>
            </a:fld>
            <a:endParaRPr lang="en-IN"/>
          </a:p>
        </p:txBody>
      </p:sp>
      <p:sp>
        <p:nvSpPr>
          <p:cNvPr id="8" name="TextBox 7">
            <a:extLst>
              <a:ext uri="{FF2B5EF4-FFF2-40B4-BE49-F238E27FC236}">
                <a16:creationId xmlns:a16="http://schemas.microsoft.com/office/drawing/2014/main" id="{5B0729FB-B169-BF4E-15A2-C21E69787699}"/>
              </a:ext>
            </a:extLst>
          </p:cNvPr>
          <p:cNvSpPr txBox="1"/>
          <p:nvPr/>
        </p:nvSpPr>
        <p:spPr>
          <a:xfrm>
            <a:off x="1180444" y="420286"/>
            <a:ext cx="10607040" cy="584775"/>
          </a:xfrm>
          <a:prstGeom prst="rect">
            <a:avLst/>
          </a:prstGeom>
          <a:noFill/>
        </p:spPr>
        <p:txBody>
          <a:bodyPr wrap="square">
            <a:spAutoFit/>
          </a:bodyPr>
          <a:lstStyle/>
          <a:p>
            <a:pPr>
              <a:defRPr/>
            </a:pPr>
            <a:r>
              <a:rPr lang="en-US" sz="3200" b="1" dirty="0">
                <a:latin typeface="Times New Roman" panose="02020603050405020304" pitchFamily="18" charset="0"/>
                <a:cs typeface="Times New Roman"/>
              </a:rPr>
              <a:t>Future Work &amp; Scope</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9" name="Group 8">
            <a:extLst>
              <a:ext uri="{FF2B5EF4-FFF2-40B4-BE49-F238E27FC236}">
                <a16:creationId xmlns:a16="http://schemas.microsoft.com/office/drawing/2014/main" id="{71586D3F-CFEB-588C-6A57-E6CA6C04CBF4}"/>
              </a:ext>
            </a:extLst>
          </p:cNvPr>
          <p:cNvGrpSpPr/>
          <p:nvPr/>
        </p:nvGrpSpPr>
        <p:grpSpPr>
          <a:xfrm>
            <a:off x="264160" y="1015735"/>
            <a:ext cx="11684000" cy="45719"/>
            <a:chOff x="680720" y="1391920"/>
            <a:chExt cx="10922000" cy="40640"/>
          </a:xfrm>
        </p:grpSpPr>
        <p:cxnSp>
          <p:nvCxnSpPr>
            <p:cNvPr id="10" name="Straight Connector 9">
              <a:extLst>
                <a:ext uri="{FF2B5EF4-FFF2-40B4-BE49-F238E27FC236}">
                  <a16:creationId xmlns:a16="http://schemas.microsoft.com/office/drawing/2014/main" id="{7A79684F-D9BF-C1FC-9FB2-66E7E479F2E8}"/>
                </a:ext>
              </a:extLst>
            </p:cNvPr>
            <p:cNvCxnSpPr/>
            <p:nvPr/>
          </p:nvCxnSpPr>
          <p:spPr>
            <a:xfrm>
              <a:off x="680720" y="1391920"/>
              <a:ext cx="10901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FD9A56E-4F97-9A5C-1C8F-74CFF507ADBC}"/>
                </a:ext>
              </a:extLst>
            </p:cNvPr>
            <p:cNvCxnSpPr/>
            <p:nvPr/>
          </p:nvCxnSpPr>
          <p:spPr>
            <a:xfrm>
              <a:off x="701040" y="1432560"/>
              <a:ext cx="109016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sp>
        <p:nvSpPr>
          <p:cNvPr id="14" name="Footer Placeholder 3">
            <a:extLst>
              <a:ext uri="{FF2B5EF4-FFF2-40B4-BE49-F238E27FC236}">
                <a16:creationId xmlns:a16="http://schemas.microsoft.com/office/drawing/2014/main" id="{7DC662D4-09F8-31FE-4DBC-9CCC617B34FA}"/>
              </a:ext>
            </a:extLst>
          </p:cNvPr>
          <p:cNvSpPr>
            <a:spLocks noGrp="1"/>
          </p:cNvSpPr>
          <p:nvPr>
            <p:ph type="ftr" sz="quarter" idx="11"/>
          </p:nvPr>
        </p:nvSpPr>
        <p:spPr>
          <a:xfrm>
            <a:off x="0" y="6467014"/>
            <a:ext cx="12192000" cy="389106"/>
          </a:xfrm>
          <a:solidFill>
            <a:srgbClr val="820019"/>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Department of Artificial Intelligence and Data Science, Amruta Vishwa Vidyapeetham, Delhi NCR, Faridabad</a:t>
            </a:r>
            <a:endParaRPr lang="en-IN"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C7B746D-9102-FAC7-78A0-449051F88265}"/>
              </a:ext>
            </a:extLst>
          </p:cNvPr>
          <p:cNvPicPr>
            <a:picLocks noChangeAspect="1"/>
          </p:cNvPicPr>
          <p:nvPr/>
        </p:nvPicPr>
        <p:blipFill>
          <a:blip r:embed="rId2"/>
          <a:stretch>
            <a:fillRect/>
          </a:stretch>
        </p:blipFill>
        <p:spPr>
          <a:xfrm>
            <a:off x="170869" y="44663"/>
            <a:ext cx="971072" cy="971072"/>
          </a:xfrm>
          <a:prstGeom prst="rect">
            <a:avLst/>
          </a:prstGeom>
        </p:spPr>
      </p:pic>
      <p:sp>
        <p:nvSpPr>
          <p:cNvPr id="15" name="TextBox 14"/>
          <p:cNvSpPr txBox="1"/>
          <p:nvPr/>
        </p:nvSpPr>
        <p:spPr>
          <a:xfrm>
            <a:off x="365760" y="1115568"/>
            <a:ext cx="11457432" cy="548640"/>
          </a:xfrm>
          <a:prstGeom prst="rect">
            <a:avLst/>
          </a:prstGeom>
          <a:noFill/>
        </p:spPr>
        <p:txBody>
          <a:bodyPr wrap="square" lIns="45720" tIns="27432" rIns="45720" bIns="27432" anchor="ctr">
            <a:noAutofit/>
          </a:bodyPr>
          <a:lstStyle/>
          <a:p>
            <a:pPr algn="l"/>
            <a:r>
              <a:rPr sz="2400" b="0" i="0">
                <a:solidFill>
                  <a:srgbClr val="1F1F1F"/>
                </a:solidFill>
                <a:latin typeface="Calibri"/>
                <a:cs typeface="Calibri"/>
              </a:rPr>
              <a:t>From a verified prototype to a </a:t>
            </a:r>
            <a:r>
              <a:rPr sz="2400" b="1" i="0">
                <a:solidFill>
                  <a:srgbClr val="820019"/>
                </a:solidFill>
                <a:latin typeface="Calibri"/>
                <a:cs typeface="Calibri"/>
              </a:rPr>
              <a:t>scalable</a:t>
            </a:r>
            <a:r>
              <a:rPr sz="2400" b="0" i="0">
                <a:solidFill>
                  <a:srgbClr val="1F1F1F"/>
                </a:solidFill>
                <a:latin typeface="Calibri"/>
                <a:cs typeface="Calibri"/>
              </a:rPr>
              <a:t> detection-engineering assistant.</a:t>
            </a:r>
          </a:p>
        </p:txBody>
      </p:sp>
      <p:sp>
        <p:nvSpPr>
          <p:cNvPr id="16" name="Rounded Rectangle 15"/>
          <p:cNvSpPr/>
          <p:nvPr/>
        </p:nvSpPr>
        <p:spPr>
          <a:xfrm>
            <a:off x="365760" y="1783080"/>
            <a:ext cx="3666744" cy="452628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5760" y="1783080"/>
            <a:ext cx="3666744" cy="777240"/>
          </a:xfrm>
          <a:prstGeom prst="roundRect">
            <a:avLst>
              <a:gd name="adj" fmla="val 5000"/>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Bolt_white.png"/>
          <p:cNvPicPr>
            <a:picLocks noChangeAspect="1"/>
          </p:cNvPicPr>
          <p:nvPr/>
        </p:nvPicPr>
        <p:blipFill>
          <a:blip r:embed="rId3"/>
          <a:stretch>
            <a:fillRect/>
          </a:stretch>
        </p:blipFill>
        <p:spPr>
          <a:xfrm>
            <a:off x="548640" y="1965960"/>
            <a:ext cx="411480" cy="411480"/>
          </a:xfrm>
          <a:prstGeom prst="rect">
            <a:avLst/>
          </a:prstGeom>
        </p:spPr>
      </p:pic>
      <p:sp>
        <p:nvSpPr>
          <p:cNvPr id="19" name="TextBox 18"/>
          <p:cNvSpPr txBox="1"/>
          <p:nvPr/>
        </p:nvSpPr>
        <p:spPr>
          <a:xfrm>
            <a:off x="1097280" y="1810512"/>
            <a:ext cx="2843784" cy="457200"/>
          </a:xfrm>
          <a:prstGeom prst="rect">
            <a:avLst/>
          </a:prstGeom>
          <a:noFill/>
        </p:spPr>
        <p:txBody>
          <a:bodyPr wrap="square" lIns="45720" tIns="27432" rIns="45720" bIns="27432" anchor="ctr">
            <a:noAutofit/>
          </a:bodyPr>
          <a:lstStyle/>
          <a:p>
            <a:pPr algn="l"/>
            <a:r>
              <a:rPr sz="2100" b="1" i="0">
                <a:solidFill>
                  <a:srgbClr val="FFFFFF"/>
                </a:solidFill>
                <a:latin typeface="Times New Roman"/>
                <a:cs typeface="Times New Roman"/>
              </a:rPr>
              <a:t>Near term</a:t>
            </a:r>
          </a:p>
        </p:txBody>
      </p:sp>
      <p:sp>
        <p:nvSpPr>
          <p:cNvPr id="20" name="TextBox 19"/>
          <p:cNvSpPr txBox="1"/>
          <p:nvPr/>
        </p:nvSpPr>
        <p:spPr>
          <a:xfrm>
            <a:off x="1097280" y="2212848"/>
            <a:ext cx="2843784" cy="292608"/>
          </a:xfrm>
          <a:prstGeom prst="rect">
            <a:avLst/>
          </a:prstGeom>
          <a:noFill/>
        </p:spPr>
        <p:txBody>
          <a:bodyPr wrap="square" lIns="45720" tIns="27432" rIns="45720" bIns="27432" anchor="ctr">
            <a:noAutofit/>
          </a:bodyPr>
          <a:lstStyle/>
          <a:p>
            <a:pPr algn="l"/>
            <a:r>
              <a:rPr sz="1250" b="0" i="1">
                <a:solidFill>
                  <a:srgbClr val="FFFFFF"/>
                </a:solidFill>
                <a:latin typeface="Calibri"/>
                <a:cs typeface="Calibri"/>
              </a:rPr>
              <a:t>before final evaluation</a:t>
            </a:r>
          </a:p>
        </p:txBody>
      </p:sp>
      <p:sp>
        <p:nvSpPr>
          <p:cNvPr id="21" name="Oval 20"/>
          <p:cNvSpPr/>
          <p:nvPr/>
        </p:nvSpPr>
        <p:spPr>
          <a:xfrm>
            <a:off x="548640" y="2834640"/>
            <a:ext cx="310896" cy="31089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1</a:t>
            </a:r>
          </a:p>
        </p:txBody>
      </p:sp>
      <p:sp>
        <p:nvSpPr>
          <p:cNvPr id="22" name="TextBox 21"/>
          <p:cNvSpPr txBox="1"/>
          <p:nvPr/>
        </p:nvSpPr>
        <p:spPr>
          <a:xfrm>
            <a:off x="969264" y="2743200"/>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Extraction reliability</a:t>
            </a:r>
          </a:p>
          <a:p>
            <a:pPr algn="l"/>
            <a:r>
              <a:rPr sz="1300" b="0" i="0">
                <a:solidFill>
                  <a:srgbClr val="595959"/>
                </a:solidFill>
                <a:latin typeface="Calibri"/>
                <a:cs typeface="Calibri"/>
              </a:rPr>
              <a:t>majority vote over N runs; alert on dropped policy fields</a:t>
            </a:r>
          </a:p>
        </p:txBody>
      </p:sp>
      <p:sp>
        <p:nvSpPr>
          <p:cNvPr id="23" name="Oval 22"/>
          <p:cNvSpPr/>
          <p:nvPr/>
        </p:nvSpPr>
        <p:spPr>
          <a:xfrm>
            <a:off x="548640" y="3721608"/>
            <a:ext cx="310896" cy="31089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2</a:t>
            </a:r>
          </a:p>
        </p:txBody>
      </p:sp>
      <p:sp>
        <p:nvSpPr>
          <p:cNvPr id="24" name="TextBox 23"/>
          <p:cNvSpPr txBox="1"/>
          <p:nvPr/>
        </p:nvSpPr>
        <p:spPr>
          <a:xfrm>
            <a:off x="969264" y="3630168"/>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Per-incident alerts</a:t>
            </a:r>
          </a:p>
          <a:p>
            <a:pPr algn="l"/>
            <a:r>
              <a:rPr sz="1300" b="0" i="0">
                <a:solidFill>
                  <a:srgbClr val="595959"/>
                </a:solidFill>
                <a:latin typeface="Calibri"/>
                <a:cs typeface="Calibri"/>
              </a:rPr>
              <a:t>fix repeated-incident collapse in the distinct-count recipe</a:t>
            </a:r>
          </a:p>
        </p:txBody>
      </p:sp>
      <p:sp>
        <p:nvSpPr>
          <p:cNvPr id="25" name="Oval 24"/>
          <p:cNvSpPr/>
          <p:nvPr/>
        </p:nvSpPr>
        <p:spPr>
          <a:xfrm>
            <a:off x="548640" y="4608576"/>
            <a:ext cx="310896" cy="31089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3</a:t>
            </a:r>
          </a:p>
        </p:txBody>
      </p:sp>
      <p:sp>
        <p:nvSpPr>
          <p:cNvPr id="26" name="TextBox 25"/>
          <p:cNvSpPr txBox="1"/>
          <p:nvPr/>
        </p:nvSpPr>
        <p:spPr>
          <a:xfrm>
            <a:off x="969264" y="4517136"/>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NULL-aware policy check</a:t>
            </a:r>
          </a:p>
          <a:p>
            <a:pPr algn="l"/>
            <a:r>
              <a:rPr sz="1300" b="0" i="0">
                <a:solidFill>
                  <a:srgbClr val="595959"/>
                </a:solidFill>
                <a:latin typeface="Calibri"/>
                <a:cs typeface="Calibri"/>
              </a:rPr>
              <a:t>unobserved values become insufficient_context</a:t>
            </a:r>
          </a:p>
        </p:txBody>
      </p:sp>
      <p:sp>
        <p:nvSpPr>
          <p:cNvPr id="27" name="Oval 26"/>
          <p:cNvSpPr/>
          <p:nvPr/>
        </p:nvSpPr>
        <p:spPr>
          <a:xfrm>
            <a:off x="548640" y="5495544"/>
            <a:ext cx="310896" cy="310896"/>
          </a:xfrm>
          <a:prstGeom prst="ellipse">
            <a:avLst/>
          </a:prstGeom>
          <a:solidFill>
            <a:srgbClr val="8200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4</a:t>
            </a:r>
          </a:p>
        </p:txBody>
      </p:sp>
      <p:sp>
        <p:nvSpPr>
          <p:cNvPr id="28" name="TextBox 27"/>
          <p:cNvSpPr txBox="1"/>
          <p:nvPr/>
        </p:nvSpPr>
        <p:spPr>
          <a:xfrm>
            <a:off x="969264" y="5404104"/>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Reference detector</a:t>
            </a:r>
          </a:p>
          <a:p>
            <a:pPr algn="l"/>
            <a:r>
              <a:rPr sz="1300" b="0" i="0">
                <a:solidFill>
                  <a:srgbClr val="595959"/>
                </a:solidFill>
                <a:latin typeface="Calibri"/>
                <a:cs typeface="Calibri"/>
              </a:rPr>
              <a:t>independent implementation for differential boundary tests</a:t>
            </a:r>
          </a:p>
        </p:txBody>
      </p:sp>
      <p:sp>
        <p:nvSpPr>
          <p:cNvPr id="29" name="Rounded Rectangle 28"/>
          <p:cNvSpPr/>
          <p:nvPr/>
        </p:nvSpPr>
        <p:spPr>
          <a:xfrm>
            <a:off x="4256532" y="1783080"/>
            <a:ext cx="3666744" cy="452628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256532" y="1783080"/>
            <a:ext cx="3666744" cy="777240"/>
          </a:xfrm>
          <a:prstGeom prst="roundRect">
            <a:avLst>
              <a:gd name="adj" fmla="val 5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FaRoute_white.png"/>
          <p:cNvPicPr>
            <a:picLocks noChangeAspect="1"/>
          </p:cNvPicPr>
          <p:nvPr/>
        </p:nvPicPr>
        <p:blipFill>
          <a:blip r:embed="rId4"/>
          <a:stretch>
            <a:fillRect/>
          </a:stretch>
        </p:blipFill>
        <p:spPr>
          <a:xfrm>
            <a:off x="4439412" y="1965960"/>
            <a:ext cx="411480" cy="411480"/>
          </a:xfrm>
          <a:prstGeom prst="rect">
            <a:avLst/>
          </a:prstGeom>
        </p:spPr>
      </p:pic>
      <p:sp>
        <p:nvSpPr>
          <p:cNvPr id="32" name="TextBox 31"/>
          <p:cNvSpPr txBox="1"/>
          <p:nvPr/>
        </p:nvSpPr>
        <p:spPr>
          <a:xfrm>
            <a:off x="4988052" y="1810512"/>
            <a:ext cx="2843784" cy="457200"/>
          </a:xfrm>
          <a:prstGeom prst="rect">
            <a:avLst/>
          </a:prstGeom>
          <a:noFill/>
        </p:spPr>
        <p:txBody>
          <a:bodyPr wrap="square" lIns="45720" tIns="27432" rIns="45720" bIns="27432" anchor="ctr">
            <a:noAutofit/>
          </a:bodyPr>
          <a:lstStyle/>
          <a:p>
            <a:pPr algn="l"/>
            <a:r>
              <a:rPr sz="2100" b="1" i="0">
                <a:solidFill>
                  <a:srgbClr val="FFFFFF"/>
                </a:solidFill>
                <a:latin typeface="Times New Roman"/>
                <a:cs typeface="Times New Roman"/>
              </a:rPr>
              <a:t>Mid term</a:t>
            </a:r>
          </a:p>
        </p:txBody>
      </p:sp>
      <p:sp>
        <p:nvSpPr>
          <p:cNvPr id="33" name="TextBox 32"/>
          <p:cNvSpPr txBox="1"/>
          <p:nvPr/>
        </p:nvSpPr>
        <p:spPr>
          <a:xfrm>
            <a:off x="4988052" y="2212848"/>
            <a:ext cx="2843784" cy="292608"/>
          </a:xfrm>
          <a:prstGeom prst="rect">
            <a:avLst/>
          </a:prstGeom>
          <a:noFill/>
        </p:spPr>
        <p:txBody>
          <a:bodyPr wrap="square" lIns="45720" tIns="27432" rIns="45720" bIns="27432" anchor="ctr">
            <a:noAutofit/>
          </a:bodyPr>
          <a:lstStyle/>
          <a:p>
            <a:pPr algn="l"/>
            <a:r>
              <a:rPr sz="1250" b="0" i="1">
                <a:solidFill>
                  <a:srgbClr val="FFFFFF"/>
                </a:solidFill>
                <a:latin typeface="Calibri"/>
                <a:cs typeface="Calibri"/>
              </a:rPr>
              <a:t>next iteration</a:t>
            </a:r>
          </a:p>
        </p:txBody>
      </p:sp>
      <p:sp>
        <p:nvSpPr>
          <p:cNvPr id="34" name="Oval 33"/>
          <p:cNvSpPr/>
          <p:nvPr/>
        </p:nvSpPr>
        <p:spPr>
          <a:xfrm>
            <a:off x="4439412" y="2834640"/>
            <a:ext cx="310896" cy="31089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1</a:t>
            </a:r>
          </a:p>
        </p:txBody>
      </p:sp>
      <p:sp>
        <p:nvSpPr>
          <p:cNvPr id="35" name="TextBox 34"/>
          <p:cNvSpPr txBox="1"/>
          <p:nvPr/>
        </p:nvSpPr>
        <p:spPr>
          <a:xfrm>
            <a:off x="4860036" y="2743200"/>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Larger corpus</a:t>
            </a:r>
          </a:p>
          <a:p>
            <a:pPr algn="l"/>
            <a:r>
              <a:rPr sz="1300" b="0" i="0">
                <a:solidFill>
                  <a:srgbClr val="595959"/>
                </a:solidFill>
                <a:latin typeface="Calibri"/>
                <a:cs typeface="Calibri"/>
              </a:rPr>
              <a:t>many more reports per behaviour, significance-tested F1</a:t>
            </a:r>
          </a:p>
        </p:txBody>
      </p:sp>
      <p:sp>
        <p:nvSpPr>
          <p:cNvPr id="36" name="Oval 35"/>
          <p:cNvSpPr/>
          <p:nvPr/>
        </p:nvSpPr>
        <p:spPr>
          <a:xfrm>
            <a:off x="4439412" y="3721608"/>
            <a:ext cx="310896" cy="31089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2</a:t>
            </a:r>
          </a:p>
        </p:txBody>
      </p:sp>
      <p:sp>
        <p:nvSpPr>
          <p:cNvPr id="37" name="TextBox 36"/>
          <p:cNvSpPr txBox="1"/>
          <p:nvPr/>
        </p:nvSpPr>
        <p:spPr>
          <a:xfrm>
            <a:off x="4860036" y="3630168"/>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Fine-tuned domain model</a:t>
            </a:r>
          </a:p>
          <a:p>
            <a:pPr algn="l"/>
            <a:r>
              <a:rPr sz="1300" b="0" i="0">
                <a:solidFill>
                  <a:srgbClr val="595959"/>
                </a:solidFill>
                <a:latin typeface="Calibri"/>
                <a:cs typeface="Calibri"/>
              </a:rPr>
              <a:t>SecureBERT-class encoder [4] trained on real reports</a:t>
            </a:r>
          </a:p>
        </p:txBody>
      </p:sp>
      <p:sp>
        <p:nvSpPr>
          <p:cNvPr id="38" name="Oval 37"/>
          <p:cNvSpPr/>
          <p:nvPr/>
        </p:nvSpPr>
        <p:spPr>
          <a:xfrm>
            <a:off x="4439412" y="4608576"/>
            <a:ext cx="310896" cy="31089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3</a:t>
            </a:r>
          </a:p>
        </p:txBody>
      </p:sp>
      <p:sp>
        <p:nvSpPr>
          <p:cNvPr id="39" name="TextBox 38"/>
          <p:cNvSpPr txBox="1"/>
          <p:nvPr/>
        </p:nvSpPr>
        <p:spPr>
          <a:xfrm>
            <a:off x="4860036" y="4517136"/>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Streaming for all recipes</a:t>
            </a:r>
          </a:p>
          <a:p>
            <a:pPr algn="l"/>
            <a:r>
              <a:rPr sz="1300" b="0" i="0">
                <a:solidFill>
                  <a:srgbClr val="595959"/>
                </a:solidFill>
                <a:latin typeface="Calibri"/>
                <a:cs typeface="Calibri"/>
              </a:rPr>
              <a:t>watermarked time-window aggregations</a:t>
            </a:r>
          </a:p>
        </p:txBody>
      </p:sp>
      <p:sp>
        <p:nvSpPr>
          <p:cNvPr id="40" name="Oval 39"/>
          <p:cNvSpPr/>
          <p:nvPr/>
        </p:nvSpPr>
        <p:spPr>
          <a:xfrm>
            <a:off x="4439412" y="5495544"/>
            <a:ext cx="310896" cy="31089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4</a:t>
            </a:r>
          </a:p>
        </p:txBody>
      </p:sp>
      <p:sp>
        <p:nvSpPr>
          <p:cNvPr id="41" name="TextBox 40"/>
          <p:cNvSpPr txBox="1"/>
          <p:nvPr/>
        </p:nvSpPr>
        <p:spPr>
          <a:xfrm>
            <a:off x="4860036" y="5404104"/>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Multi-node Spark cluster</a:t>
            </a:r>
          </a:p>
          <a:p>
            <a:pPr algn="l"/>
            <a:r>
              <a:rPr sz="1300" b="0" i="0">
                <a:solidFill>
                  <a:srgbClr val="595959"/>
                </a:solidFill>
                <a:latin typeface="Calibri"/>
                <a:cs typeface="Calibri"/>
              </a:rPr>
              <a:t>throughput at scale and failure-recovery tests</a:t>
            </a:r>
          </a:p>
        </p:txBody>
      </p:sp>
      <p:sp>
        <p:nvSpPr>
          <p:cNvPr id="42" name="Rounded Rectangle 41"/>
          <p:cNvSpPr/>
          <p:nvPr/>
        </p:nvSpPr>
        <p:spPr>
          <a:xfrm>
            <a:off x="8147304" y="1783080"/>
            <a:ext cx="3666744" cy="4526280"/>
          </a:xfrm>
          <a:prstGeom prst="roundRect">
            <a:avLst>
              <a:gd name="adj" fmla="val 5000"/>
            </a:avLst>
          </a:prstGeom>
          <a:solidFill>
            <a:srgbClr val="FFFFFF"/>
          </a:solidFill>
          <a:ln w="9525">
            <a:solidFill>
              <a:srgbClr val="D9DCE3"/>
            </a:solidFill>
          </a:ln>
          <a:effectLst>
            <a:outerShdw blurRad="76200" dist="2540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147304" y="1783080"/>
            <a:ext cx="3666744" cy="777240"/>
          </a:xfrm>
          <a:prstGeom prst="roundRect">
            <a:avLst>
              <a:gd name="adj" fmla="val 5000"/>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aGlobe_white.png"/>
          <p:cNvPicPr>
            <a:picLocks noChangeAspect="1"/>
          </p:cNvPicPr>
          <p:nvPr/>
        </p:nvPicPr>
        <p:blipFill>
          <a:blip r:embed="rId5"/>
          <a:stretch>
            <a:fillRect/>
          </a:stretch>
        </p:blipFill>
        <p:spPr>
          <a:xfrm>
            <a:off x="8330183" y="1965960"/>
            <a:ext cx="411480" cy="411480"/>
          </a:xfrm>
          <a:prstGeom prst="rect">
            <a:avLst/>
          </a:prstGeom>
        </p:spPr>
      </p:pic>
      <p:sp>
        <p:nvSpPr>
          <p:cNvPr id="45" name="TextBox 44"/>
          <p:cNvSpPr txBox="1"/>
          <p:nvPr/>
        </p:nvSpPr>
        <p:spPr>
          <a:xfrm>
            <a:off x="8878824" y="1810512"/>
            <a:ext cx="2843784" cy="457200"/>
          </a:xfrm>
          <a:prstGeom prst="rect">
            <a:avLst/>
          </a:prstGeom>
          <a:noFill/>
        </p:spPr>
        <p:txBody>
          <a:bodyPr wrap="square" lIns="45720" tIns="27432" rIns="45720" bIns="27432" anchor="ctr">
            <a:noAutofit/>
          </a:bodyPr>
          <a:lstStyle/>
          <a:p>
            <a:pPr algn="l"/>
            <a:r>
              <a:rPr sz="2100" b="1" i="0">
                <a:solidFill>
                  <a:srgbClr val="FFFFFF"/>
                </a:solidFill>
                <a:latin typeface="Times New Roman"/>
                <a:cs typeface="Times New Roman"/>
              </a:rPr>
              <a:t>Long term</a:t>
            </a:r>
          </a:p>
        </p:txBody>
      </p:sp>
      <p:sp>
        <p:nvSpPr>
          <p:cNvPr id="46" name="TextBox 45"/>
          <p:cNvSpPr txBox="1"/>
          <p:nvPr/>
        </p:nvSpPr>
        <p:spPr>
          <a:xfrm>
            <a:off x="8878824" y="2212848"/>
            <a:ext cx="2843784" cy="292608"/>
          </a:xfrm>
          <a:prstGeom prst="rect">
            <a:avLst/>
          </a:prstGeom>
          <a:noFill/>
        </p:spPr>
        <p:txBody>
          <a:bodyPr wrap="square" lIns="45720" tIns="27432" rIns="45720" bIns="27432" anchor="ctr">
            <a:noAutofit/>
          </a:bodyPr>
          <a:lstStyle/>
          <a:p>
            <a:pPr algn="l"/>
            <a:r>
              <a:rPr sz="1250" b="0" i="1">
                <a:solidFill>
                  <a:srgbClr val="FFFFFF"/>
                </a:solidFill>
                <a:latin typeface="Calibri"/>
                <a:cs typeface="Calibri"/>
              </a:rPr>
              <a:t>scope extension</a:t>
            </a:r>
          </a:p>
        </p:txBody>
      </p:sp>
      <p:sp>
        <p:nvSpPr>
          <p:cNvPr id="47" name="Oval 46"/>
          <p:cNvSpPr/>
          <p:nvPr/>
        </p:nvSpPr>
        <p:spPr>
          <a:xfrm>
            <a:off x="8330183" y="2834640"/>
            <a:ext cx="310896" cy="310896"/>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1</a:t>
            </a:r>
          </a:p>
        </p:txBody>
      </p:sp>
      <p:sp>
        <p:nvSpPr>
          <p:cNvPr id="48" name="TextBox 47"/>
          <p:cNvSpPr txBox="1"/>
          <p:nvPr/>
        </p:nvSpPr>
        <p:spPr>
          <a:xfrm>
            <a:off x="8750808" y="2743200"/>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More schemas and behaviours</a:t>
            </a:r>
          </a:p>
          <a:p>
            <a:pPr algn="l"/>
            <a:r>
              <a:rPr sz="1300" b="0" i="0">
                <a:solidFill>
                  <a:srgbClr val="595959"/>
                </a:solidFill>
                <a:latin typeface="Calibri"/>
                <a:cs typeface="Calibri"/>
              </a:rPr>
              <a:t>DNS, endpoint and cloud audit logs</a:t>
            </a:r>
          </a:p>
        </p:txBody>
      </p:sp>
      <p:sp>
        <p:nvSpPr>
          <p:cNvPr id="49" name="Oval 48"/>
          <p:cNvSpPr/>
          <p:nvPr/>
        </p:nvSpPr>
        <p:spPr>
          <a:xfrm>
            <a:off x="8330183" y="3721608"/>
            <a:ext cx="310896" cy="310896"/>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2</a:t>
            </a:r>
          </a:p>
        </p:txBody>
      </p:sp>
      <p:sp>
        <p:nvSpPr>
          <p:cNvPr id="50" name="TextBox 49"/>
          <p:cNvSpPr txBox="1"/>
          <p:nvPr/>
        </p:nvSpPr>
        <p:spPr>
          <a:xfrm>
            <a:off x="8750808" y="3630168"/>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Validate Sigma exports</a:t>
            </a:r>
          </a:p>
          <a:p>
            <a:pPr algn="l"/>
            <a:r>
              <a:rPr sz="1300" b="0" i="0">
                <a:solidFill>
                  <a:srgbClr val="595959"/>
                </a:solidFill>
                <a:latin typeface="Calibri"/>
                <a:cs typeface="Calibri"/>
              </a:rPr>
              <a:t>on real SIEM back ends</a:t>
            </a:r>
          </a:p>
        </p:txBody>
      </p:sp>
      <p:sp>
        <p:nvSpPr>
          <p:cNvPr id="51" name="Oval 50"/>
          <p:cNvSpPr/>
          <p:nvPr/>
        </p:nvSpPr>
        <p:spPr>
          <a:xfrm>
            <a:off x="8330183" y="4608576"/>
            <a:ext cx="310896" cy="310896"/>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3</a:t>
            </a:r>
          </a:p>
        </p:txBody>
      </p:sp>
      <p:sp>
        <p:nvSpPr>
          <p:cNvPr id="52" name="TextBox 51"/>
          <p:cNvSpPr txBox="1"/>
          <p:nvPr/>
        </p:nvSpPr>
        <p:spPr>
          <a:xfrm>
            <a:off x="8750808" y="4517136"/>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Analyst feedback loop</a:t>
            </a:r>
          </a:p>
          <a:p>
            <a:pPr algn="l"/>
            <a:r>
              <a:rPr sz="1300" b="0" i="0">
                <a:solidFill>
                  <a:srgbClr val="595959"/>
                </a:solidFill>
                <a:latin typeface="Calibri"/>
                <a:cs typeface="Calibri"/>
              </a:rPr>
              <a:t>approve / refine decisions improve extraction</a:t>
            </a:r>
          </a:p>
        </p:txBody>
      </p:sp>
      <p:sp>
        <p:nvSpPr>
          <p:cNvPr id="53" name="Oval 52"/>
          <p:cNvSpPr/>
          <p:nvPr/>
        </p:nvSpPr>
        <p:spPr>
          <a:xfrm>
            <a:off x="8330183" y="5495544"/>
            <a:ext cx="310896" cy="310896"/>
          </a:xfrm>
          <a:prstGeom prst="ellipse">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i="0">
                <a:solidFill>
                  <a:srgbClr val="FFFFFF"/>
                </a:solidFill>
                <a:latin typeface="Times New Roman"/>
                <a:cs typeface="Times New Roman"/>
              </a:rPr>
              <a:t>4</a:t>
            </a:r>
          </a:p>
        </p:txBody>
      </p:sp>
      <p:sp>
        <p:nvSpPr>
          <p:cNvPr id="54" name="TextBox 53"/>
          <p:cNvSpPr txBox="1"/>
          <p:nvPr/>
        </p:nvSpPr>
        <p:spPr>
          <a:xfrm>
            <a:off x="8750808" y="5404104"/>
            <a:ext cx="2935224" cy="850392"/>
          </a:xfrm>
          <a:prstGeom prst="rect">
            <a:avLst/>
          </a:prstGeom>
          <a:noFill/>
        </p:spPr>
        <p:txBody>
          <a:bodyPr wrap="square" lIns="18288" tIns="0" rIns="18288" bIns="0" anchor="t">
            <a:noAutofit/>
          </a:bodyPr>
          <a:lstStyle/>
          <a:p>
            <a:pPr algn="l">
              <a:spcAft>
                <a:spcPts val="0"/>
              </a:spcAft>
            </a:pPr>
            <a:r>
              <a:rPr sz="1550" b="1" i="0">
                <a:solidFill>
                  <a:srgbClr val="1F1F1F"/>
                </a:solidFill>
                <a:latin typeface="Calibri"/>
                <a:cs typeface="Calibri"/>
              </a:rPr>
              <a:t>Live report feeds</a:t>
            </a:r>
          </a:p>
          <a:p>
            <a:pPr algn="l"/>
            <a:r>
              <a:rPr sz="1300" b="0" i="0">
                <a:solidFill>
                  <a:srgbClr val="595959"/>
                </a:solidFill>
                <a:latin typeface="Calibri"/>
                <a:cs typeface="Calibri"/>
              </a:rPr>
              <a:t>ingestion with drift monitoring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699</Words>
  <Application>Microsoft Office PowerPoint</Application>
  <PresentationFormat>Widescreen</PresentationFormat>
  <Paragraphs>101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Sakshi Ahuja</dc:creator>
  <cp:lastModifiedBy>Sakshi Ahuja</cp:lastModifiedBy>
  <cp:revision>1</cp:revision>
  <dcterms:modified xsi:type="dcterms:W3CDTF">2026-03-18T05:06:21Z</dcterms:modified>
</cp:coreProperties>
</file>