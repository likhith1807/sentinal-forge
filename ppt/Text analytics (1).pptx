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64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14A1-D4EB-DF90-67FB-B9ADFCD1F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63C63-45FA-61D0-177C-2E3DA5D9E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B9E47-4D7B-6722-556E-8FF349E1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A1360-817B-DE2A-A8E2-B7EF6325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DF62-492A-6B02-D76D-776C8CED6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26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5404-0804-BA7B-A9C1-42C87365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EF927-9690-D787-4757-89A3C2691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EFBB6-EB19-7949-9346-1D7BD774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14DFC-74DA-3BFB-6859-9BBACF50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28541-1A1F-865E-A3B8-66C754A0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82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2D91-E529-7491-212B-0855092B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F80CD-E2D6-F5E4-B673-86C557F3F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3293B-0337-EAF4-C303-C3CBE0A7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CD071-313B-0A37-6A75-0ACA6C5B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F7139-5C60-88A9-6F6B-67C6B5C58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37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E46E5-989C-F8FF-1405-14E79680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E1381-5A8D-1BEC-EBC4-208414BEC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69943-7E33-406D-C7EE-F54DE1C0F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4AB11-8AC9-C87B-79F2-E8209BC9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345EA-8D0E-C955-9E88-CE3A37D49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0C660-6A5A-5AC6-7155-18DA3C69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27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9ADA0-DD09-ED15-7301-2801949D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0C605-7A2F-4727-A453-2DB772CD4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DC6E-E6CD-3872-4050-9835C9415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34198-00C2-6B4B-26DF-D2060DA75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D905B5-A5B3-A83F-4449-AE07F027D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57A7D-76DB-8374-A7F5-C254152F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7D8FB-C697-9EDE-A091-2F976D567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6BE9B-7786-8C40-F9D9-B2414A18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40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99B0-8F77-CA37-071D-2D7A0CEB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A2A42-878C-6751-C09D-AEC4B750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D46AD-CB7A-10D2-15CA-1766D1AF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11704-460F-B339-14DB-F7B9CC6F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559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07D69-9B3B-1CF1-F875-C3D5CAB6E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E22C08-90EF-5BB4-0C25-C908A982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2408B-B768-6747-59BB-82C905A6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62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E2A9-0D21-962E-F9EA-9CEF04F1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AD167-A9ED-8B43-8CCF-3DE7AE677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F371B-5C1D-48B2-4F5A-CC00EC09B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79BC9-10EF-075C-7E34-13F043EB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7B4AA-944B-F03A-A81A-64B3C4D7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D7BDF-14CC-64D9-6D1D-8E5C6181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93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80B5-DC16-C568-D58A-75384DB2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F816A-A958-EDA0-E333-69F8C0B71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DC89D-8CA6-F9B3-13D9-B55D65E7C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201D7-D198-D6CD-7100-AF3DAC7E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CAB3E-8668-549F-9D3E-ABD735A0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863B4-D721-5AD0-43EE-EBFB79EB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50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0A42-083B-B942-D0A4-5DD8ADDA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7FD21-7F55-C751-5788-8DFFF84EC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4F4AE-FF63-7CC3-C097-298F3CBD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7C04A-B13C-5666-A6D0-57903629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F1EE6-34F7-8973-CDC6-68EA59D4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16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DE1737-C895-7348-0739-9ED4C55BC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ECF96-774A-EB2B-C707-AB4E3B217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AE541-F950-0B40-46AB-6610BF27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45C5B-5597-8C92-3437-E4C91A45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C84BC-4FFF-E20C-2F7C-3762BADE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00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39237-1468-C353-389E-1C2D12C65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DC9FF-3650-CFDD-AD7C-B99310869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F2EB5-FA7E-8701-2064-92C87AC40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F2A01-1BFC-443E-B691-2014B2F81822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9F97F-45CC-9146-08D6-68D9BCD91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3C0AA-32BE-448F-83F9-78EB7809C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AAADD-B01A-4102-83BC-8C6E8813C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80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AEEF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6CED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7C9643-451E-40CF-989A-1AE8AEDB7FF5}"/>
              </a:ext>
            </a:extLst>
          </p:cNvPr>
          <p:cNvSpPr txBox="1"/>
          <p:nvPr/>
        </p:nvSpPr>
        <p:spPr>
          <a:xfrm>
            <a:off x="508000" y="508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300" b="1">
                <a:solidFill>
                  <a:srgbClr val="26C6A6"/>
                </a:solidFill>
                <a:latin typeface="Segoe UI"/>
                <a:cs typeface="Segoe UI"/>
              </a:rPr>
              <a:t>SECURITY DETECTION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3BD3E-E504-4839-B2D5-C00472C7F0CB}"/>
              </a:ext>
            </a:extLst>
          </p:cNvPr>
          <p:cNvSpPr txBox="1"/>
          <p:nvPr/>
        </p:nvSpPr>
        <p:spPr>
          <a:xfrm>
            <a:off x="482600" y="7620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400" b="1">
                <a:solidFill>
                  <a:srgbClr val="EAEEF2"/>
                </a:solidFill>
                <a:latin typeface="Segoe UI Semibold"/>
                <a:cs typeface="Segoe UI Semibold"/>
              </a:rPr>
              <a:t>SENTINEL Forge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F866C-3DCB-44E0-BB5F-5332E273FDA6}"/>
              </a:ext>
            </a:extLst>
          </p:cNvPr>
          <p:cNvSpPr txBox="1"/>
          <p:nvPr/>
        </p:nvSpPr>
        <p:spPr>
          <a:xfrm>
            <a:off x="508000" y="15240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9AA6B2"/>
                </a:solidFill>
                <a:latin typeface="Segoe UI"/>
                <a:cs typeface="Segoe UI"/>
              </a:rPr>
              <a:t>Turning threat reports into tested detection rules</a:t>
            </a:r>
            <a:endParaRPr lang="en-IN" sz="2000">
              <a:solidFill>
                <a:srgbClr val="9AA6B2"/>
              </a:solidFill>
              <a:latin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E54B10-C62A-4CD6-8E69-6349D30A52B1}"/>
              </a:ext>
            </a:extLst>
          </p:cNvPr>
          <p:cNvSpPr/>
          <p:nvPr/>
        </p:nvSpPr>
        <p:spPr>
          <a:xfrm>
            <a:off x="508000" y="2006600"/>
            <a:ext cx="762000" cy="50800"/>
          </a:xfrm>
          <a:prstGeom prst="rect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BADB1D-C357-4BF0-96B0-508B46D51FBB}"/>
              </a:ext>
            </a:extLst>
          </p:cNvPr>
          <p:cNvSpPr/>
          <p:nvPr/>
        </p:nvSpPr>
        <p:spPr>
          <a:xfrm>
            <a:off x="508000" y="2362200"/>
            <a:ext cx="3530600" cy="35560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5F9B9-2A42-4729-833F-19553D43ED0B}"/>
              </a:ext>
            </a:extLst>
          </p:cNvPr>
          <p:cNvSpPr/>
          <p:nvPr/>
        </p:nvSpPr>
        <p:spPr>
          <a:xfrm>
            <a:off x="508000" y="2362200"/>
            <a:ext cx="3530600" cy="63500"/>
          </a:xfrm>
          <a:prstGeom prst="rect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FD9871-E785-4142-9DC6-B2F6F249E787}"/>
              </a:ext>
            </a:extLst>
          </p:cNvPr>
          <p:cNvSpPr txBox="1"/>
          <p:nvPr/>
        </p:nvSpPr>
        <p:spPr>
          <a:xfrm>
            <a:off x="787400" y="3378200"/>
            <a:ext cx="297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 b="1">
                <a:solidFill>
                  <a:srgbClr val="EAEEF2"/>
                </a:solidFill>
                <a:latin typeface="Segoe UI Semibold"/>
                <a:cs typeface="Segoe UI Semibold"/>
              </a:rPr>
              <a:t>Project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B9A943-4CCD-499B-AC9B-FD2219809C4B}"/>
              </a:ext>
            </a:extLst>
          </p:cNvPr>
          <p:cNvSpPr txBox="1"/>
          <p:nvPr/>
        </p:nvSpPr>
        <p:spPr>
          <a:xfrm>
            <a:off x="787400" y="3886200"/>
            <a:ext cx="2971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6CED6"/>
                </a:solidFill>
                <a:latin typeface="Segoe UI"/>
                <a:cs typeface="Segoe UI"/>
              </a:rPr>
              <a:t>Converts written descriptions of suspicious behavior into executable detection rules, tests them against security logs, and presents results for analyst review.</a:t>
            </a:r>
            <a:endParaRPr lang="en-IN" sz="1400">
              <a:solidFill>
                <a:srgbClr val="C6CED6"/>
              </a:solidFill>
              <a:latin typeface="Segoe UI"/>
              <a:cs typeface="Segoe U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F91EE4-F5E1-4513-9A65-AE779F1D6D83}"/>
              </a:ext>
            </a:extLst>
          </p:cNvPr>
          <p:cNvSpPr/>
          <p:nvPr/>
        </p:nvSpPr>
        <p:spPr>
          <a:xfrm>
            <a:off x="4330700" y="2362200"/>
            <a:ext cx="3530600" cy="35560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7E2E9-BD05-4E0A-B6B5-381C44A7603F}"/>
              </a:ext>
            </a:extLst>
          </p:cNvPr>
          <p:cNvSpPr/>
          <p:nvPr/>
        </p:nvSpPr>
        <p:spPr>
          <a:xfrm>
            <a:off x="4330700" y="2362200"/>
            <a:ext cx="3530600" cy="635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69AFD0-8809-42B3-86AB-46F584667A3A}"/>
              </a:ext>
            </a:extLst>
          </p:cNvPr>
          <p:cNvSpPr txBox="1"/>
          <p:nvPr/>
        </p:nvSpPr>
        <p:spPr>
          <a:xfrm>
            <a:off x="4610100" y="3378200"/>
            <a:ext cx="297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 b="1">
                <a:solidFill>
                  <a:srgbClr val="EAEEF2"/>
                </a:solidFill>
                <a:latin typeface="Segoe UI Semibold"/>
                <a:cs typeface="Segoe UI Semibold"/>
              </a:rPr>
              <a:t>Problem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F6D017-6D00-4E6D-B224-681BC7AB4BDC}"/>
              </a:ext>
            </a:extLst>
          </p:cNvPr>
          <p:cNvSpPr txBox="1"/>
          <p:nvPr/>
        </p:nvSpPr>
        <p:spPr>
          <a:xfrm>
            <a:off x="4610100" y="3886200"/>
            <a:ext cx="2971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6CED6"/>
                </a:solidFill>
                <a:latin typeface="Segoe UI"/>
                <a:cs typeface="Segoe UI"/>
              </a:rPr>
              <a:t>A report says what an attacker does — but a usable detection needs the right log fields, behavior turned into conditions, and false-alarm checks. A rule can run cleanly yet detect the wrong thing.</a:t>
            </a:r>
            <a:endParaRPr lang="en-IN" sz="1400">
              <a:solidFill>
                <a:srgbClr val="C6CED6"/>
              </a:solidFill>
              <a:latin typeface="Segoe UI"/>
              <a:cs typeface="Segoe U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65DFB4-569C-4A46-B709-C473B33BD43A}"/>
              </a:ext>
            </a:extLst>
          </p:cNvPr>
          <p:cNvSpPr/>
          <p:nvPr/>
        </p:nvSpPr>
        <p:spPr>
          <a:xfrm>
            <a:off x="8153400" y="2362200"/>
            <a:ext cx="3530600" cy="35560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CCE7D4-2806-4778-8A1F-5F699E6802D5}"/>
              </a:ext>
            </a:extLst>
          </p:cNvPr>
          <p:cNvSpPr/>
          <p:nvPr/>
        </p:nvSpPr>
        <p:spPr>
          <a:xfrm>
            <a:off x="8153400" y="2362200"/>
            <a:ext cx="3530600" cy="63500"/>
          </a:xfrm>
          <a:prstGeom prst="rect">
            <a:avLst/>
          </a:prstGeom>
          <a:solidFill>
            <a:srgbClr val="4FC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034321-DB39-431E-88C5-119EBB0A73D4}"/>
              </a:ext>
            </a:extLst>
          </p:cNvPr>
          <p:cNvSpPr txBox="1"/>
          <p:nvPr/>
        </p:nvSpPr>
        <p:spPr>
          <a:xfrm>
            <a:off x="8432800" y="3378200"/>
            <a:ext cx="297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 b="1">
                <a:solidFill>
                  <a:srgbClr val="EAEEF2"/>
                </a:solidFill>
                <a:latin typeface="Segoe UI Semibold"/>
                <a:cs typeface="Segoe UI Semibold"/>
              </a:rPr>
              <a:t>Proposed Solution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EF16CE-6D5E-4CA2-81A2-B972D22B61D0}"/>
              </a:ext>
            </a:extLst>
          </p:cNvPr>
          <p:cNvSpPr txBox="1"/>
          <p:nvPr/>
        </p:nvSpPr>
        <p:spPr>
          <a:xfrm>
            <a:off x="8432800" y="3886200"/>
            <a:ext cx="2971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6CED6"/>
                </a:solidFill>
                <a:latin typeface="Segoe UI"/>
                <a:cs typeface="Segoe UI"/>
              </a:rPr>
              <a:t>NLP behavior extraction, a Scala detection compiler, and Apache Spark log processing produce evidence-linked, testable rules — or explain why a detection cannot be generated.</a:t>
            </a:r>
            <a:endParaRPr lang="en-IN" sz="1400">
              <a:solidFill>
                <a:srgbClr val="C6CED6"/>
              </a:solidFill>
              <a:latin typeface="Segoe UI"/>
              <a:cs typeface="Segoe UI"/>
            </a:endParaRPr>
          </a:p>
        </p:txBody>
      </p:sp>
      <p:pic>
        <p:nvPicPr>
          <p:cNvPr id="20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0" y="2743200"/>
            <a:ext cx="457200" cy="457200"/>
          </a:xfrm>
          <a:prstGeom prst="rect">
            <a:avLst/>
          </a:prstGeom>
        </p:spPr>
      </p:pic>
      <p:pic>
        <p:nvPicPr>
          <p:cNvPr id="21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2743200"/>
            <a:ext cx="457200" cy="457200"/>
          </a:xfrm>
          <a:prstGeom prst="rect">
            <a:avLst/>
          </a:prstGeom>
        </p:spPr>
      </p:pic>
      <p:pic>
        <p:nvPicPr>
          <p:cNvPr id="22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2800" y="2743200"/>
            <a:ext cx="457200" cy="4572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064CC19-3D0E-4133-BFAC-6CFB8352C0EA}"/>
              </a:ext>
            </a:extLst>
          </p:cNvPr>
          <p:cNvSpPr/>
          <p:nvPr/>
        </p:nvSpPr>
        <p:spPr>
          <a:xfrm>
            <a:off x="508000" y="5994400"/>
            <a:ext cx="11176000" cy="12700"/>
          </a:xfrm>
          <a:prstGeom prst="rect">
            <a:avLst/>
          </a:prstGeom>
          <a:solidFill>
            <a:srgbClr val="2A33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1DDC2-ECB0-4C40-BB42-C5ABD807D8BC}"/>
              </a:ext>
            </a:extLst>
          </p:cNvPr>
          <p:cNvSpPr txBox="1"/>
          <p:nvPr/>
        </p:nvSpPr>
        <p:spPr>
          <a:xfrm>
            <a:off x="508000" y="6070600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50" b="1">
                <a:solidFill>
                  <a:srgbClr val="26C6A6"/>
                </a:solidFill>
                <a:latin typeface="Segoe UI Semibold"/>
                <a:cs typeface="Segoe UI Semibold"/>
              </a:rPr>
              <a:t>PROJECT TEAM</a:t>
            </a:r>
          </a:p>
        </p:txBody>
      </p:sp>
      <p:sp>
        <p:nvSpPr>
          <p:cNvPr id="25" name="m1">
            <a:extLst>
              <a:ext uri="{FF2B5EF4-FFF2-40B4-BE49-F238E27FC236}">
                <a16:creationId xmlns:a16="http://schemas.microsoft.com/office/drawing/2014/main" id="{29083732-F80B-4B3E-9506-3069638F07C0}"/>
              </a:ext>
            </a:extLst>
          </p:cNvPr>
          <p:cNvSpPr txBox="1"/>
          <p:nvPr/>
        </p:nvSpPr>
        <p:spPr>
          <a:xfrm>
            <a:off x="508000" y="6299200"/>
            <a:ext cx="5588000" cy="27186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AEEF2"/>
                </a:solidFill>
                <a:latin typeface="Segoe UI Semibold"/>
              </a:rPr>
              <a:t>K. Karthikeya   </a:t>
            </a:r>
            <a:r>
              <a:rPr lang="en-US" sz="1100" dirty="0">
                <a:solidFill>
                  <a:srgbClr val="9AA6B2"/>
                </a:solidFill>
                <a:latin typeface="Segoe UI"/>
              </a:rPr>
              <a:t>DL.AI.U4AID24020</a:t>
            </a:r>
          </a:p>
        </p:txBody>
      </p:sp>
      <p:sp>
        <p:nvSpPr>
          <p:cNvPr id="26" name="m2">
            <a:extLst>
              <a:ext uri="{FF2B5EF4-FFF2-40B4-BE49-F238E27FC236}">
                <a16:creationId xmlns:a16="http://schemas.microsoft.com/office/drawing/2014/main" id="{D55D2A7C-E553-46E7-85A2-C197109E5756}"/>
              </a:ext>
            </a:extLst>
          </p:cNvPr>
          <p:cNvSpPr txBox="1"/>
          <p:nvPr/>
        </p:nvSpPr>
        <p:spPr>
          <a:xfrm>
            <a:off x="6096000" y="6299200"/>
            <a:ext cx="5588000" cy="27186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AEEF2"/>
                </a:solidFill>
                <a:latin typeface="Segoe UI Semibold"/>
              </a:rPr>
              <a:t>A. Karthik   </a:t>
            </a:r>
            <a:r>
              <a:rPr lang="en-US" sz="1100" dirty="0">
                <a:solidFill>
                  <a:srgbClr val="9AA6B2"/>
                </a:solidFill>
                <a:latin typeface="Segoe UI"/>
              </a:rPr>
              <a:t>DL.AI.IU4AID24104</a:t>
            </a:r>
          </a:p>
        </p:txBody>
      </p:sp>
      <p:sp>
        <p:nvSpPr>
          <p:cNvPr id="27" name="m3">
            <a:extLst>
              <a:ext uri="{FF2B5EF4-FFF2-40B4-BE49-F238E27FC236}">
                <a16:creationId xmlns:a16="http://schemas.microsoft.com/office/drawing/2014/main" id="{DF4C7ADC-27F8-4A74-A4B1-2F08A7F9FD6F}"/>
              </a:ext>
            </a:extLst>
          </p:cNvPr>
          <p:cNvSpPr txBox="1"/>
          <p:nvPr/>
        </p:nvSpPr>
        <p:spPr>
          <a:xfrm>
            <a:off x="508000" y="6527800"/>
            <a:ext cx="5588000" cy="27186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AEEF2"/>
                </a:solidFill>
                <a:latin typeface="Segoe UI Semibold"/>
              </a:rPr>
              <a:t>K. Likhith   </a:t>
            </a:r>
            <a:r>
              <a:rPr lang="en-US" sz="1100" dirty="0">
                <a:solidFill>
                  <a:srgbClr val="9AA6B2"/>
                </a:solidFill>
                <a:latin typeface="Segoe UI"/>
              </a:rPr>
              <a:t>DL.AI.U4AID24117</a:t>
            </a:r>
          </a:p>
        </p:txBody>
      </p:sp>
      <p:sp>
        <p:nvSpPr>
          <p:cNvPr id="28" name="m4">
            <a:extLst>
              <a:ext uri="{FF2B5EF4-FFF2-40B4-BE49-F238E27FC236}">
                <a16:creationId xmlns:a16="http://schemas.microsoft.com/office/drawing/2014/main" id="{D272A1D6-1643-41D9-99D9-8931E2C0AC7A}"/>
              </a:ext>
            </a:extLst>
          </p:cNvPr>
          <p:cNvSpPr txBox="1"/>
          <p:nvPr/>
        </p:nvSpPr>
        <p:spPr>
          <a:xfrm>
            <a:off x="6096000" y="6527800"/>
            <a:ext cx="5588000" cy="27186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AEEF2"/>
                </a:solidFill>
                <a:latin typeface="Segoe UI Semibold"/>
              </a:rPr>
              <a:t>Y. Sandeep   </a:t>
            </a:r>
            <a:r>
              <a:rPr lang="en-US" sz="1100" dirty="0">
                <a:solidFill>
                  <a:srgbClr val="9AA6B2"/>
                </a:solidFill>
                <a:latin typeface="Segoe UI"/>
              </a:rPr>
              <a:t>DL.AI.U4AID24143</a:t>
            </a:r>
          </a:p>
        </p:txBody>
      </p:sp>
    </p:spTree>
    <p:extLst>
      <p:ext uri="{BB962C8B-B14F-4D97-AF65-F5344CB8AC3E}">
        <p14:creationId xmlns:p14="http://schemas.microsoft.com/office/powerpoint/2010/main" val="1642795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83262D-A280-46C1-B8E3-9AFE8A537A30}"/>
              </a:ext>
            </a:extLst>
          </p:cNvPr>
          <p:cNvSpPr txBox="1"/>
          <p:nvPr/>
        </p:nvSpPr>
        <p:spPr>
          <a:xfrm>
            <a:off x="482600" y="482600"/>
            <a:ext cx="11226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EAEEF2"/>
                </a:solidFill>
                <a:latin typeface="Segoe UI Semibold"/>
                <a:cs typeface="Segoe UI Semibold"/>
              </a:rPr>
              <a:t>Objectives and Proposed Research Contribution</a:t>
            </a:r>
            <a:endParaRPr lang="en-IN" sz="3000" b="1">
              <a:solidFill>
                <a:srgbClr val="EAEEF2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860AAA-6466-43CA-9CDA-F2046A4257DF}"/>
              </a:ext>
            </a:extLst>
          </p:cNvPr>
          <p:cNvSpPr/>
          <p:nvPr/>
        </p:nvSpPr>
        <p:spPr>
          <a:xfrm>
            <a:off x="508000" y="1092200"/>
            <a:ext cx="762000" cy="50800"/>
          </a:xfrm>
          <a:prstGeom prst="rect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DF71-DAB3-4718-B9BA-F8539C9F2E7D}"/>
              </a:ext>
            </a:extLst>
          </p:cNvPr>
          <p:cNvSpPr txBox="1"/>
          <p:nvPr/>
        </p:nvSpPr>
        <p:spPr>
          <a:xfrm>
            <a:off x="508000" y="1346200"/>
            <a:ext cx="558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EAEEF2"/>
                </a:solidFill>
                <a:latin typeface="Segoe UI Semibold"/>
                <a:cs typeface="Segoe UI Semibold"/>
              </a:rPr>
              <a:t>Project 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0A03FC-4DA9-4B73-BACE-DF428803A932}"/>
              </a:ext>
            </a:extLst>
          </p:cNvPr>
          <p:cNvSpPr/>
          <p:nvPr/>
        </p:nvSpPr>
        <p:spPr>
          <a:xfrm>
            <a:off x="508000" y="1676400"/>
            <a:ext cx="431800" cy="38100"/>
          </a:xfrm>
          <a:prstGeom prst="rect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72763-B3A4-4758-A860-600B0DFD1B97}"/>
              </a:ext>
            </a:extLst>
          </p:cNvPr>
          <p:cNvSpPr txBox="1"/>
          <p:nvPr/>
        </p:nvSpPr>
        <p:spPr>
          <a:xfrm>
            <a:off x="6350000" y="1346200"/>
            <a:ext cx="558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EAEEF2"/>
                </a:solidFill>
                <a:latin typeface="Segoe UI Semibold"/>
                <a:cs typeface="Segoe UI Semibold"/>
              </a:rPr>
              <a:t>Distinctive Capabilities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E03230-37B8-4984-B0D4-BE39CB07CD16}"/>
              </a:ext>
            </a:extLst>
          </p:cNvPr>
          <p:cNvSpPr/>
          <p:nvPr/>
        </p:nvSpPr>
        <p:spPr>
          <a:xfrm>
            <a:off x="6350000" y="1676400"/>
            <a:ext cx="431800" cy="38100"/>
          </a:xfrm>
          <a:prstGeom prst="rect">
            <a:avLst/>
          </a:prstGeom>
          <a:solidFill>
            <a:srgbClr val="4FC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objList">
            <a:extLst>
              <a:ext uri="{FF2B5EF4-FFF2-40B4-BE49-F238E27FC236}">
                <a16:creationId xmlns:a16="http://schemas.microsoft.com/office/drawing/2014/main" id="{EE3B88ED-8B73-4703-8236-BE395A58579F}"/>
              </a:ext>
            </a:extLst>
          </p:cNvPr>
          <p:cNvSpPr txBox="1"/>
          <p:nvPr/>
        </p:nvSpPr>
        <p:spPr>
          <a:xfrm>
            <a:off x="508000" y="1854200"/>
            <a:ext cx="5588000" cy="226818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Extract behavior  —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Identify actions, entities, conditions and event sequences with trained NLP models.</a:t>
            </a:r>
          </a:p>
          <a:p>
            <a:pPr marL="0" indent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Check observability  —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Determine whether available log fields can capture the described behavior.</a:t>
            </a:r>
          </a:p>
          <a:p>
            <a:pPr marL="0" indent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Compile precise detections  —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Convert a typed behavior specification into restricted Scala/Spark rules.</a:t>
            </a:r>
          </a:p>
          <a:p>
            <a:pPr marL="0" indent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Validate reliability  —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Measure quality under normal workloads, missing fields and incomplete reports.</a:t>
            </a:r>
          </a:p>
        </p:txBody>
      </p:sp>
      <p:sp>
        <p:nvSpPr>
          <p:cNvPr id="9" name="capList">
            <a:extLst>
              <a:ext uri="{FF2B5EF4-FFF2-40B4-BE49-F238E27FC236}">
                <a16:creationId xmlns:a16="http://schemas.microsoft.com/office/drawing/2014/main" id="{233091B2-B6E2-43D0-B8EC-2CAC620E26AE}"/>
              </a:ext>
            </a:extLst>
          </p:cNvPr>
          <p:cNvSpPr txBox="1"/>
          <p:nvPr/>
        </p:nvSpPr>
        <p:spPr>
          <a:xfrm>
            <a:off x="6350000" y="1854200"/>
            <a:ext cx="5334000" cy="169110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4FC3F7"/>
                </a:solidFill>
                <a:latin typeface="Segoe UI Semibold"/>
              </a:rPr>
              <a:t>Evidence traceability  —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Link each detection condition to source text or an explicit analyst assumption.</a:t>
            </a:r>
          </a:p>
          <a:p>
            <a:pPr marL="0" indent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4FC3F7"/>
                </a:solidFill>
                <a:latin typeface="Segoe UI Semibold"/>
              </a:rPr>
              <a:t>Unsupported-case rejection  —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Request clarification or withhold generation when essential information is missing.</a:t>
            </a:r>
          </a:p>
          <a:p>
            <a:pPr marL="0" indent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4FC3F7"/>
                </a:solidFill>
                <a:latin typeface="Segoe UI Semibold"/>
              </a:rPr>
              <a:t>Robustness testing  —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Reveal how missing telemetry and shifting benign activity affect detection quality.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35BA4D-939B-4440-BE1B-F1B68767EF9C}"/>
              </a:ext>
            </a:extLst>
          </p:cNvPr>
          <p:cNvSpPr/>
          <p:nvPr/>
        </p:nvSpPr>
        <p:spPr>
          <a:xfrm>
            <a:off x="508000" y="4749800"/>
            <a:ext cx="5588000" cy="16002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4630FB-E9A6-490C-B2A9-B54F0634971A}"/>
              </a:ext>
            </a:extLst>
          </p:cNvPr>
          <p:cNvSpPr/>
          <p:nvPr/>
        </p:nvSpPr>
        <p:spPr>
          <a:xfrm>
            <a:off x="508000" y="4749800"/>
            <a:ext cx="63500" cy="1600200"/>
          </a:xfrm>
          <a:prstGeom prst="rect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3FC7FF-4F82-4D87-9257-5A839B411495}"/>
              </a:ext>
            </a:extLst>
          </p:cNvPr>
          <p:cNvSpPr txBox="1"/>
          <p:nvPr/>
        </p:nvSpPr>
        <p:spPr>
          <a:xfrm>
            <a:off x="787400" y="4927600"/>
            <a:ext cx="5029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26C6A6"/>
                </a:solidFill>
                <a:latin typeface="Segoe UI Semibold"/>
                <a:cs typeface="Segoe UI Semibold"/>
              </a:rPr>
              <a:t>PROPOSED RESEARCH CONTRIBUTION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5A03B4-28A3-4670-A082-75D46C3D9C28}"/>
              </a:ext>
            </a:extLst>
          </p:cNvPr>
          <p:cNvSpPr txBox="1"/>
          <p:nvPr/>
        </p:nvSpPr>
        <p:spPr>
          <a:xfrm>
            <a:off x="787400" y="5232400"/>
            <a:ext cx="5029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6CED6"/>
                </a:solidFill>
                <a:latin typeface="Segoe UI"/>
                <a:cs typeface="Segoe UI"/>
              </a:rPr>
              <a:t>A telemetry-aware compilation and validation method that preserves source evidence, exposes missing requirements, and flags when a generated detection becomes unreliable.</a:t>
            </a:r>
            <a:endParaRPr lang="en-IN" sz="1400">
              <a:solidFill>
                <a:srgbClr val="C6CED6"/>
              </a:solidFill>
              <a:latin typeface="Segoe UI"/>
              <a:cs typeface="Segoe U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5D5671-6563-48BF-BD90-D3D8D6E2376C}"/>
              </a:ext>
            </a:extLst>
          </p:cNvPr>
          <p:cNvSpPr/>
          <p:nvPr/>
        </p:nvSpPr>
        <p:spPr>
          <a:xfrm>
            <a:off x="6350000" y="4749800"/>
            <a:ext cx="5334000" cy="16002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09CA27-A01F-4E3F-AA1B-F0C9FF75EA43}"/>
              </a:ext>
            </a:extLst>
          </p:cNvPr>
          <p:cNvSpPr/>
          <p:nvPr/>
        </p:nvSpPr>
        <p:spPr>
          <a:xfrm>
            <a:off x="6350000" y="4749800"/>
            <a:ext cx="63500" cy="16002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7D9FF-3F4A-4945-A404-B5F9608F8C70}"/>
              </a:ext>
            </a:extLst>
          </p:cNvPr>
          <p:cNvSpPr txBox="1"/>
          <p:nvPr/>
        </p:nvSpPr>
        <p:spPr>
          <a:xfrm>
            <a:off x="6629400" y="4927600"/>
            <a:ext cx="477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F5A623"/>
                </a:solidFill>
                <a:latin typeface="Segoe UI Semibold"/>
                <a:cs typeface="Segoe UI Semibold"/>
              </a:rPr>
              <a:t>RESEARCH QUESTION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931ED6-5B35-44DD-AD2C-FF636336965E}"/>
              </a:ext>
            </a:extLst>
          </p:cNvPr>
          <p:cNvSpPr txBox="1"/>
          <p:nvPr/>
        </p:nvSpPr>
        <p:spPr>
          <a:xfrm>
            <a:off x="6629400" y="5232400"/>
            <a:ext cx="4775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6CED6"/>
                </a:solidFill>
                <a:latin typeface="Segoe UI"/>
                <a:cs typeface="Segoe UI"/>
              </a:rPr>
              <a:t>Can these mechanisms improve detection correctness and reliability over direct LLM rule generation? Tested via related-work comparison and controlled experiments.</a:t>
            </a:r>
            <a:endParaRPr lang="en-IN" sz="1400">
              <a:solidFill>
                <a:srgbClr val="C6CED6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35978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A1BB4B-6838-47AC-88EE-2210252DD333}"/>
              </a:ext>
            </a:extLst>
          </p:cNvPr>
          <p:cNvSpPr txBox="1"/>
          <p:nvPr/>
        </p:nvSpPr>
        <p:spPr>
          <a:xfrm>
            <a:off x="482600" y="482600"/>
            <a:ext cx="11226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000" b="1">
                <a:solidFill>
                  <a:srgbClr val="EAEEF2"/>
                </a:solidFill>
                <a:latin typeface="Segoe UI Semibold"/>
                <a:cs typeface="Segoe UI Semibold"/>
              </a:rPr>
              <a:t>End-to-End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168EB0-902D-485C-86B5-0EB4C4BDE423}"/>
              </a:ext>
            </a:extLst>
          </p:cNvPr>
          <p:cNvSpPr/>
          <p:nvPr/>
        </p:nvSpPr>
        <p:spPr>
          <a:xfrm>
            <a:off x="508000" y="1092200"/>
            <a:ext cx="762000" cy="50800"/>
          </a:xfrm>
          <a:prstGeom prst="rect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DAD3CA-BD47-4D30-92FB-84422FB62163}"/>
              </a:ext>
            </a:extLst>
          </p:cNvPr>
          <p:cNvSpPr/>
          <p:nvPr/>
        </p:nvSpPr>
        <p:spPr>
          <a:xfrm>
            <a:off x="508000" y="1320800"/>
            <a:ext cx="2082800" cy="32004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82B583-6FF1-420E-95CE-C4E9D0503499}"/>
              </a:ext>
            </a:extLst>
          </p:cNvPr>
          <p:cNvSpPr/>
          <p:nvPr/>
        </p:nvSpPr>
        <p:spPr>
          <a:xfrm>
            <a:off x="711200" y="1549400"/>
            <a:ext cx="431800" cy="431800"/>
          </a:xfrm>
          <a:prstGeom prst="ellipse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2161C"/>
                </a:solidFill>
                <a:latin typeface="Segoe UI Semibold"/>
                <a:cs typeface="Segoe UI Semibold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4D949-6B0A-4BE4-AB1F-1DCDD3E12D7E}"/>
              </a:ext>
            </a:extLst>
          </p:cNvPr>
          <p:cNvSpPr txBox="1"/>
          <p:nvPr/>
        </p:nvSpPr>
        <p:spPr>
          <a:xfrm>
            <a:off x="711200" y="2108200"/>
            <a:ext cx="1701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EAEEF2"/>
                </a:solidFill>
                <a:latin typeface="Segoe UI Semibold"/>
                <a:cs typeface="Segoe UI Semibold"/>
              </a:rPr>
              <a:t>Ingest &amp; Normalize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EBFAA-2A2C-4D9D-814E-106E8859795E}"/>
              </a:ext>
            </a:extLst>
          </p:cNvPr>
          <p:cNvSpPr txBox="1"/>
          <p:nvPr/>
        </p:nvSpPr>
        <p:spPr>
          <a:xfrm>
            <a:off x="711200" y="2692400"/>
            <a:ext cx="17018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C6CED6"/>
                </a:solidFill>
                <a:latin typeface="Segoe UI"/>
                <a:cs typeface="Segoe UI"/>
              </a:rPr>
              <a:t>Scala/Spark cleans, standardizes and stores permitted reports and lab telemetry for replay and streaming.</a:t>
            </a:r>
            <a:endParaRPr lang="en-IN" sz="1300">
              <a:solidFill>
                <a:srgbClr val="C6CED6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4CA34D-7CAE-45B8-941D-0E16343DADA0}"/>
              </a:ext>
            </a:extLst>
          </p:cNvPr>
          <p:cNvSpPr txBox="1"/>
          <p:nvPr/>
        </p:nvSpPr>
        <p:spPr>
          <a:xfrm>
            <a:off x="2552700" y="1574800"/>
            <a:ext cx="25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2200">
                <a:solidFill>
                  <a:srgbClr val="9AA6B2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0848AA-982D-49A7-A53F-195F4DA491BE}"/>
              </a:ext>
            </a:extLst>
          </p:cNvPr>
          <p:cNvSpPr/>
          <p:nvPr/>
        </p:nvSpPr>
        <p:spPr>
          <a:xfrm>
            <a:off x="2768600" y="1320800"/>
            <a:ext cx="2082800" cy="32004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F435A6-F87F-49BB-9263-EC598447853C}"/>
              </a:ext>
            </a:extLst>
          </p:cNvPr>
          <p:cNvSpPr/>
          <p:nvPr/>
        </p:nvSpPr>
        <p:spPr>
          <a:xfrm>
            <a:off x="2971800" y="1549400"/>
            <a:ext cx="431800" cy="431800"/>
          </a:xfrm>
          <a:prstGeom prst="ellipse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2161C"/>
                </a:soli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BB309-3AC6-4849-BF16-522B914747DF}"/>
              </a:ext>
            </a:extLst>
          </p:cNvPr>
          <p:cNvSpPr txBox="1"/>
          <p:nvPr/>
        </p:nvSpPr>
        <p:spPr>
          <a:xfrm>
            <a:off x="2971800" y="2108200"/>
            <a:ext cx="1701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EAEEF2"/>
                </a:solidFill>
                <a:latin typeface="Segoe UI Semibold"/>
                <a:cs typeface="Segoe UI Semibold"/>
              </a:rPr>
              <a:t>Understand the Report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73D303-66F6-4D38-BA98-A7446CD4F6C8}"/>
              </a:ext>
            </a:extLst>
          </p:cNvPr>
          <p:cNvSpPr txBox="1"/>
          <p:nvPr/>
        </p:nvSpPr>
        <p:spPr>
          <a:xfrm>
            <a:off x="2971800" y="2692400"/>
            <a:ext cx="17018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C6CED6"/>
                </a:solidFill>
                <a:latin typeface="Segoe UI"/>
                <a:cs typeface="Segoe UI"/>
              </a:rPr>
              <a:t>NLP extracts behaviors and relationships, keeping exact supporting passages. Classical vs. Transformer baselines.</a:t>
            </a:r>
            <a:endParaRPr lang="en-IN" sz="1300">
              <a:solidFill>
                <a:srgbClr val="C6CED6"/>
              </a:solidFill>
              <a:latin typeface="Segoe UI"/>
              <a:cs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5E8B5C-34BF-4F89-A8E0-FD4867EB24C1}"/>
              </a:ext>
            </a:extLst>
          </p:cNvPr>
          <p:cNvSpPr txBox="1"/>
          <p:nvPr/>
        </p:nvSpPr>
        <p:spPr>
          <a:xfrm>
            <a:off x="4813300" y="1574800"/>
            <a:ext cx="25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2200">
                <a:solidFill>
                  <a:srgbClr val="9AA6B2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D345BD-A86B-46DF-905C-BBC3ED4159C3}"/>
              </a:ext>
            </a:extLst>
          </p:cNvPr>
          <p:cNvSpPr/>
          <p:nvPr/>
        </p:nvSpPr>
        <p:spPr>
          <a:xfrm>
            <a:off x="5029200" y="1320800"/>
            <a:ext cx="2082800" cy="32004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3FA325D-A0CB-4976-88BB-8D47AF5A2373}"/>
              </a:ext>
            </a:extLst>
          </p:cNvPr>
          <p:cNvSpPr/>
          <p:nvPr/>
        </p:nvSpPr>
        <p:spPr>
          <a:xfrm>
            <a:off x="5232400" y="1549400"/>
            <a:ext cx="431800" cy="431800"/>
          </a:xfrm>
          <a:prstGeom prst="ellipse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2161C"/>
                </a:solidFill>
                <a:latin typeface="Segoe UI Semibold"/>
                <a:cs typeface="Segoe UI Semibold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B2D5CD-DAF9-458D-8FC3-51C4DBDEC368}"/>
              </a:ext>
            </a:extLst>
          </p:cNvPr>
          <p:cNvSpPr txBox="1"/>
          <p:nvPr/>
        </p:nvSpPr>
        <p:spPr>
          <a:xfrm>
            <a:off x="5232400" y="2108200"/>
            <a:ext cx="1701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EAEEF2"/>
                </a:solidFill>
                <a:latin typeface="Segoe UI Semibold"/>
                <a:cs typeface="Segoe UI Semibold"/>
              </a:rPr>
              <a:t>Validate the Spec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05B71B-125C-439E-B967-058DFED43B93}"/>
              </a:ext>
            </a:extLst>
          </p:cNvPr>
          <p:cNvSpPr txBox="1"/>
          <p:nvPr/>
        </p:nvSpPr>
        <p:spPr>
          <a:xfrm>
            <a:off x="5232400" y="2692400"/>
            <a:ext cx="17018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C6CED6"/>
                </a:solidFill>
                <a:latin typeface="Segoe UI"/>
                <a:cs typeface="Segoe UI"/>
              </a:rPr>
              <a:t>Typed spec of actions, fields, predicates, keys and sequences. Flags ambiguity, gaps and unsupported operations.</a:t>
            </a:r>
            <a:endParaRPr lang="en-IN" sz="1300">
              <a:solidFill>
                <a:srgbClr val="C6CED6"/>
              </a:solidFill>
              <a:latin typeface="Segoe UI"/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F7B481-4130-4822-931A-93D3B7679B9D}"/>
              </a:ext>
            </a:extLst>
          </p:cNvPr>
          <p:cNvSpPr txBox="1"/>
          <p:nvPr/>
        </p:nvSpPr>
        <p:spPr>
          <a:xfrm>
            <a:off x="7073900" y="1574800"/>
            <a:ext cx="25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2200">
                <a:solidFill>
                  <a:srgbClr val="9AA6B2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8C532A-7271-4AC4-A6B0-45F4A289A1B7}"/>
              </a:ext>
            </a:extLst>
          </p:cNvPr>
          <p:cNvSpPr/>
          <p:nvPr/>
        </p:nvSpPr>
        <p:spPr>
          <a:xfrm>
            <a:off x="7289800" y="1320800"/>
            <a:ext cx="2082800" cy="32004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7530EB-8B65-43DC-A7FB-41FDB5746647}"/>
              </a:ext>
            </a:extLst>
          </p:cNvPr>
          <p:cNvSpPr/>
          <p:nvPr/>
        </p:nvSpPr>
        <p:spPr>
          <a:xfrm>
            <a:off x="7493000" y="1549400"/>
            <a:ext cx="431800" cy="431800"/>
          </a:xfrm>
          <a:prstGeom prst="ellipse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2161C"/>
                </a:solidFill>
                <a:latin typeface="Segoe UI Semibold"/>
                <a:cs typeface="Segoe UI Semibold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B5A84A-B0E3-40E1-986C-B0428DCA7F16}"/>
              </a:ext>
            </a:extLst>
          </p:cNvPr>
          <p:cNvSpPr txBox="1"/>
          <p:nvPr/>
        </p:nvSpPr>
        <p:spPr>
          <a:xfrm>
            <a:off x="7493000" y="2108200"/>
            <a:ext cx="1701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EAEEF2"/>
                </a:solidFill>
                <a:latin typeface="Segoe UI Semibold"/>
                <a:cs typeface="Segoe UI Semibold"/>
              </a:rPr>
              <a:t>Compile &amp; Execute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AD69E4-BA24-4EC6-B672-827B78B15F3A}"/>
              </a:ext>
            </a:extLst>
          </p:cNvPr>
          <p:cNvSpPr txBox="1"/>
          <p:nvPr/>
        </p:nvSpPr>
        <p:spPr>
          <a:xfrm>
            <a:off x="7493000" y="2692400"/>
            <a:ext cx="17018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C6CED6"/>
                </a:solidFill>
                <a:latin typeface="Segoe UI"/>
                <a:cs typeface="Segoe UI"/>
              </a:rPr>
              <a:t>Scala compiler turns approved specs into restricted Spark logic, run over historical and incoming events.</a:t>
            </a:r>
            <a:endParaRPr lang="en-IN" sz="1300">
              <a:solidFill>
                <a:srgbClr val="C6CED6"/>
              </a:solidFill>
              <a:latin typeface="Segoe UI"/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4CA211-D9F3-4D6C-9F35-82EAFB79558F}"/>
              </a:ext>
            </a:extLst>
          </p:cNvPr>
          <p:cNvSpPr txBox="1"/>
          <p:nvPr/>
        </p:nvSpPr>
        <p:spPr>
          <a:xfrm>
            <a:off x="9334500" y="1574800"/>
            <a:ext cx="25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2200">
                <a:solidFill>
                  <a:srgbClr val="9AA6B2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944E80-A2DE-47FC-871A-041B5E9530CA}"/>
              </a:ext>
            </a:extLst>
          </p:cNvPr>
          <p:cNvSpPr/>
          <p:nvPr/>
        </p:nvSpPr>
        <p:spPr>
          <a:xfrm>
            <a:off x="9550400" y="1320800"/>
            <a:ext cx="2082800" cy="32004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14CC20-DE7C-4513-A69A-9F4B4D208EAD}"/>
              </a:ext>
            </a:extLst>
          </p:cNvPr>
          <p:cNvSpPr/>
          <p:nvPr/>
        </p:nvSpPr>
        <p:spPr>
          <a:xfrm>
            <a:off x="9753600" y="1549400"/>
            <a:ext cx="431800" cy="431800"/>
          </a:xfrm>
          <a:prstGeom prst="ellipse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2161C"/>
                </a:solidFill>
                <a:latin typeface="Segoe UI Semibold"/>
                <a:cs typeface="Segoe UI Semibold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005A6B-2A68-4EEE-B3EE-773CCCD520F8}"/>
              </a:ext>
            </a:extLst>
          </p:cNvPr>
          <p:cNvSpPr txBox="1"/>
          <p:nvPr/>
        </p:nvSpPr>
        <p:spPr>
          <a:xfrm>
            <a:off x="9753600" y="2108200"/>
            <a:ext cx="1701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EAEEF2"/>
                </a:solidFill>
                <a:latin typeface="Segoe UI Semibold"/>
                <a:cs typeface="Segoe UI Semibold"/>
              </a:rPr>
              <a:t>Evaluate &amp; Explain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104AAA-9941-4681-99F8-33B780E20623}"/>
              </a:ext>
            </a:extLst>
          </p:cNvPr>
          <p:cNvSpPr txBox="1"/>
          <p:nvPr/>
        </p:nvSpPr>
        <p:spPr>
          <a:xfrm>
            <a:off x="9753600" y="2692400"/>
            <a:ext cx="17018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C6CED6"/>
                </a:solidFill>
                <a:latin typeface="Segoe UI"/>
                <a:cs typeface="Segoe UI"/>
              </a:rPr>
              <a:t>Compare alerts with independent labels. Show matches, errors, execution metrics and source evidence.</a:t>
            </a:r>
            <a:endParaRPr lang="en-IN" sz="1300">
              <a:solidFill>
                <a:srgbClr val="C6CED6"/>
              </a:solidFill>
              <a:latin typeface="Segoe UI"/>
              <a:cs typeface="Segoe U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E9362D5-93FF-42FA-BFAA-23118DD252B7}"/>
              </a:ext>
            </a:extLst>
          </p:cNvPr>
          <p:cNvSpPr/>
          <p:nvPr/>
        </p:nvSpPr>
        <p:spPr>
          <a:xfrm>
            <a:off x="508000" y="4749800"/>
            <a:ext cx="11176000" cy="16002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CF1D0F-8EEB-4C4A-859E-A76F3172EEED}"/>
              </a:ext>
            </a:extLst>
          </p:cNvPr>
          <p:cNvSpPr/>
          <p:nvPr/>
        </p:nvSpPr>
        <p:spPr>
          <a:xfrm>
            <a:off x="508000" y="4749800"/>
            <a:ext cx="63500" cy="16002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0" name="exBody">
            <a:extLst>
              <a:ext uri="{FF2B5EF4-FFF2-40B4-BE49-F238E27FC236}">
                <a16:creationId xmlns:a16="http://schemas.microsoft.com/office/drawing/2014/main" id="{05C5AB19-600E-488A-B526-96C7717281F9}"/>
              </a:ext>
            </a:extLst>
          </p:cNvPr>
          <p:cNvSpPr txBox="1"/>
          <p:nvPr/>
        </p:nvSpPr>
        <p:spPr>
          <a:xfrm>
            <a:off x="787400" y="4902200"/>
            <a:ext cx="10668000" cy="10926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Segoe UI Semibold"/>
              </a:rPr>
              <a:t>ILLUSTRATIVE EXAMPLE</a:t>
            </a:r>
          </a:p>
          <a:p>
            <a:pPr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EAEEF2"/>
                </a:solidFill>
                <a:latin typeface="Segoe UI"/>
              </a:rPr>
              <a:t>“Repeated failed sign-ins followed by a successful sign-in for the same account.”</a:t>
            </a:r>
          </a:p>
          <a:p>
            <a:pPr>
              <a:spcAft>
                <a:spcPts val="300"/>
              </a:spcAft>
              <a:buNone/>
            </a:pPr>
            <a:r>
              <a:rPr lang="en-US" sz="1400" dirty="0">
                <a:solidFill>
                  <a:srgbClr val="C6CED6"/>
                </a:solidFill>
                <a:latin typeface="Segoe UI"/>
              </a:rPr>
              <a:t>Required evidence: </a:t>
            </a:r>
            <a:r>
              <a:rPr lang="en-US" sz="1400" b="1" dirty="0">
                <a:solidFill>
                  <a:srgbClr val="EAEEF2"/>
                </a:solidFill>
                <a:latin typeface="Segoe UI Semibold"/>
              </a:rPr>
              <a:t>account ID, timestamp and sign-in outcome.</a:t>
            </a:r>
          </a:p>
          <a:p>
            <a:pPr>
              <a:buNone/>
            </a:pPr>
            <a:r>
              <a:rPr lang="en-US" sz="1400" dirty="0">
                <a:solidFill>
                  <a:srgbClr val="9AA6B2"/>
                </a:solidFill>
                <a:latin typeface="Segoe UI"/>
              </a:rPr>
              <a:t>The analyst confirms any unspecified threshold and time window before compilation.</a:t>
            </a:r>
          </a:p>
        </p:txBody>
      </p:sp>
    </p:spTree>
    <p:extLst>
      <p:ext uri="{BB962C8B-B14F-4D97-AF65-F5344CB8AC3E}">
        <p14:creationId xmlns:p14="http://schemas.microsoft.com/office/powerpoint/2010/main" val="2829761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556FB3-6D29-4061-8728-C6E2FA68B1EE}"/>
              </a:ext>
            </a:extLst>
          </p:cNvPr>
          <p:cNvSpPr txBox="1"/>
          <p:nvPr/>
        </p:nvSpPr>
        <p:spPr>
          <a:xfrm>
            <a:off x="482600" y="406400"/>
            <a:ext cx="11226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EAEEF2"/>
                </a:solidFill>
                <a:latin typeface="Segoe UI Semibold"/>
                <a:cs typeface="Segoe UI Semibold"/>
              </a:rPr>
              <a:t>Validation, Demonstration and Expected Impact</a:t>
            </a:r>
            <a:endParaRPr lang="en-IN" sz="2800" b="1">
              <a:solidFill>
                <a:srgbClr val="EAEEF2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30BC9F-439F-4A5E-A4E7-9F415D6CF7CC}"/>
              </a:ext>
            </a:extLst>
          </p:cNvPr>
          <p:cNvSpPr/>
          <p:nvPr/>
        </p:nvSpPr>
        <p:spPr>
          <a:xfrm>
            <a:off x="508000" y="939800"/>
            <a:ext cx="762000" cy="50800"/>
          </a:xfrm>
          <a:prstGeom prst="rect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99B092-40B6-4C2C-821F-D0AB60C50702}"/>
              </a:ext>
            </a:extLst>
          </p:cNvPr>
          <p:cNvSpPr/>
          <p:nvPr/>
        </p:nvSpPr>
        <p:spPr>
          <a:xfrm>
            <a:off x="508000" y="1143000"/>
            <a:ext cx="3810000" cy="32004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6EB58F-B37F-4647-91E5-8AF0B9BB7D05}"/>
              </a:ext>
            </a:extLst>
          </p:cNvPr>
          <p:cNvSpPr/>
          <p:nvPr/>
        </p:nvSpPr>
        <p:spPr>
          <a:xfrm>
            <a:off x="508000" y="1143000"/>
            <a:ext cx="3810000" cy="50800"/>
          </a:xfrm>
          <a:prstGeom prst="rect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2AB68-0D5C-4F85-B81C-7E0732FED62F}"/>
              </a:ext>
            </a:extLst>
          </p:cNvPr>
          <p:cNvSpPr txBox="1"/>
          <p:nvPr/>
        </p:nvSpPr>
        <p:spPr>
          <a:xfrm>
            <a:off x="736600" y="1295400"/>
            <a:ext cx="335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EAEEF2"/>
                </a:solidFill>
                <a:latin typeface="Segoe UI Semibold"/>
                <a:cs typeface="Segoe UI Semibold"/>
              </a:rPr>
              <a:t>Success Measures</a:t>
            </a:r>
          </a:p>
        </p:txBody>
      </p:sp>
      <p:sp>
        <p:nvSpPr>
          <p:cNvPr id="7" name="measBody">
            <a:extLst>
              <a:ext uri="{FF2B5EF4-FFF2-40B4-BE49-F238E27FC236}">
                <a16:creationId xmlns:a16="http://schemas.microsoft.com/office/drawing/2014/main" id="{5B3CCFFA-2CC6-4D59-9ED8-4A0FB8E220DE}"/>
              </a:ext>
            </a:extLst>
          </p:cNvPr>
          <p:cNvSpPr txBox="1"/>
          <p:nvPr/>
        </p:nvSpPr>
        <p:spPr>
          <a:xfrm>
            <a:off x="736600" y="1701800"/>
            <a:ext cx="3352800" cy="23098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EAEEF2"/>
                </a:solidFill>
                <a:latin typeface="Segoe UI Semibold"/>
              </a:rPr>
              <a:t>NLP quality: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Extraction precision, recall and F1.</a:t>
            </a:r>
          </a:p>
          <a:p>
            <a:pPr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EAEEF2"/>
                </a:solidFill>
                <a:latin typeface="Segoe UI Semibold"/>
              </a:rPr>
              <a:t>Detection quality: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Semantic correctness, recall and false-positive rate.</a:t>
            </a:r>
          </a:p>
          <a:p>
            <a:pPr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EAEEF2"/>
                </a:solidFill>
                <a:latin typeface="Segoe UI Semibold"/>
              </a:rPr>
              <a:t>Reliability: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Unsupported-case rejection; share of cases with a usable rule.</a:t>
            </a:r>
          </a:p>
          <a:p>
            <a:pPr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EAEEF2"/>
                </a:solidFill>
                <a:latin typeface="Segoe UI Semibold"/>
              </a:rPr>
              <a:t>System performance: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Throughput, latency and recovery after failure.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491040-1EE1-44FD-9588-857BC84A11E5}"/>
              </a:ext>
            </a:extLst>
          </p:cNvPr>
          <p:cNvSpPr/>
          <p:nvPr/>
        </p:nvSpPr>
        <p:spPr>
          <a:xfrm>
            <a:off x="4521200" y="1143000"/>
            <a:ext cx="3479800" cy="14986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91A4D4-8FF9-4204-A235-3C2E0DD5C10D}"/>
              </a:ext>
            </a:extLst>
          </p:cNvPr>
          <p:cNvSpPr/>
          <p:nvPr/>
        </p:nvSpPr>
        <p:spPr>
          <a:xfrm>
            <a:off x="4521200" y="1143000"/>
            <a:ext cx="3479800" cy="50800"/>
          </a:xfrm>
          <a:prstGeom prst="rect">
            <a:avLst/>
          </a:prstGeom>
          <a:solidFill>
            <a:srgbClr val="4FC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2DA5F-E92C-4F85-B777-0E022C7AFD76}"/>
              </a:ext>
            </a:extLst>
          </p:cNvPr>
          <p:cNvSpPr txBox="1"/>
          <p:nvPr/>
        </p:nvSpPr>
        <p:spPr>
          <a:xfrm>
            <a:off x="4724400" y="1270000"/>
            <a:ext cx="307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EAEEF2"/>
                </a:solidFill>
                <a:latin typeface="Segoe UI Semibold"/>
                <a:cs typeface="Segoe UI Semibold"/>
              </a:rPr>
              <a:t>Initial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40EC16-DAB1-4333-982D-5C3ED8F3FC48}"/>
              </a:ext>
            </a:extLst>
          </p:cNvPr>
          <p:cNvSpPr txBox="1"/>
          <p:nvPr/>
        </p:nvSpPr>
        <p:spPr>
          <a:xfrm>
            <a:off x="4724400" y="1625600"/>
            <a:ext cx="30734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6CED6"/>
                </a:solidFill>
                <a:latin typeface="Segoe UI"/>
                <a:cs typeface="Segoe UI"/>
              </a:rPr>
              <a:t>One documented log schema and five observable behaviors. Permitted reports; independently labeled lab events.</a:t>
            </a:r>
            <a:endParaRPr lang="en-IN" sz="1400">
              <a:solidFill>
                <a:srgbClr val="C6CED6"/>
              </a:solidFill>
              <a:latin typeface="Segoe UI"/>
              <a:cs typeface="Segoe U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EAD547-28B7-4403-84D1-04B820E468A3}"/>
              </a:ext>
            </a:extLst>
          </p:cNvPr>
          <p:cNvSpPr/>
          <p:nvPr/>
        </p:nvSpPr>
        <p:spPr>
          <a:xfrm>
            <a:off x="8204200" y="1143000"/>
            <a:ext cx="3479800" cy="14986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CC4FE4-D488-44AD-8F01-9E9A4E76DCDB}"/>
              </a:ext>
            </a:extLst>
          </p:cNvPr>
          <p:cNvSpPr/>
          <p:nvPr/>
        </p:nvSpPr>
        <p:spPr>
          <a:xfrm>
            <a:off x="8204200" y="1143000"/>
            <a:ext cx="3479800" cy="508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1A49D1-AB74-441C-B091-36C572503209}"/>
              </a:ext>
            </a:extLst>
          </p:cNvPr>
          <p:cNvSpPr txBox="1"/>
          <p:nvPr/>
        </p:nvSpPr>
        <p:spPr>
          <a:xfrm>
            <a:off x="8407400" y="1270000"/>
            <a:ext cx="307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EAEEF2"/>
                </a:solidFill>
                <a:latin typeface="Segoe UI Semibold"/>
                <a:cs typeface="Segoe UI Semibold"/>
              </a:rPr>
              <a:t>Experimental Comparisons</a:t>
            </a:r>
          </a:p>
        </p:txBody>
      </p:sp>
      <p:sp>
        <p:nvSpPr>
          <p:cNvPr id="15" name="compBody">
            <a:extLst>
              <a:ext uri="{FF2B5EF4-FFF2-40B4-BE49-F238E27FC236}">
                <a16:creationId xmlns:a16="http://schemas.microsoft.com/office/drawing/2014/main" id="{A68B91B5-CF5E-422F-AD94-36C736879745}"/>
              </a:ext>
            </a:extLst>
          </p:cNvPr>
          <p:cNvSpPr txBox="1"/>
          <p:nvPr/>
        </p:nvSpPr>
        <p:spPr>
          <a:xfrm>
            <a:off x="8407400" y="1600200"/>
            <a:ext cx="3124200" cy="12839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ts val="1700"/>
              </a:lnSpc>
              <a:spcAft>
                <a:spcPts val="3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400" dirty="0">
                <a:solidFill>
                  <a:srgbClr val="C6CED6"/>
                </a:solidFill>
                <a:latin typeface="Segoe UI"/>
              </a:rPr>
              <a:t>Manually authored rules</a:t>
            </a:r>
          </a:p>
          <a:p>
            <a:pPr marL="228600" indent="-228600">
              <a:lnSpc>
                <a:spcPts val="1700"/>
              </a:lnSpc>
              <a:spcAft>
                <a:spcPts val="3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400" dirty="0">
                <a:solidFill>
                  <a:srgbClr val="C6CED6"/>
                </a:solidFill>
                <a:latin typeface="Segoe UI"/>
              </a:rPr>
              <a:t>Direct LLM-generated rules</a:t>
            </a:r>
          </a:p>
          <a:p>
            <a:pPr marL="228600" indent="-228600">
              <a:lnSpc>
                <a:spcPts val="1700"/>
              </a:lnSpc>
              <a:spcAft>
                <a:spcPts val="3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400" dirty="0">
                <a:solidFill>
                  <a:srgbClr val="C6CED6"/>
                </a:solidFill>
                <a:latin typeface="Segoe UI"/>
              </a:rPr>
              <a:t>Schema-constrained generation</a:t>
            </a:r>
          </a:p>
          <a:p>
            <a:pPr marL="228600" indent="-228600">
              <a:lnSpc>
                <a:spcPts val="1700"/>
              </a:lnSpc>
              <a:spcAft>
                <a:spcPts val="3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400" dirty="0">
                <a:solidFill>
                  <a:srgbClr val="C6CED6"/>
                </a:solidFill>
                <a:latin typeface="Segoe UI"/>
              </a:rPr>
              <a:t>Full SENTINEL Forge (with ablations)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7867DE1-DDF3-47AF-A50A-80CF8BBC3BFB}"/>
              </a:ext>
            </a:extLst>
          </p:cNvPr>
          <p:cNvSpPr/>
          <p:nvPr/>
        </p:nvSpPr>
        <p:spPr>
          <a:xfrm>
            <a:off x="4521200" y="2870200"/>
            <a:ext cx="7162800" cy="14732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91BC6D-DE98-4D5B-875D-8F241B3DFDDE}"/>
              </a:ext>
            </a:extLst>
          </p:cNvPr>
          <p:cNvSpPr/>
          <p:nvPr/>
        </p:nvSpPr>
        <p:spPr>
          <a:xfrm>
            <a:off x="4521200" y="2870200"/>
            <a:ext cx="7162800" cy="50800"/>
          </a:xfrm>
          <a:prstGeom prst="rect">
            <a:avLst/>
          </a:prstGeom>
          <a:solidFill>
            <a:srgbClr val="26C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C9E426-CEB6-43AA-B56E-1A681E640078}"/>
              </a:ext>
            </a:extLst>
          </p:cNvPr>
          <p:cNvSpPr txBox="1"/>
          <p:nvPr/>
        </p:nvSpPr>
        <p:spPr>
          <a:xfrm>
            <a:off x="4724400" y="2997200"/>
            <a:ext cx="685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EAEEF2"/>
                </a:solidFill>
                <a:latin typeface="Segoe UI Semibold"/>
                <a:cs typeface="Segoe UI Semibold"/>
              </a:rPr>
              <a:t>Live Demonstration</a:t>
            </a:r>
          </a:p>
        </p:txBody>
      </p:sp>
      <p:sp>
        <p:nvSpPr>
          <p:cNvPr id="19" name="demoBody">
            <a:extLst>
              <a:ext uri="{FF2B5EF4-FFF2-40B4-BE49-F238E27FC236}">
                <a16:creationId xmlns:a16="http://schemas.microsoft.com/office/drawing/2014/main" id="{FD156318-F65B-4DB6-87D2-3F0CC11628A1}"/>
              </a:ext>
            </a:extLst>
          </p:cNvPr>
          <p:cNvSpPr txBox="1"/>
          <p:nvPr/>
        </p:nvSpPr>
        <p:spPr>
          <a:xfrm>
            <a:off x="4724400" y="3327400"/>
            <a:ext cx="6807200" cy="58182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C6CED6"/>
                </a:solidFill>
                <a:latin typeface="Segoe UI"/>
              </a:rPr>
              <a:t>Upload report</a:t>
            </a: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   › 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generate a supported rule</a:t>
            </a: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   › 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replay labeled events</a:t>
            </a: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   › 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inspect results</a:t>
            </a: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   › 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remove a required field</a:t>
            </a: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   › 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system flags the limitation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C8DA6B-552F-4E05-ABD5-41C717F3AFEB}"/>
              </a:ext>
            </a:extLst>
          </p:cNvPr>
          <p:cNvSpPr/>
          <p:nvPr/>
        </p:nvSpPr>
        <p:spPr>
          <a:xfrm>
            <a:off x="508000" y="4521200"/>
            <a:ext cx="11176000" cy="1828800"/>
          </a:xfrm>
          <a:prstGeom prst="roundRect">
            <a:avLst/>
          </a:prstGeom>
          <a:solidFill>
            <a:srgbClr val="1B212B"/>
          </a:solidFill>
          <a:ln w="12700" cap="flat" cmpd="sng" algn="ctr">
            <a:solidFill>
              <a:srgbClr val="2A33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4071A0-84BB-4458-A5C2-BF927C2FE200}"/>
              </a:ext>
            </a:extLst>
          </p:cNvPr>
          <p:cNvSpPr/>
          <p:nvPr/>
        </p:nvSpPr>
        <p:spPr>
          <a:xfrm>
            <a:off x="508000" y="4521200"/>
            <a:ext cx="63500" cy="18288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4BCDA6-0B8C-45F2-B349-003079A92A15}"/>
              </a:ext>
            </a:extLst>
          </p:cNvPr>
          <p:cNvSpPr txBox="1"/>
          <p:nvPr/>
        </p:nvSpPr>
        <p:spPr>
          <a:xfrm>
            <a:off x="787400" y="4673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F5A623"/>
                </a:solidFill>
                <a:latin typeface="Segoe UI Semibold"/>
                <a:cs typeface="Segoe UI Semibold"/>
              </a:rPr>
              <a:t>EXPECTED IMPACT</a:t>
            </a:r>
          </a:p>
        </p:txBody>
      </p:sp>
      <p:sp>
        <p:nvSpPr>
          <p:cNvPr id="23" name="impBody">
            <a:extLst>
              <a:ext uri="{FF2B5EF4-FFF2-40B4-BE49-F238E27FC236}">
                <a16:creationId xmlns:a16="http://schemas.microsoft.com/office/drawing/2014/main" id="{2C3FEDD4-6EC6-4BD0-9643-0524B9563CC4}"/>
              </a:ext>
            </a:extLst>
          </p:cNvPr>
          <p:cNvSpPr txBox="1"/>
          <p:nvPr/>
        </p:nvSpPr>
        <p:spPr>
          <a:xfrm>
            <a:off x="787400" y="4978400"/>
            <a:ext cx="10668000" cy="53694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EAEEF2"/>
                </a:solidFill>
                <a:latin typeface="Segoe UI"/>
              </a:rPr>
              <a:t>Helps analysts build and review detections through explicit evidence, repeatable testing and visible limitations. </a:t>
            </a:r>
            <a:r>
              <a:rPr lang="en-US" sz="1400" dirty="0">
                <a:solidFill>
                  <a:srgbClr val="9AA6B2"/>
                </a:solidFill>
                <a:latin typeface="Segoe UI"/>
              </a:rPr>
              <a:t>Replay success shows performance on evaluated scenarios — not a guarantee of catching every real attack.</a:t>
            </a:r>
          </a:p>
        </p:txBody>
      </p:sp>
      <p:sp>
        <p:nvSpPr>
          <p:cNvPr id="24" name="delivBody">
            <a:extLst>
              <a:ext uri="{FF2B5EF4-FFF2-40B4-BE49-F238E27FC236}">
                <a16:creationId xmlns:a16="http://schemas.microsoft.com/office/drawing/2014/main" id="{4369EA64-21EA-4EB6-9AC9-19D6B151A71F}"/>
              </a:ext>
            </a:extLst>
          </p:cNvPr>
          <p:cNvSpPr txBox="1"/>
          <p:nvPr/>
        </p:nvSpPr>
        <p:spPr>
          <a:xfrm>
            <a:off x="787400" y="5740400"/>
            <a:ext cx="10668000" cy="30610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AEEF2"/>
                </a:solidFill>
                <a:latin typeface="Segoe UI Semibold"/>
              </a:rPr>
              <a:t>Deliverables: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Trained NLP pipeline</a:t>
            </a: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   · 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Scala compiler</a:t>
            </a: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   · 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Spark execution engine</a:t>
            </a: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   · 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Evaluation benchmark</a:t>
            </a:r>
            <a:r>
              <a:rPr lang="en-US" sz="1400" b="1" dirty="0">
                <a:solidFill>
                  <a:srgbClr val="26C6A6"/>
                </a:solidFill>
                <a:latin typeface="Segoe UI Semibold"/>
              </a:rPr>
              <a:t>   ·   </a:t>
            </a:r>
            <a:r>
              <a:rPr lang="en-US" sz="1400" dirty="0">
                <a:solidFill>
                  <a:srgbClr val="C6CED6"/>
                </a:solidFill>
                <a:latin typeface="Segoe UI"/>
              </a:rPr>
              <a:t>Review dashboard</a:t>
            </a:r>
          </a:p>
        </p:txBody>
      </p:sp>
    </p:spTree>
    <p:extLst>
      <p:ext uri="{BB962C8B-B14F-4D97-AF65-F5344CB8AC3E}">
        <p14:creationId xmlns:p14="http://schemas.microsoft.com/office/powerpoint/2010/main" val="196850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8754612462]">
  <a:themeElements>
    <a:clrScheme name="Office">
      <a:dk1>
        <a:srgbClr val="EAEEF2"/>
      </a:dk1>
      <a:lt1>
        <a:srgbClr val="12161C"/>
      </a:lt1>
      <a:dk2>
        <a:srgbClr val="9AA6B2"/>
      </a:dk2>
      <a:lt2>
        <a:srgbClr val="1B212B"/>
      </a:lt2>
      <a:accent1>
        <a:srgbClr val="26C6A6"/>
      </a:accent1>
      <a:accent2>
        <a:srgbClr val="F5A623"/>
      </a:accent2>
      <a:accent3>
        <a:srgbClr val="4FC3F7"/>
      </a:accent3>
      <a:accent4>
        <a:srgbClr val="26C6A6"/>
      </a:accent4>
      <a:accent5>
        <a:srgbClr val="F5A623"/>
      </a:accent5>
      <a:accent6>
        <a:srgbClr val="4FC3F7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661AFA-1F85-492A-95E2-4894C9A96C6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8e4fbc1-456f-4613-9b65-798ff776672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633</Words>
  <Application>Microsoft Office PowerPoint</Application>
  <PresentationFormat>Widescreen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Segoe UI</vt:lpstr>
      <vt:lpstr>Segoe UI Semibold</vt:lpstr>
      <vt:lpstr>Office Theme [1788754612462]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 Kruttiventi</dc:creator>
  <cp:lastModifiedBy>Karthikeya Kruttiventi</cp:lastModifiedBy>
  <cp:revision>2</cp:revision>
  <dcterms:created xsi:type="dcterms:W3CDTF">2026-09-07T04:16:52Z</dcterms:created>
  <dcterms:modified xsi:type="dcterms:W3CDTF">2026-09-07T04:58:20Z</dcterms:modified>
</cp:coreProperties>
</file>